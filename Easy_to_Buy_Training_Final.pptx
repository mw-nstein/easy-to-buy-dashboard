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15906750" y="1066800"/>
            <a:ext cx="333375" cy="333375"/>
          </a:xfrm>
          <a:prstGeom prst="ellipse">
            <a:avLst/>
          </a:prstGeom>
          <a:solidFill>
            <a:srgbClr val="A9814B"/>
          </a:solidFill>
          <a:ln/>
        </p:spPr>
      </p:sp>
      <p:sp>
        <p:nvSpPr>
          <p:cNvPr id="3" name="Text 1" descr="" title=""/>
          <p:cNvSpPr/>
          <p:nvPr/>
        </p:nvSpPr>
        <p:spPr>
          <a:xfrm>
            <a:off x="1238250" y="1073944"/>
            <a:ext cx="3630454" cy="419100"/>
          </a:xfrm>
          <a:prstGeom prst="rect">
            <a:avLst/>
          </a:prstGeom>
          <a:noFill/>
          <a:ln/>
        </p:spPr>
        <p:txBody>
          <a:bodyPr wrap="square" lIns="25400" tIns="25400" rIns="25400" bIns="25400" rtlCol="0" anchor="t">
            <a:normAutofit/>
          </a:bodyPr>
          <a:lstStyle/>
          <a:p>
            <a:pPr marL="0" indent="0" algn="l">
              <a:lnSpc>
                <a:spcPct val="101250"/>
              </a:lnSpc>
              <a:buNone/>
            </a:pPr>
            <a:r>
              <a:rPr lang="en-US" sz="2250" b="1" kern="0" spc="450" dirty="0">
                <a:solidFill>
                  <a:srgbClr val="D9C79E"/>
                </a:solidFill>
                <a:latin typeface="Palatino Linotype" pitchFamily="34" charset="0"/>
                <a:ea typeface="Palatino Linotype" pitchFamily="34" charset="-122"/>
                <a:cs typeface="Palatino Linotype" pitchFamily="34" charset="-120"/>
              </a:rPr>
              <a:t>MCGUIREWOODS</a:t>
            </a:r>
            <a:endParaRPr lang="en-US" sz="2250" dirty="0"/>
          </a:p>
        </p:txBody>
      </p:sp>
      <p:sp>
        <p:nvSpPr>
          <p:cNvPr id="4" name="Text 2" descr="" title=""/>
          <p:cNvSpPr/>
          <p:nvPr/>
        </p:nvSpPr>
        <p:spPr>
          <a:xfrm>
            <a:off x="1238250" y="3591818"/>
            <a:ext cx="3972446" cy="390525"/>
          </a:xfrm>
          <a:prstGeom prst="rect">
            <a:avLst/>
          </a:prstGeom>
          <a:noFill/>
          <a:ln/>
        </p:spPr>
        <p:txBody>
          <a:bodyPr wrap="square" lIns="25400" tIns="25400" rIns="25400" bIns="25400" rtlCol="0" anchor="t">
            <a:normAutofit/>
          </a:bodyPr>
          <a:lstStyle/>
          <a:p>
            <a:pPr marL="0" indent="0" algn="l">
              <a:lnSpc>
                <a:spcPct val="102162"/>
              </a:lnSpc>
              <a:buNone/>
            </a:pPr>
            <a:r>
              <a:rPr lang="en-US" sz="2100" b="1" kern="0" spc="300" dirty="0">
                <a:solidFill>
                  <a:srgbClr val="A9814B"/>
                </a:solidFill>
                <a:latin typeface="Palatino Linotype" pitchFamily="34" charset="0"/>
                <a:ea typeface="Palatino Linotype" pitchFamily="34" charset="-122"/>
                <a:cs typeface="Palatino Linotype" pitchFamily="34" charset="-120"/>
              </a:rPr>
              <a:t>INTERNAL TRAINING</a:t>
            </a:r>
            <a:endParaRPr lang="en-US" sz="2100" dirty="0"/>
          </a:p>
        </p:txBody>
      </p:sp>
      <p:sp>
        <p:nvSpPr>
          <p:cNvPr id="5" name="Text 3" descr="" title=""/>
          <p:cNvSpPr/>
          <p:nvPr/>
        </p:nvSpPr>
        <p:spPr>
          <a:xfrm>
            <a:off x="1238250" y="4048125"/>
            <a:ext cx="16109252" cy="1323975"/>
          </a:xfrm>
          <a:prstGeom prst="rect">
            <a:avLst/>
          </a:prstGeom>
          <a:noFill/>
          <a:ln/>
        </p:spPr>
        <p:txBody>
          <a:bodyPr wrap="square" lIns="25400" tIns="25400" rIns="25400" bIns="25400" rtlCol="0" anchor="t">
            <a:normAutofit/>
          </a:bodyPr>
          <a:lstStyle/>
          <a:p>
            <a:pPr marL="0" indent="0" algn="l">
              <a:lnSpc>
                <a:spcPct val="98182"/>
              </a:lnSpc>
              <a:buNone/>
            </a:pPr>
            <a:r>
              <a:rPr lang="en-US" sz="7500" b="1" dirty="0">
                <a:solidFill>
                  <a:srgbClr val="FFFFFF"/>
                </a:solidFill>
                <a:latin typeface="Palatino Linotype" pitchFamily="34" charset="0"/>
                <a:ea typeface="Palatino Linotype" pitchFamily="34" charset="-122"/>
                <a:cs typeface="Palatino Linotype" pitchFamily="34" charset="-120"/>
              </a:rPr>
              <a:t>Easy to Buy</a:t>
            </a:r>
            <a:endParaRPr lang="en-US" sz="7500" dirty="0"/>
          </a:p>
        </p:txBody>
      </p:sp>
      <p:sp>
        <p:nvSpPr>
          <p:cNvPr id="6" name="Text 4" descr="" title=""/>
          <p:cNvSpPr/>
          <p:nvPr/>
        </p:nvSpPr>
        <p:spPr>
          <a:xfrm>
            <a:off x="1238250" y="6305550"/>
            <a:ext cx="15255716" cy="1015305"/>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F5F5F4"/>
                </a:solidFill>
                <a:latin typeface="Palatino Linotype" pitchFamily="34" charset="0"/>
                <a:ea typeface="Palatino Linotype" pitchFamily="34" charset="-122"/>
                <a:cs typeface="Palatino Linotype" pitchFamily="34" charset="-120"/>
              </a:rPr>
              <a:t>A sales system for professionals who weren't trained to sell — built on the same instincts that make you a trusted practitioner.</a:t>
            </a:r>
            <a:endParaRPr lang="en-US" sz="2850" dirty="0"/>
          </a:p>
        </p:txBody>
      </p:sp>
      <p:sp>
        <p:nvSpPr>
          <p:cNvPr id="7" name="Text 5" descr="" title=""/>
          <p:cNvSpPr/>
          <p:nvPr/>
        </p:nvSpPr>
        <p:spPr>
          <a:xfrm>
            <a:off x="1238250" y="9312176"/>
            <a:ext cx="8008248" cy="323850"/>
          </a:xfrm>
          <a:prstGeom prst="rect">
            <a:avLst/>
          </a:prstGeom>
          <a:noFill/>
          <a:ln/>
        </p:spPr>
        <p:txBody>
          <a:bodyPr wrap="square" lIns="25400" tIns="25400" rIns="25400" bIns="25400" rtlCol="0" anchor="t">
            <a:normAutofit/>
          </a:bodyPr>
          <a:lstStyle/>
          <a:p>
            <a:pPr marL="0" indent="0" algn="l">
              <a:lnSpc>
                <a:spcPct val="99000"/>
              </a:lnSpc>
              <a:buNone/>
            </a:pPr>
            <a:r>
              <a:rPr lang="en-US" sz="1650" b="1" kern="0" spc="150" dirty="0">
                <a:solidFill>
                  <a:srgbClr val="D9C79E"/>
                </a:solidFill>
                <a:latin typeface="Palatino Linotype" pitchFamily="34" charset="0"/>
                <a:ea typeface="Palatino Linotype" pitchFamily="34" charset="-122"/>
                <a:cs typeface="Palatino Linotype" pitchFamily="34" charset="-120"/>
              </a:rPr>
              <a:t>INTERNAL TRAINING · NOT FOR EXTERNAL DISTRIBUTION</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2138392"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ORIENTATION</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Why This Training, Why Now</a:t>
            </a:r>
            <a:endParaRPr lang="en-US" sz="4500" dirty="0"/>
          </a:p>
        </p:txBody>
      </p:sp>
      <p:sp>
        <p:nvSpPr>
          <p:cNvPr id="5" name="Shape 3" descr="" title=""/>
          <p:cNvSpPr/>
          <p:nvPr/>
        </p:nvSpPr>
        <p:spPr>
          <a:xfrm>
            <a:off x="819150" y="2667000"/>
            <a:ext cx="16640175" cy="1143000"/>
          </a:xfrm>
          <a:prstGeom prst="roundRect">
            <a:avLst>
              <a:gd name="adj" fmla="val 10000"/>
            </a:avLst>
          </a:prstGeom>
          <a:solidFill>
            <a:srgbClr val="F5F5F4"/>
          </a:solidFill>
          <a:ln/>
        </p:spPr>
      </p:sp>
      <p:sp>
        <p:nvSpPr>
          <p:cNvPr id="6" name="Text 4" descr="" title=""/>
          <p:cNvSpPr/>
          <p:nvPr/>
        </p:nvSpPr>
        <p:spPr>
          <a:xfrm>
            <a:off x="1066800" y="2876550"/>
            <a:ext cx="17759363" cy="323850"/>
          </a:xfrm>
          <a:prstGeom prst="rect">
            <a:avLst/>
          </a:prstGeom>
          <a:noFill/>
          <a:ln/>
        </p:spPr>
        <p:txBody>
          <a:bodyPr wrap="square" lIns="25400" tIns="25400" rIns="25400" bIns="25400" rtlCol="0" anchor="t">
            <a:normAutofit/>
          </a:bodyPr>
          <a:lstStyle/>
          <a:p>
            <a:pPr marL="0" indent="0" algn="l">
              <a:buNone/>
            </a:pPr>
            <a:r>
              <a:rPr lang="en-US" sz="1650" b="1" kern="0" spc="150" dirty="0">
                <a:solidFill>
                  <a:srgbClr val="A9814B"/>
                </a:solidFill>
                <a:latin typeface="Palatino Linotype" pitchFamily="34" charset="0"/>
                <a:ea typeface="Palatino Linotype" pitchFamily="34" charset="-122"/>
                <a:cs typeface="Palatino Linotype" pitchFamily="34" charset="-120"/>
              </a:rPr>
              <a:t>CORE PREMISE</a:t>
            </a:r>
            <a:endParaRPr lang="en-US" sz="1650" dirty="0"/>
          </a:p>
        </p:txBody>
      </p:sp>
      <p:sp>
        <p:nvSpPr>
          <p:cNvPr id="7" name="Text 5" descr="" title=""/>
          <p:cNvSpPr/>
          <p:nvPr/>
        </p:nvSpPr>
        <p:spPr>
          <a:xfrm>
            <a:off x="1066800" y="3238500"/>
            <a:ext cx="17759363" cy="423863"/>
          </a:xfrm>
          <a:prstGeom prst="rect">
            <a:avLst/>
          </a:prstGeom>
          <a:noFill/>
          <a:ln/>
        </p:spPr>
        <p:txBody>
          <a:bodyPr wrap="square" lIns="25400" tIns="25400" rIns="25400" bIns="25400" rtlCol="0" anchor="t">
            <a:normAutofit/>
          </a:bodyPr>
          <a:lstStyle/>
          <a:p>
            <a:pPr marL="0" indent="0" algn="l">
              <a:lnSpc>
                <a:spcPct val="101250"/>
              </a:lnSpc>
              <a:buNone/>
            </a:pPr>
            <a:r>
              <a:rPr lang="en-US" sz="2250" b="1" dirty="0">
                <a:solidFill>
                  <a:srgbClr val="1B2A47"/>
                </a:solidFill>
                <a:latin typeface="Palatino Linotype" pitchFamily="34" charset="0"/>
                <a:ea typeface="Palatino Linotype" pitchFamily="34" charset="-122"/>
                <a:cs typeface="Palatino Linotype" pitchFamily="34" charset="-120"/>
              </a:rPr>
              <a:t>The instincts that make you a trusted practitioner — responsiveness, precision, reliability — also make you a trusted seller.</a:t>
            </a:r>
            <a:endParaRPr lang="en-US" sz="2250" dirty="0"/>
          </a:p>
        </p:txBody>
      </p:sp>
      <p:sp>
        <p:nvSpPr>
          <p:cNvPr id="8" name="Text 6" descr="" title=""/>
          <p:cNvSpPr/>
          <p:nvPr/>
        </p:nvSpPr>
        <p:spPr>
          <a:xfrm>
            <a:off x="819150" y="4305300"/>
            <a:ext cx="400050" cy="1095375"/>
          </a:xfrm>
          <a:prstGeom prst="rect">
            <a:avLst/>
          </a:prstGeom>
          <a:noFill/>
          <a:ln/>
        </p:spPr>
        <p:txBody>
          <a:bodyPr wrap="square" lIns="25400" tIns="25400" rIns="25400" bIns="25400" rtlCol="0" anchor="t">
            <a:normAutofit/>
          </a:bodyPr>
          <a:lstStyle/>
          <a:p>
            <a:pPr marL="0" indent="0" algn="l">
              <a:lnSpc>
                <a:spcPct val="111000"/>
              </a:lnSpc>
              <a:buNone/>
            </a:pPr>
            <a:r>
              <a:rPr lang="en-US" sz="2775" dirty="0">
                <a:solidFill>
                  <a:srgbClr val="0A0A0A"/>
                </a:solidFill>
                <a:latin typeface="Palatino Linotype" pitchFamily="34" charset="0"/>
                <a:ea typeface="Palatino Linotype" pitchFamily="34" charset="-122"/>
                <a:cs typeface="Palatino Linotype" pitchFamily="34" charset="-120"/>
              </a:rPr>
              <a:t>•</a:t>
            </a:r>
            <a:endParaRPr lang="en-US" sz="2775" dirty="0"/>
          </a:p>
        </p:txBody>
      </p:sp>
      <p:sp>
        <p:nvSpPr>
          <p:cNvPr id="9" name="Text 7" descr="" title=""/>
          <p:cNvSpPr/>
          <p:nvPr/>
        </p:nvSpPr>
        <p:spPr>
          <a:xfrm>
            <a:off x="1295400" y="4305300"/>
            <a:ext cx="16648843" cy="1095375"/>
          </a:xfrm>
          <a:prstGeom prst="rect">
            <a:avLst/>
          </a:prstGeom>
          <a:noFill/>
          <a:ln/>
        </p:spPr>
        <p:txBody>
          <a:bodyPr wrap="square" lIns="25400" tIns="25400" rIns="25400" bIns="25400" rtlCol="0" anchor="t">
            <a:normAutofit/>
          </a:bodyPr>
          <a:lstStyle/>
          <a:p>
            <a:pPr marL="0" indent="0" algn="l">
              <a:lnSpc>
                <a:spcPct val="109091"/>
              </a:lnSpc>
              <a:buNone/>
            </a:pPr>
            <a:r>
              <a:rPr lang="en-US" sz="2775" dirty="0">
                <a:solidFill>
                  <a:srgbClr val="0A0A0A"/>
                </a:solidFill>
                <a:latin typeface="Palatino Linotype" pitchFamily="34" charset="0"/>
                <a:ea typeface="Palatino Linotype" pitchFamily="34" charset="-122"/>
                <a:cs typeface="Palatino Linotype" pitchFamily="34" charset="-120"/>
              </a:rPr>
              <a:t>Most professionals are trained to do the work, not to sell it, yet are still expected to generate business, often without clear direction.</a:t>
            </a:r>
            <a:endParaRPr lang="en-US" sz="2775" dirty="0"/>
          </a:p>
        </p:txBody>
      </p:sp>
      <p:sp>
        <p:nvSpPr>
          <p:cNvPr id="10" name="Text 8" descr="" title=""/>
          <p:cNvSpPr/>
          <p:nvPr/>
        </p:nvSpPr>
        <p:spPr>
          <a:xfrm>
            <a:off x="819150" y="5781675"/>
            <a:ext cx="400050" cy="1095375"/>
          </a:xfrm>
          <a:prstGeom prst="rect">
            <a:avLst/>
          </a:prstGeom>
          <a:noFill/>
          <a:ln/>
        </p:spPr>
        <p:txBody>
          <a:bodyPr wrap="square" lIns="25400" tIns="25400" rIns="25400" bIns="25400" rtlCol="0" anchor="t">
            <a:normAutofit/>
          </a:bodyPr>
          <a:lstStyle/>
          <a:p>
            <a:pPr marL="0" indent="0" algn="l">
              <a:lnSpc>
                <a:spcPct val="111000"/>
              </a:lnSpc>
              <a:buNone/>
            </a:pPr>
            <a:r>
              <a:rPr lang="en-US" sz="2775" dirty="0">
                <a:solidFill>
                  <a:srgbClr val="0A0A0A"/>
                </a:solidFill>
                <a:latin typeface="Palatino Linotype" pitchFamily="34" charset="0"/>
                <a:ea typeface="Palatino Linotype" pitchFamily="34" charset="-122"/>
                <a:cs typeface="Palatino Linotype" pitchFamily="34" charset="-120"/>
              </a:rPr>
              <a:t>•</a:t>
            </a:r>
            <a:endParaRPr lang="en-US" sz="2775" dirty="0"/>
          </a:p>
        </p:txBody>
      </p:sp>
      <p:sp>
        <p:nvSpPr>
          <p:cNvPr id="11" name="Text 9" descr="" title=""/>
          <p:cNvSpPr/>
          <p:nvPr/>
        </p:nvSpPr>
        <p:spPr>
          <a:xfrm>
            <a:off x="1295400" y="5781675"/>
            <a:ext cx="16648843" cy="1095375"/>
          </a:xfrm>
          <a:prstGeom prst="rect">
            <a:avLst/>
          </a:prstGeom>
          <a:noFill/>
          <a:ln/>
        </p:spPr>
        <p:txBody>
          <a:bodyPr wrap="square" lIns="25400" tIns="25400" rIns="25400" bIns="25400" rtlCol="0" anchor="t">
            <a:normAutofit/>
          </a:bodyPr>
          <a:lstStyle/>
          <a:p>
            <a:pPr marL="0" indent="0" algn="l">
              <a:lnSpc>
                <a:spcPct val="109091"/>
              </a:lnSpc>
              <a:buNone/>
            </a:pPr>
            <a:r>
              <a:rPr lang="en-US" sz="2775" dirty="0">
                <a:solidFill>
                  <a:srgbClr val="0A0A0A"/>
                </a:solidFill>
                <a:latin typeface="Palatino Linotype" pitchFamily="34" charset="0"/>
                <a:ea typeface="Palatino Linotype" pitchFamily="34" charset="-122"/>
                <a:cs typeface="Palatino Linotype" pitchFamily="34" charset="-120"/>
              </a:rPr>
              <a:t>Easy to Buy reframes selling as an extension of outstanding client service: thoughtful, structured, and empathetic.</a:t>
            </a:r>
            <a:endParaRPr lang="en-US" sz="2775" dirty="0"/>
          </a:p>
        </p:txBody>
      </p:sp>
      <p:sp>
        <p:nvSpPr>
          <p:cNvPr id="12" name="Text 10" descr="" title=""/>
          <p:cNvSpPr/>
          <p:nvPr/>
        </p:nvSpPr>
        <p:spPr>
          <a:xfrm>
            <a:off x="819150" y="7258050"/>
            <a:ext cx="400050" cy="566738"/>
          </a:xfrm>
          <a:prstGeom prst="rect">
            <a:avLst/>
          </a:prstGeom>
          <a:noFill/>
          <a:ln/>
        </p:spPr>
        <p:txBody>
          <a:bodyPr wrap="square" lIns="25400" tIns="25400" rIns="25400" bIns="25400" rtlCol="0" anchor="t">
            <a:normAutofit/>
          </a:bodyPr>
          <a:lstStyle/>
          <a:p>
            <a:pPr marL="0" indent="0" algn="l">
              <a:lnSpc>
                <a:spcPct val="111000"/>
              </a:lnSpc>
              <a:buNone/>
            </a:pPr>
            <a:r>
              <a:rPr lang="en-US" sz="2775" dirty="0">
                <a:solidFill>
                  <a:srgbClr val="0A0A0A"/>
                </a:solidFill>
                <a:latin typeface="Palatino Linotype" pitchFamily="34" charset="0"/>
                <a:ea typeface="Palatino Linotype" pitchFamily="34" charset="-122"/>
                <a:cs typeface="Palatino Linotype" pitchFamily="34" charset="-120"/>
              </a:rPr>
              <a:t>•</a:t>
            </a:r>
            <a:endParaRPr lang="en-US" sz="2775" dirty="0"/>
          </a:p>
        </p:txBody>
      </p:sp>
      <p:sp>
        <p:nvSpPr>
          <p:cNvPr id="13" name="Text 11" descr="" title=""/>
          <p:cNvSpPr/>
          <p:nvPr/>
        </p:nvSpPr>
        <p:spPr>
          <a:xfrm>
            <a:off x="1295400" y="7258050"/>
            <a:ext cx="16648843" cy="566738"/>
          </a:xfrm>
          <a:prstGeom prst="rect">
            <a:avLst/>
          </a:prstGeom>
          <a:noFill/>
          <a:ln/>
        </p:spPr>
        <p:txBody>
          <a:bodyPr wrap="square" lIns="25400" tIns="25400" rIns="25400" bIns="25400" rtlCol="0" anchor="t">
            <a:normAutofit/>
          </a:bodyPr>
          <a:lstStyle/>
          <a:p>
            <a:pPr marL="0" indent="0" algn="l">
              <a:lnSpc>
                <a:spcPct val="109091"/>
              </a:lnSpc>
              <a:buNone/>
            </a:pPr>
            <a:r>
              <a:rPr lang="en-US" sz="2775" dirty="0">
                <a:solidFill>
                  <a:srgbClr val="0A0A0A"/>
                </a:solidFill>
                <a:latin typeface="Palatino Linotype" pitchFamily="34" charset="0"/>
                <a:ea typeface="Palatino Linotype" pitchFamily="34" charset="-122"/>
                <a:cs typeface="Palatino Linotype" pitchFamily="34" charset="-120"/>
              </a:rPr>
              <a:t>This training covers three phases, four behavioral pillars, and one mindset shift.</a:t>
            </a:r>
            <a:endParaRPr lang="en-US" sz="2775" dirty="0"/>
          </a:p>
        </p:txBody>
      </p:sp>
      <p:sp>
        <p:nvSpPr>
          <p:cNvPr id="14" name="Shape 12" descr="" title=""/>
          <p:cNvSpPr/>
          <p:nvPr/>
        </p:nvSpPr>
        <p:spPr>
          <a:xfrm>
            <a:off x="752475" y="8096250"/>
            <a:ext cx="16773525" cy="1362075"/>
          </a:xfrm>
          <a:prstGeom prst="roundRect">
            <a:avLst>
              <a:gd name="adj" fmla="val 11189"/>
            </a:avLst>
          </a:prstGeom>
          <a:solidFill>
            <a:srgbClr val="F5F5F4"/>
          </a:solidFill>
          <a:ln/>
        </p:spPr>
      </p:sp>
      <p:sp>
        <p:nvSpPr>
          <p:cNvPr id="15" name="Text 13" descr="" title=""/>
          <p:cNvSpPr/>
          <p:nvPr/>
        </p:nvSpPr>
        <p:spPr>
          <a:xfrm>
            <a:off x="1162050" y="8377238"/>
            <a:ext cx="16433006" cy="838200"/>
          </a:xfrm>
          <a:prstGeom prst="rect">
            <a:avLst/>
          </a:prstGeom>
          <a:noFill/>
          <a:ln/>
        </p:spPr>
        <p:txBody>
          <a:bodyPr wrap="square" lIns="25400" tIns="25400" rIns="25400" bIns="25400" rtlCol="0" anchor="t">
            <a:normAutofit/>
          </a:bodyPr>
          <a:lstStyle/>
          <a:p>
            <a:pPr marL="0" indent="0" algn="l">
              <a:lnSpc>
                <a:spcPct val="101818"/>
              </a:lnSpc>
              <a:buNone/>
            </a:pPr>
            <a:r>
              <a:rPr lang="en-US" sz="2250" b="1" i="1" dirty="0">
                <a:solidFill>
                  <a:srgbClr val="1B2A47"/>
                </a:solidFill>
                <a:latin typeface="Palatino Linotype" pitchFamily="34" charset="0"/>
                <a:ea typeface="Palatino Linotype" pitchFamily="34" charset="-122"/>
                <a:cs typeface="Palatino Linotype" pitchFamily="34" charset="-120"/>
              </a:rPr>
              <a:t>By the end of this training, you will be able to apply Easy to Buy across prospecting, pitching, and closing, and use the two AI-enabled tools built to support it.</a:t>
            </a:r>
            <a:endParaRPr lang="en-US" sz="2250" dirty="0"/>
          </a:p>
        </p:txBody>
      </p:sp>
      <p:sp>
        <p:nvSpPr>
          <p:cNvPr id="16" name="Text 14"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7" name="Text 15"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8" name="Text 16"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9203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1 · PHILOSOPHY</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Core Idea and Foundational Beliefs</a:t>
            </a:r>
            <a:endParaRPr lang="en-US" sz="4500" dirty="0"/>
          </a:p>
        </p:txBody>
      </p:sp>
      <p:sp>
        <p:nvSpPr>
          <p:cNvPr id="5" name="Text 3" descr="" title=""/>
          <p:cNvSpPr/>
          <p:nvPr/>
        </p:nvSpPr>
        <p:spPr>
          <a:xfrm>
            <a:off x="819150" y="2762250"/>
            <a:ext cx="17139380" cy="1438275"/>
          </a:xfrm>
          <a:prstGeom prst="rect">
            <a:avLst/>
          </a:prstGeom>
          <a:noFill/>
          <a:ln/>
        </p:spPr>
        <p:txBody>
          <a:bodyPr wrap="square" lIns="25400" tIns="25400" rIns="25400" bIns="25400" rtlCol="0" anchor="t">
            <a:normAutofit/>
          </a:bodyPr>
          <a:lstStyle/>
          <a:p>
            <a:pPr marL="0" indent="0" algn="l">
              <a:lnSpc>
                <a:spcPct val="101818"/>
              </a:lnSpc>
              <a:buNone/>
            </a:pPr>
            <a:r>
              <a:rPr lang="en-US" sz="2625" b="1" dirty="0">
                <a:solidFill>
                  <a:srgbClr val="1B2A47"/>
                </a:solidFill>
                <a:latin typeface="Palatino Linotype" pitchFamily="34" charset="0"/>
                <a:ea typeface="Palatino Linotype" pitchFamily="34" charset="-122"/>
                <a:cs typeface="Palatino Linotype" pitchFamily="34" charset="-120"/>
              </a:rPr>
              <a:t>Selling is helping buyers buy, practiced until it becomes instinctive. Easy to Buy reframes selling as an extension of outstanding service, restoring the confidence that trusted-practitioner instincts and trusted-seller instincts are one and the same.</a:t>
            </a:r>
            <a:endParaRPr lang="en-US" sz="2625" dirty="0"/>
          </a:p>
        </p:txBody>
      </p:sp>
      <p:sp>
        <p:nvSpPr>
          <p:cNvPr id="6" name="Text 4" descr="" title=""/>
          <p:cNvSpPr/>
          <p:nvPr/>
        </p:nvSpPr>
        <p:spPr>
          <a:xfrm>
            <a:off x="819150" y="4552950"/>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7" name="Text 5" descr="" title=""/>
          <p:cNvSpPr/>
          <p:nvPr/>
        </p:nvSpPr>
        <p:spPr>
          <a:xfrm>
            <a:off x="1295400" y="4552950"/>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Approach buyers as peers and guides, not as subordinates or order-takers.</a:t>
            </a:r>
            <a:endParaRPr lang="en-US" sz="2625" dirty="0"/>
          </a:p>
        </p:txBody>
      </p:sp>
      <p:sp>
        <p:nvSpPr>
          <p:cNvPr id="8" name="Text 6" descr="" title=""/>
          <p:cNvSpPr/>
          <p:nvPr/>
        </p:nvSpPr>
        <p:spPr>
          <a:xfrm>
            <a:off x="819150" y="5360194"/>
            <a:ext cx="400050" cy="1004888"/>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9" name="Text 7" descr="" title=""/>
          <p:cNvSpPr/>
          <p:nvPr/>
        </p:nvSpPr>
        <p:spPr>
          <a:xfrm>
            <a:off x="1295400" y="5360194"/>
            <a:ext cx="16648843" cy="1004888"/>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Selling is a numbers game with more failure than success, but prioritizing the buyer's experience accelerates results.</a:t>
            </a:r>
            <a:endParaRPr lang="en-US" sz="2625" dirty="0"/>
          </a:p>
        </p:txBody>
      </p:sp>
      <p:sp>
        <p:nvSpPr>
          <p:cNvPr id="10" name="Text 8" descr="" title=""/>
          <p:cNvSpPr/>
          <p:nvPr/>
        </p:nvSpPr>
        <p:spPr>
          <a:xfrm>
            <a:off x="819150" y="6650831"/>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1" name="Text 9" descr="" title=""/>
          <p:cNvSpPr/>
          <p:nvPr/>
        </p:nvSpPr>
        <p:spPr>
          <a:xfrm>
            <a:off x="1295400" y="6650831"/>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Marketing is optional; initiative is not. Sellers create opportunity through disciplined outreach and follow-up.</a:t>
            </a:r>
            <a:endParaRPr lang="en-US" sz="2625" dirty="0"/>
          </a:p>
        </p:txBody>
      </p:sp>
      <p:sp>
        <p:nvSpPr>
          <p:cNvPr id="12" name="Text 10" descr="" title=""/>
          <p:cNvSpPr/>
          <p:nvPr/>
        </p:nvSpPr>
        <p:spPr>
          <a:xfrm>
            <a:off x="819150" y="7458075"/>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3" name="Text 11" descr="" title=""/>
          <p:cNvSpPr/>
          <p:nvPr/>
        </p:nvSpPr>
        <p:spPr>
          <a:xfrm>
            <a:off x="1295400" y="7458075"/>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Professional-services needs are episodic — without nourished relationships, buyers forget sellers.</a:t>
            </a:r>
            <a:endParaRPr lang="en-US" sz="2625" dirty="0"/>
          </a:p>
        </p:txBody>
      </p:sp>
      <p:sp>
        <p:nvSpPr>
          <p:cNvPr id="14" name="Text 12" descr="" title=""/>
          <p:cNvSpPr/>
          <p:nvPr/>
        </p:nvSpPr>
        <p:spPr>
          <a:xfrm>
            <a:off x="819150" y="8265319"/>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5" name="Text 13" descr="" title=""/>
          <p:cNvSpPr/>
          <p:nvPr/>
        </p:nvSpPr>
        <p:spPr>
          <a:xfrm>
            <a:off x="1295400" y="8265319"/>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Fortune favors the bold. Confidence, preparation, and consistent action compound over time.</a:t>
            </a:r>
            <a:endParaRPr lang="en-US" sz="2625" dirty="0"/>
          </a:p>
        </p:txBody>
      </p:sp>
      <p:sp>
        <p:nvSpPr>
          <p:cNvPr id="16" name="Text 14"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7" name="Text 15"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8" name="Text 16"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9203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1 · PHILOSOPHY</a:t>
            </a:r>
            <a:endParaRPr lang="en-US" sz="1800" dirty="0"/>
          </a:p>
        </p:txBody>
      </p:sp>
      <p:sp>
        <p:nvSpPr>
          <p:cNvPr id="4" name="Text 2" descr="" title=""/>
          <p:cNvSpPr/>
          <p:nvPr/>
        </p:nvSpPr>
        <p:spPr>
          <a:xfrm>
            <a:off x="752475" y="1028700"/>
            <a:ext cx="17276731" cy="732383"/>
          </a:xfrm>
          <a:prstGeom prst="rect">
            <a:avLst/>
          </a:prstGeom>
          <a:noFill/>
          <a:ln/>
        </p:spPr>
        <p:txBody>
          <a:bodyPr wrap="square" lIns="25400" tIns="25400" rIns="25400" bIns="25400" rtlCol="0" anchor="t">
            <a:normAutofit/>
          </a:bodyPr>
          <a:lstStyle/>
          <a:p>
            <a:pPr marL="0" indent="0" algn="l">
              <a:lnSpc>
                <a:spcPct val="98182"/>
              </a:lnSpc>
              <a:buNone/>
            </a:pPr>
            <a:r>
              <a:rPr lang="en-US" sz="4050" b="1" dirty="0">
                <a:solidFill>
                  <a:srgbClr val="1B2A47"/>
                </a:solidFill>
                <a:latin typeface="Palatino Linotype" pitchFamily="34" charset="0"/>
                <a:ea typeface="Palatino Linotype" pitchFamily="34" charset="-122"/>
                <a:cs typeface="Palatino Linotype" pitchFamily="34" charset="-120"/>
              </a:rPr>
              <a:t>The Three Phases: Your Map for This Training</a:t>
            </a:r>
            <a:endParaRPr lang="en-US" sz="4050" dirty="0"/>
          </a:p>
        </p:txBody>
      </p:sp>
      <p:sp>
        <p:nvSpPr>
          <p:cNvPr id="5" name="Shape 3" descr="" title=""/>
          <p:cNvSpPr/>
          <p:nvPr/>
        </p:nvSpPr>
        <p:spPr>
          <a:xfrm>
            <a:off x="752475" y="2743200"/>
            <a:ext cx="5314950" cy="5419725"/>
          </a:xfrm>
          <a:prstGeom prst="roundRect">
            <a:avLst>
              <a:gd name="adj" fmla="val 2867"/>
            </a:avLst>
          </a:prstGeom>
          <a:solidFill>
            <a:srgbClr val="F5F5F4"/>
          </a:solidFill>
          <a:ln/>
        </p:spPr>
      </p:sp>
      <p:sp>
        <p:nvSpPr>
          <p:cNvPr id="6" name="Shape 4" descr="" title=""/>
          <p:cNvSpPr/>
          <p:nvPr/>
        </p:nvSpPr>
        <p:spPr>
          <a:xfrm>
            <a:off x="2867025" y="3152775"/>
            <a:ext cx="1095375" cy="1095375"/>
          </a:xfrm>
          <a:prstGeom prst="ellipse">
            <a:avLst/>
          </a:prstGeom>
          <a:solidFill>
            <a:srgbClr val="1B2A47"/>
          </a:solidFill>
          <a:ln/>
        </p:spPr>
      </p:sp>
      <p:sp>
        <p:nvSpPr>
          <p:cNvPr id="7" name="Text 5" descr="" title=""/>
          <p:cNvSpPr/>
          <p:nvPr/>
        </p:nvSpPr>
        <p:spPr>
          <a:xfrm>
            <a:off x="2828925"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1</a:t>
            </a:r>
            <a:endParaRPr lang="en-US" sz="3900" dirty="0"/>
          </a:p>
        </p:txBody>
      </p:sp>
      <p:sp>
        <p:nvSpPr>
          <p:cNvPr id="8" name="Text 6" descr="" title=""/>
          <p:cNvSpPr/>
          <p:nvPr/>
        </p:nvSpPr>
        <p:spPr>
          <a:xfrm>
            <a:off x="957120" y="4635847"/>
            <a:ext cx="4915186"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Prospecting</a:t>
            </a:r>
            <a:endParaRPr lang="en-US" sz="2700" dirty="0"/>
          </a:p>
        </p:txBody>
      </p:sp>
      <p:sp>
        <p:nvSpPr>
          <p:cNvPr id="9" name="Text 7" descr="" title=""/>
          <p:cNvSpPr/>
          <p:nvPr/>
        </p:nvSpPr>
        <p:spPr>
          <a:xfrm>
            <a:off x="1025938" y="5753100"/>
            <a:ext cx="4768025" cy="1695450"/>
          </a:xfrm>
          <a:prstGeom prst="rect">
            <a:avLst/>
          </a:prstGeom>
          <a:noFill/>
          <a:ln/>
        </p:spPr>
        <p:txBody>
          <a:bodyPr wrap="square" lIns="25400" tIns="25400" rIns="25400" bIns="25400" rtlCol="0" anchor="t">
            <a:normAutofit/>
          </a:bodyPr>
          <a:lstStyle/>
          <a:p>
            <a:pPr marL="0" indent="0" algn="ctr">
              <a:lnSpc>
                <a:spcPct val="105455"/>
              </a:lnSpc>
              <a:buNone/>
            </a:pPr>
            <a:r>
              <a:rPr lang="en-US" sz="2250" dirty="0">
                <a:solidFill>
                  <a:srgbClr val="0A0A0A"/>
                </a:solidFill>
                <a:latin typeface="Palatino Linotype" pitchFamily="34" charset="0"/>
                <a:ea typeface="Palatino Linotype" pitchFamily="34" charset="-122"/>
                <a:cs typeface="Palatino Linotype" pitchFamily="34" charset="-120"/>
              </a:rPr>
              <a:t>Generating qualified pitch meetings — reaching decision-makers and earning an invitation to a real business conversation.</a:t>
            </a:r>
            <a:endParaRPr lang="en-US" sz="2250" dirty="0"/>
          </a:p>
        </p:txBody>
      </p:sp>
      <p:sp>
        <p:nvSpPr>
          <p:cNvPr id="10" name="Shape 8" descr="" title=""/>
          <p:cNvSpPr/>
          <p:nvPr/>
        </p:nvSpPr>
        <p:spPr>
          <a:xfrm>
            <a:off x="6486525" y="2743200"/>
            <a:ext cx="5314950" cy="5419725"/>
          </a:xfrm>
          <a:prstGeom prst="roundRect">
            <a:avLst>
              <a:gd name="adj" fmla="val 2867"/>
            </a:avLst>
          </a:prstGeom>
          <a:solidFill>
            <a:srgbClr val="F5F5F4"/>
          </a:solidFill>
          <a:ln/>
        </p:spPr>
      </p:sp>
      <p:sp>
        <p:nvSpPr>
          <p:cNvPr id="11" name="Shape 9" descr="" title=""/>
          <p:cNvSpPr/>
          <p:nvPr/>
        </p:nvSpPr>
        <p:spPr>
          <a:xfrm>
            <a:off x="8591550" y="3152775"/>
            <a:ext cx="1095375" cy="1095375"/>
          </a:xfrm>
          <a:prstGeom prst="ellipse">
            <a:avLst/>
          </a:prstGeom>
          <a:solidFill>
            <a:srgbClr val="1B2A47"/>
          </a:solidFill>
          <a:ln/>
        </p:spPr>
      </p:sp>
      <p:sp>
        <p:nvSpPr>
          <p:cNvPr id="12" name="Text 10" descr="" title=""/>
          <p:cNvSpPr/>
          <p:nvPr/>
        </p:nvSpPr>
        <p:spPr>
          <a:xfrm>
            <a:off x="8553450"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2</a:t>
            </a:r>
            <a:endParaRPr lang="en-US" sz="3900" dirty="0"/>
          </a:p>
        </p:txBody>
      </p:sp>
      <p:sp>
        <p:nvSpPr>
          <p:cNvPr id="13" name="Text 11" descr="" title=""/>
          <p:cNvSpPr/>
          <p:nvPr/>
        </p:nvSpPr>
        <p:spPr>
          <a:xfrm>
            <a:off x="6681645" y="4635847"/>
            <a:ext cx="4915186"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Pitching</a:t>
            </a:r>
            <a:endParaRPr lang="en-US" sz="2700" dirty="0"/>
          </a:p>
        </p:txBody>
      </p:sp>
      <p:sp>
        <p:nvSpPr>
          <p:cNvPr id="14" name="Text 12" descr="" title=""/>
          <p:cNvSpPr/>
          <p:nvPr/>
        </p:nvSpPr>
        <p:spPr>
          <a:xfrm>
            <a:off x="6759988" y="5753100"/>
            <a:ext cx="4768025" cy="1695450"/>
          </a:xfrm>
          <a:prstGeom prst="rect">
            <a:avLst/>
          </a:prstGeom>
          <a:noFill/>
          <a:ln/>
        </p:spPr>
        <p:txBody>
          <a:bodyPr wrap="square" lIns="25400" tIns="25400" rIns="25400" bIns="25400" rtlCol="0" anchor="t">
            <a:normAutofit/>
          </a:bodyPr>
          <a:lstStyle/>
          <a:p>
            <a:pPr marL="0" indent="0" algn="ctr">
              <a:lnSpc>
                <a:spcPct val="105455"/>
              </a:lnSpc>
              <a:buNone/>
            </a:pPr>
            <a:r>
              <a:rPr lang="en-US" sz="2250" dirty="0">
                <a:solidFill>
                  <a:srgbClr val="0A0A0A"/>
                </a:solidFill>
                <a:latin typeface="Palatino Linotype" pitchFamily="34" charset="0"/>
                <a:ea typeface="Palatino Linotype" pitchFamily="34" charset="-122"/>
                <a:cs typeface="Palatino Linotype" pitchFamily="34" charset="-120"/>
              </a:rPr>
              <a:t>Conducting the qualified pitch meeting — establishing dialogue and confirming whether the opportunity is real.</a:t>
            </a:r>
            <a:endParaRPr lang="en-US" sz="2250" dirty="0"/>
          </a:p>
        </p:txBody>
      </p:sp>
      <p:sp>
        <p:nvSpPr>
          <p:cNvPr id="15" name="Shape 13" descr="" title=""/>
          <p:cNvSpPr/>
          <p:nvPr/>
        </p:nvSpPr>
        <p:spPr>
          <a:xfrm>
            <a:off x="12211050" y="2743200"/>
            <a:ext cx="5314950" cy="5419725"/>
          </a:xfrm>
          <a:prstGeom prst="roundRect">
            <a:avLst>
              <a:gd name="adj" fmla="val 2867"/>
            </a:avLst>
          </a:prstGeom>
          <a:solidFill>
            <a:srgbClr val="F5F5F4"/>
          </a:solidFill>
          <a:ln/>
        </p:spPr>
      </p:sp>
      <p:sp>
        <p:nvSpPr>
          <p:cNvPr id="16" name="Shape 14" descr="" title=""/>
          <p:cNvSpPr/>
          <p:nvPr/>
        </p:nvSpPr>
        <p:spPr>
          <a:xfrm>
            <a:off x="14325600" y="3152775"/>
            <a:ext cx="1095375" cy="1095375"/>
          </a:xfrm>
          <a:prstGeom prst="ellipse">
            <a:avLst/>
          </a:prstGeom>
          <a:solidFill>
            <a:srgbClr val="1B2A47"/>
          </a:solidFill>
          <a:ln/>
        </p:spPr>
      </p:sp>
      <p:sp>
        <p:nvSpPr>
          <p:cNvPr id="17" name="Text 15" descr="" title=""/>
          <p:cNvSpPr/>
          <p:nvPr/>
        </p:nvSpPr>
        <p:spPr>
          <a:xfrm>
            <a:off x="14287500"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3</a:t>
            </a:r>
            <a:endParaRPr lang="en-US" sz="3900" dirty="0"/>
          </a:p>
        </p:txBody>
      </p:sp>
      <p:sp>
        <p:nvSpPr>
          <p:cNvPr id="18" name="Text 16" descr="" title=""/>
          <p:cNvSpPr/>
          <p:nvPr/>
        </p:nvSpPr>
        <p:spPr>
          <a:xfrm>
            <a:off x="12415695" y="4635847"/>
            <a:ext cx="4915186"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Closing</a:t>
            </a:r>
            <a:endParaRPr lang="en-US" sz="2700" dirty="0"/>
          </a:p>
        </p:txBody>
      </p:sp>
      <p:sp>
        <p:nvSpPr>
          <p:cNvPr id="19" name="Text 17" descr="" title=""/>
          <p:cNvSpPr/>
          <p:nvPr/>
        </p:nvSpPr>
        <p:spPr>
          <a:xfrm>
            <a:off x="12484513" y="5753100"/>
            <a:ext cx="4768025" cy="1695450"/>
          </a:xfrm>
          <a:prstGeom prst="rect">
            <a:avLst/>
          </a:prstGeom>
          <a:noFill/>
          <a:ln/>
        </p:spPr>
        <p:txBody>
          <a:bodyPr wrap="square" lIns="25400" tIns="25400" rIns="25400" bIns="25400" rtlCol="0" anchor="t">
            <a:normAutofit/>
          </a:bodyPr>
          <a:lstStyle/>
          <a:p>
            <a:pPr marL="0" indent="0" algn="ctr">
              <a:lnSpc>
                <a:spcPct val="105455"/>
              </a:lnSpc>
              <a:buNone/>
            </a:pPr>
            <a:r>
              <a:rPr lang="en-US" sz="2250" dirty="0">
                <a:solidFill>
                  <a:srgbClr val="0A0A0A"/>
                </a:solidFill>
                <a:latin typeface="Palatino Linotype" pitchFamily="34" charset="0"/>
                <a:ea typeface="Palatino Linotype" pitchFamily="34" charset="-122"/>
                <a:cs typeface="Palatino Linotype" pitchFamily="34" charset="-120"/>
              </a:rPr>
              <a:t>Creating value and generating reciprocity — staying top-of-mind through high-quality touches until timing allows an opportunity.</a:t>
            </a:r>
            <a:endParaRPr lang="en-US" sz="2250" dirty="0"/>
          </a:p>
        </p:txBody>
      </p:sp>
      <p:sp>
        <p:nvSpPr>
          <p:cNvPr id="20" name="Shape 18" descr="" title=""/>
          <p:cNvSpPr/>
          <p:nvPr/>
        </p:nvSpPr>
        <p:spPr>
          <a:xfrm>
            <a:off x="752475" y="8362950"/>
            <a:ext cx="16773525" cy="1095375"/>
          </a:xfrm>
          <a:prstGeom prst="roundRect">
            <a:avLst>
              <a:gd name="adj" fmla="val 13913"/>
            </a:avLst>
          </a:prstGeom>
          <a:solidFill>
            <a:srgbClr val="1B2A47"/>
          </a:solidFill>
          <a:ln/>
        </p:spPr>
      </p:sp>
      <p:sp>
        <p:nvSpPr>
          <p:cNvPr id="21" name="Text 19" descr="" title=""/>
          <p:cNvSpPr/>
          <p:nvPr/>
        </p:nvSpPr>
        <p:spPr>
          <a:xfrm>
            <a:off x="1162050" y="8730555"/>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D9C79E"/>
                </a:solidFill>
                <a:latin typeface="Palatino Linotype" pitchFamily="34" charset="0"/>
                <a:ea typeface="Palatino Linotype" pitchFamily="34" charset="-122"/>
                <a:cs typeface="Palatino Linotype" pitchFamily="34" charset="-120"/>
              </a:rPr>
              <a:t>Everything in this training maps back to one of these three phases.</a:t>
            </a:r>
            <a:endParaRPr lang="en-US" sz="2100" dirty="0"/>
          </a:p>
        </p:txBody>
      </p:sp>
      <p:sp>
        <p:nvSpPr>
          <p:cNvPr id="22" name="Text 20"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3" name="Text 21"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4" name="Text 22"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9203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1 · PHILOSOPHY</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Four Behavioral Pillars</a:t>
            </a:r>
            <a:endParaRPr lang="en-US" sz="4500" dirty="0"/>
          </a:p>
        </p:txBody>
      </p:sp>
      <p:sp>
        <p:nvSpPr>
          <p:cNvPr id="5" name="Shape 3" descr="" title=""/>
          <p:cNvSpPr/>
          <p:nvPr/>
        </p:nvSpPr>
        <p:spPr>
          <a:xfrm>
            <a:off x="752475" y="2743200"/>
            <a:ext cx="3886200" cy="5419725"/>
          </a:xfrm>
          <a:prstGeom prst="roundRect">
            <a:avLst>
              <a:gd name="adj" fmla="val 3922"/>
            </a:avLst>
          </a:prstGeom>
          <a:solidFill>
            <a:srgbClr val="F5F5F4"/>
          </a:solidFill>
          <a:ln/>
        </p:spPr>
      </p:sp>
      <p:sp>
        <p:nvSpPr>
          <p:cNvPr id="6" name="Shape 4" descr="" title=""/>
          <p:cNvSpPr/>
          <p:nvPr/>
        </p:nvSpPr>
        <p:spPr>
          <a:xfrm>
            <a:off x="2152650" y="3152775"/>
            <a:ext cx="1095375" cy="1095375"/>
          </a:xfrm>
          <a:prstGeom prst="ellipse">
            <a:avLst/>
          </a:prstGeom>
          <a:solidFill>
            <a:srgbClr val="1B2A47"/>
          </a:solidFill>
          <a:ln/>
        </p:spPr>
      </p:sp>
      <p:sp>
        <p:nvSpPr>
          <p:cNvPr id="7" name="Text 5" descr="" title=""/>
          <p:cNvSpPr/>
          <p:nvPr/>
        </p:nvSpPr>
        <p:spPr>
          <a:xfrm>
            <a:off x="2114550"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a:t>
            </a:r>
            <a:endParaRPr lang="en-US" sz="3900" dirty="0"/>
          </a:p>
        </p:txBody>
      </p:sp>
      <p:sp>
        <p:nvSpPr>
          <p:cNvPr id="8" name="Text 6" descr="" title=""/>
          <p:cNvSpPr/>
          <p:nvPr/>
        </p:nvSpPr>
        <p:spPr>
          <a:xfrm>
            <a:off x="978694" y="4635847"/>
            <a:ext cx="3433763"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Empathy</a:t>
            </a:r>
            <a:endParaRPr lang="en-US" sz="2700" dirty="0"/>
          </a:p>
        </p:txBody>
      </p:sp>
      <p:sp>
        <p:nvSpPr>
          <p:cNvPr id="9" name="Text 7" descr="" title=""/>
          <p:cNvSpPr/>
          <p:nvPr/>
        </p:nvSpPr>
        <p:spPr>
          <a:xfrm>
            <a:off x="1047369" y="5580459"/>
            <a:ext cx="3296412" cy="2040582"/>
          </a:xfrm>
          <a:prstGeom prst="rect">
            <a:avLst/>
          </a:prstGeom>
          <a:noFill/>
          <a:ln/>
        </p:spPr>
        <p:txBody>
          <a:bodyPr wrap="square" lIns="25400" tIns="25400" rIns="25400" bIns="25400" rtlCol="0" anchor="t">
            <a:normAutofit/>
          </a:bodyPr>
          <a:lstStyle/>
          <a:p>
            <a:pPr marL="0" indent="0" algn="ctr">
              <a:lnSpc>
                <a:spcPct val="105455"/>
              </a:lnSpc>
              <a:buNone/>
            </a:pPr>
            <a:r>
              <a:rPr lang="en-US" sz="2175" dirty="0">
                <a:solidFill>
                  <a:srgbClr val="0A0A0A"/>
                </a:solidFill>
                <a:latin typeface="Palatino Linotype" pitchFamily="34" charset="0"/>
                <a:ea typeface="Palatino Linotype" pitchFamily="34" charset="-122"/>
                <a:cs typeface="Palatino Linotype" pitchFamily="34" charset="-120"/>
              </a:rPr>
              <a:t>Genuine understanding is the cornerstone of persuasion — buyers decide emotionally before they justify rationally.</a:t>
            </a:r>
            <a:endParaRPr lang="en-US" sz="2175" dirty="0"/>
          </a:p>
        </p:txBody>
      </p:sp>
      <p:sp>
        <p:nvSpPr>
          <p:cNvPr id="10" name="Shape 8" descr="" title=""/>
          <p:cNvSpPr/>
          <p:nvPr/>
        </p:nvSpPr>
        <p:spPr>
          <a:xfrm>
            <a:off x="5048250" y="2743200"/>
            <a:ext cx="3886200" cy="5419725"/>
          </a:xfrm>
          <a:prstGeom prst="roundRect">
            <a:avLst>
              <a:gd name="adj" fmla="val 3922"/>
            </a:avLst>
          </a:prstGeom>
          <a:solidFill>
            <a:srgbClr val="F5F5F4"/>
          </a:solidFill>
          <a:ln/>
        </p:spPr>
      </p:sp>
      <p:sp>
        <p:nvSpPr>
          <p:cNvPr id="11" name="Shape 9" descr="" title=""/>
          <p:cNvSpPr/>
          <p:nvPr/>
        </p:nvSpPr>
        <p:spPr>
          <a:xfrm>
            <a:off x="6448425" y="3152775"/>
            <a:ext cx="1095375" cy="1095375"/>
          </a:xfrm>
          <a:prstGeom prst="ellipse">
            <a:avLst/>
          </a:prstGeom>
          <a:solidFill>
            <a:srgbClr val="1B2A47"/>
          </a:solidFill>
          <a:ln/>
        </p:spPr>
      </p:sp>
      <p:sp>
        <p:nvSpPr>
          <p:cNvPr id="12" name="Text 10" descr="" title=""/>
          <p:cNvSpPr/>
          <p:nvPr/>
        </p:nvSpPr>
        <p:spPr>
          <a:xfrm>
            <a:off x="6410325"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a:t>
            </a:r>
            <a:endParaRPr lang="en-US" sz="3900" dirty="0"/>
          </a:p>
        </p:txBody>
      </p:sp>
      <p:sp>
        <p:nvSpPr>
          <p:cNvPr id="13" name="Text 11" descr="" title=""/>
          <p:cNvSpPr/>
          <p:nvPr/>
        </p:nvSpPr>
        <p:spPr>
          <a:xfrm>
            <a:off x="5274469" y="4635847"/>
            <a:ext cx="3433763"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Clarity</a:t>
            </a:r>
            <a:endParaRPr lang="en-US" sz="2700" dirty="0"/>
          </a:p>
        </p:txBody>
      </p:sp>
      <p:sp>
        <p:nvSpPr>
          <p:cNvPr id="14" name="Text 12" descr="" title=""/>
          <p:cNvSpPr/>
          <p:nvPr/>
        </p:nvSpPr>
        <p:spPr>
          <a:xfrm>
            <a:off x="5343144" y="5780782"/>
            <a:ext cx="3296412" cy="1640086"/>
          </a:xfrm>
          <a:prstGeom prst="rect">
            <a:avLst/>
          </a:prstGeom>
          <a:noFill/>
          <a:ln/>
        </p:spPr>
        <p:txBody>
          <a:bodyPr wrap="square" lIns="25400" tIns="25400" rIns="25400" bIns="25400" rtlCol="0" anchor="t">
            <a:normAutofit/>
          </a:bodyPr>
          <a:lstStyle/>
          <a:p>
            <a:pPr marL="0" indent="0" algn="ctr">
              <a:lnSpc>
                <a:spcPct val="105455"/>
              </a:lnSpc>
              <a:buNone/>
            </a:pPr>
            <a:r>
              <a:rPr lang="en-US" sz="2175" dirty="0">
                <a:solidFill>
                  <a:srgbClr val="0A0A0A"/>
                </a:solidFill>
                <a:latin typeface="Palatino Linotype" pitchFamily="34" charset="0"/>
                <a:ea typeface="Palatino Linotype" pitchFamily="34" charset="-122"/>
                <a:cs typeface="Palatino Linotype" pitchFamily="34" charset="-120"/>
              </a:rPr>
              <a:t>Buyers should never have to guess what is being offered, what it costs, or what happens next.</a:t>
            </a:r>
            <a:endParaRPr lang="en-US" sz="2175" dirty="0"/>
          </a:p>
        </p:txBody>
      </p:sp>
      <p:sp>
        <p:nvSpPr>
          <p:cNvPr id="15" name="Shape 13" descr="" title=""/>
          <p:cNvSpPr/>
          <p:nvPr/>
        </p:nvSpPr>
        <p:spPr>
          <a:xfrm>
            <a:off x="9344025" y="2743200"/>
            <a:ext cx="3886200" cy="5419725"/>
          </a:xfrm>
          <a:prstGeom prst="roundRect">
            <a:avLst>
              <a:gd name="adj" fmla="val 3922"/>
            </a:avLst>
          </a:prstGeom>
          <a:solidFill>
            <a:srgbClr val="F5F5F4"/>
          </a:solidFill>
          <a:ln/>
        </p:spPr>
      </p:sp>
      <p:sp>
        <p:nvSpPr>
          <p:cNvPr id="16" name="Shape 14" descr="" title=""/>
          <p:cNvSpPr/>
          <p:nvPr/>
        </p:nvSpPr>
        <p:spPr>
          <a:xfrm>
            <a:off x="10744200" y="3152775"/>
            <a:ext cx="1095375" cy="1095375"/>
          </a:xfrm>
          <a:prstGeom prst="ellipse">
            <a:avLst/>
          </a:prstGeom>
          <a:solidFill>
            <a:srgbClr val="1B2A47"/>
          </a:solidFill>
          <a:ln/>
        </p:spPr>
      </p:sp>
      <p:sp>
        <p:nvSpPr>
          <p:cNvPr id="17" name="Text 15" descr="" title=""/>
          <p:cNvSpPr/>
          <p:nvPr/>
        </p:nvSpPr>
        <p:spPr>
          <a:xfrm>
            <a:off x="10706100"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a:t>
            </a:r>
            <a:endParaRPr lang="en-US" sz="3900" dirty="0"/>
          </a:p>
        </p:txBody>
      </p:sp>
      <p:sp>
        <p:nvSpPr>
          <p:cNvPr id="18" name="Text 16" descr="" title=""/>
          <p:cNvSpPr/>
          <p:nvPr/>
        </p:nvSpPr>
        <p:spPr>
          <a:xfrm>
            <a:off x="9570244" y="4635847"/>
            <a:ext cx="3433763"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Credibility</a:t>
            </a:r>
            <a:endParaRPr lang="en-US" sz="2700" dirty="0"/>
          </a:p>
        </p:txBody>
      </p:sp>
      <p:sp>
        <p:nvSpPr>
          <p:cNvPr id="19" name="Text 17" descr="" title=""/>
          <p:cNvSpPr/>
          <p:nvPr/>
        </p:nvSpPr>
        <p:spPr>
          <a:xfrm>
            <a:off x="9638919" y="5980956"/>
            <a:ext cx="3296412" cy="1239589"/>
          </a:xfrm>
          <a:prstGeom prst="rect">
            <a:avLst/>
          </a:prstGeom>
          <a:noFill/>
          <a:ln/>
        </p:spPr>
        <p:txBody>
          <a:bodyPr wrap="square" lIns="25400" tIns="25400" rIns="25400" bIns="25400" rtlCol="0" anchor="t">
            <a:normAutofit/>
          </a:bodyPr>
          <a:lstStyle/>
          <a:p>
            <a:pPr marL="0" indent="0" algn="ctr">
              <a:lnSpc>
                <a:spcPct val="105455"/>
              </a:lnSpc>
              <a:buNone/>
            </a:pPr>
            <a:r>
              <a:rPr lang="en-US" sz="2175" dirty="0">
                <a:solidFill>
                  <a:srgbClr val="0A0A0A"/>
                </a:solidFill>
                <a:latin typeface="Palatino Linotype" pitchFamily="34" charset="0"/>
                <a:ea typeface="Palatino Linotype" pitchFamily="34" charset="-122"/>
                <a:cs typeface="Palatino Linotype" pitchFamily="34" charset="-120"/>
              </a:rPr>
              <a:t>Earned through precision, calm confidence, and proof without arrogance.</a:t>
            </a:r>
            <a:endParaRPr lang="en-US" sz="2175" dirty="0"/>
          </a:p>
        </p:txBody>
      </p:sp>
      <p:sp>
        <p:nvSpPr>
          <p:cNvPr id="20" name="Shape 18" descr="" title=""/>
          <p:cNvSpPr/>
          <p:nvPr/>
        </p:nvSpPr>
        <p:spPr>
          <a:xfrm>
            <a:off x="13639800" y="2743200"/>
            <a:ext cx="3886200" cy="5419725"/>
          </a:xfrm>
          <a:prstGeom prst="roundRect">
            <a:avLst>
              <a:gd name="adj" fmla="val 3922"/>
            </a:avLst>
          </a:prstGeom>
          <a:solidFill>
            <a:srgbClr val="F5F5F4"/>
          </a:solidFill>
          <a:ln/>
        </p:spPr>
      </p:sp>
      <p:sp>
        <p:nvSpPr>
          <p:cNvPr id="21" name="Shape 19" descr="" title=""/>
          <p:cNvSpPr/>
          <p:nvPr/>
        </p:nvSpPr>
        <p:spPr>
          <a:xfrm>
            <a:off x="15039975" y="3152775"/>
            <a:ext cx="1095375" cy="1095375"/>
          </a:xfrm>
          <a:prstGeom prst="ellipse">
            <a:avLst/>
          </a:prstGeom>
          <a:solidFill>
            <a:srgbClr val="1B2A47"/>
          </a:solidFill>
          <a:ln/>
        </p:spPr>
      </p:sp>
      <p:sp>
        <p:nvSpPr>
          <p:cNvPr id="22" name="Text 20" descr="" title=""/>
          <p:cNvSpPr/>
          <p:nvPr/>
        </p:nvSpPr>
        <p:spPr>
          <a:xfrm>
            <a:off x="15001875" y="3366195"/>
            <a:ext cx="1171575" cy="706636"/>
          </a:xfrm>
          <a:prstGeom prst="rect">
            <a:avLst/>
          </a:prstGeom>
          <a:noFill/>
          <a:ln/>
        </p:spPr>
        <p:txBody>
          <a:bodyPr wrap="square" lIns="25400" tIns="25400" rIns="25400" bIns="25400" rtlCol="0" anchor="t">
            <a:normAutofit/>
          </a:bodyPr>
          <a:lstStyle/>
          <a:p>
            <a:pPr marL="0" indent="0" algn="ctr">
              <a:lnSpc>
                <a:spcPct val="98182"/>
              </a:lnSpc>
              <a:buNone/>
            </a:pPr>
            <a:r>
              <a:rPr lang="en-US" sz="3900" b="1" dirty="0">
                <a:solidFill>
                  <a:srgbClr val="D9C79E"/>
                </a:solidFill>
                <a:latin typeface="Palatino Linotype" pitchFamily="34" charset="0"/>
                <a:ea typeface="Palatino Linotype" pitchFamily="34" charset="-122"/>
                <a:cs typeface="Palatino Linotype" pitchFamily="34" charset="-120"/>
              </a:rPr>
              <a:t>↻</a:t>
            </a:r>
            <a:endParaRPr lang="en-US" sz="3900" dirty="0"/>
          </a:p>
        </p:txBody>
      </p:sp>
      <p:sp>
        <p:nvSpPr>
          <p:cNvPr id="23" name="Text 21" descr="" title=""/>
          <p:cNvSpPr/>
          <p:nvPr/>
        </p:nvSpPr>
        <p:spPr>
          <a:xfrm>
            <a:off x="13866019" y="4635847"/>
            <a:ext cx="3433763" cy="500955"/>
          </a:xfrm>
          <a:prstGeom prst="rect">
            <a:avLst/>
          </a:prstGeom>
          <a:noFill/>
          <a:ln/>
        </p:spPr>
        <p:txBody>
          <a:bodyPr wrap="square" lIns="25400" tIns="25400" rIns="25400" bIns="25400" rtlCol="0" anchor="t">
            <a:normAutofit/>
          </a:bodyPr>
          <a:lstStyle/>
          <a:p>
            <a:pPr marL="0" indent="0" algn="ctr">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Consistency</a:t>
            </a:r>
            <a:endParaRPr lang="en-US" sz="2700" dirty="0"/>
          </a:p>
        </p:txBody>
      </p:sp>
      <p:sp>
        <p:nvSpPr>
          <p:cNvPr id="24" name="Text 22" descr="" title=""/>
          <p:cNvSpPr/>
          <p:nvPr/>
        </p:nvSpPr>
        <p:spPr>
          <a:xfrm>
            <a:off x="13934694" y="5580459"/>
            <a:ext cx="3296412" cy="2040582"/>
          </a:xfrm>
          <a:prstGeom prst="rect">
            <a:avLst/>
          </a:prstGeom>
          <a:noFill/>
          <a:ln/>
        </p:spPr>
        <p:txBody>
          <a:bodyPr wrap="square" lIns="25400" tIns="25400" rIns="25400" bIns="25400" rtlCol="0" anchor="t">
            <a:normAutofit/>
          </a:bodyPr>
          <a:lstStyle/>
          <a:p>
            <a:pPr marL="0" indent="0" algn="ctr">
              <a:lnSpc>
                <a:spcPct val="105455"/>
              </a:lnSpc>
              <a:buNone/>
            </a:pPr>
            <a:r>
              <a:rPr lang="en-US" sz="2175" dirty="0">
                <a:solidFill>
                  <a:srgbClr val="0A0A0A"/>
                </a:solidFill>
                <a:latin typeface="Palatino Linotype" pitchFamily="34" charset="0"/>
                <a:ea typeface="Palatino Linotype" pitchFamily="34" charset="-122"/>
                <a:cs typeface="Palatino Linotype" pitchFamily="34" charset="-120"/>
              </a:rPr>
              <a:t>Predictable tone, timing, and follow-through compound into trust, and trust compounds into opportunity.</a:t>
            </a:r>
            <a:endParaRPr lang="en-US" sz="2175" dirty="0"/>
          </a:p>
        </p:txBody>
      </p:sp>
      <p:sp>
        <p:nvSpPr>
          <p:cNvPr id="25" name="Shape 23" descr="" title=""/>
          <p:cNvSpPr/>
          <p:nvPr/>
        </p:nvSpPr>
        <p:spPr>
          <a:xfrm>
            <a:off x="752475" y="8362950"/>
            <a:ext cx="16773525" cy="1095375"/>
          </a:xfrm>
          <a:prstGeom prst="roundRect">
            <a:avLst>
              <a:gd name="adj" fmla="val 13913"/>
            </a:avLst>
          </a:prstGeom>
          <a:solidFill>
            <a:srgbClr val="1B2A47"/>
          </a:solidFill>
          <a:ln/>
        </p:spPr>
      </p:sp>
      <p:sp>
        <p:nvSpPr>
          <p:cNvPr id="26" name="Text 24" descr="" title=""/>
          <p:cNvSpPr/>
          <p:nvPr/>
        </p:nvSpPr>
        <p:spPr>
          <a:xfrm>
            <a:off x="1162050" y="8730555"/>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D9C79E"/>
                </a:solidFill>
                <a:latin typeface="Palatino Linotype" pitchFamily="34" charset="0"/>
                <a:ea typeface="Palatino Linotype" pitchFamily="34" charset="-122"/>
                <a:cs typeface="Palatino Linotype" pitchFamily="34" charset="-120"/>
              </a:rPr>
              <a:t>Empathy makes you likable. Clarity makes you understandable. Credibility makes you believable. Consistency makes you inevitable.</a:t>
            </a:r>
            <a:endParaRPr lang="en-US" sz="2100" dirty="0"/>
          </a:p>
        </p:txBody>
      </p:sp>
      <p:sp>
        <p:nvSpPr>
          <p:cNvPr id="27" name="Text 2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8" name="Text 2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9" name="Text 2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1</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1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Match each seller behavior to the pillar it demonstrates.</a:t>
            </a:r>
            <a:endParaRPr lang="en-US" sz="2850" dirty="0"/>
          </a:p>
        </p:txBody>
      </p:sp>
      <p:sp>
        <p:nvSpPr>
          <p:cNvPr id="6" name="Shape 4" descr="" title=""/>
          <p:cNvSpPr/>
          <p:nvPr/>
        </p:nvSpPr>
        <p:spPr>
          <a:xfrm>
            <a:off x="752475" y="3019425"/>
            <a:ext cx="16773525" cy="838200"/>
          </a:xfrm>
          <a:prstGeom prst="roundRect">
            <a:avLst>
              <a:gd name="adj" fmla="val 18182"/>
            </a:avLst>
          </a:prstGeom>
          <a:solidFill>
            <a:srgbClr val="FFFFFF"/>
          </a:solidFill>
          <a:ln/>
        </p:spPr>
      </p:sp>
      <p:sp>
        <p:nvSpPr>
          <p:cNvPr id="7" name="Text 5" descr="" title=""/>
          <p:cNvSpPr/>
          <p:nvPr/>
        </p:nvSpPr>
        <p:spPr>
          <a:xfrm>
            <a:off x="1143000" y="3258443"/>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A. The seller sends a recap within 24 hours after every meeting, without exception.</a:t>
            </a:r>
            <a:endParaRPr lang="en-US" sz="2100" dirty="0"/>
          </a:p>
        </p:txBody>
      </p:sp>
      <p:sp>
        <p:nvSpPr>
          <p:cNvPr id="8" name="Shape 6" descr="" title=""/>
          <p:cNvSpPr/>
          <p:nvPr/>
        </p:nvSpPr>
        <p:spPr>
          <a:xfrm>
            <a:off x="752475" y="4067175"/>
            <a:ext cx="16773525" cy="838200"/>
          </a:xfrm>
          <a:prstGeom prst="roundRect">
            <a:avLst>
              <a:gd name="adj" fmla="val 18182"/>
            </a:avLst>
          </a:prstGeom>
          <a:solidFill>
            <a:srgbClr val="FFFFFF"/>
          </a:solidFill>
          <a:ln/>
        </p:spPr>
      </p:sp>
      <p:sp>
        <p:nvSpPr>
          <p:cNvPr id="9" name="Text 7" descr="" title=""/>
          <p:cNvSpPr/>
          <p:nvPr/>
        </p:nvSpPr>
        <p:spPr>
          <a:xfrm>
            <a:off x="1143000" y="4306193"/>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B. The seller states the fee and the first-week timeline up front, with no vague language.</a:t>
            </a:r>
            <a:endParaRPr lang="en-US" sz="2100" dirty="0"/>
          </a:p>
        </p:txBody>
      </p:sp>
      <p:sp>
        <p:nvSpPr>
          <p:cNvPr id="10" name="Shape 8" descr="" title=""/>
          <p:cNvSpPr/>
          <p:nvPr/>
        </p:nvSpPr>
        <p:spPr>
          <a:xfrm>
            <a:off x="752475" y="5105400"/>
            <a:ext cx="16773525" cy="838200"/>
          </a:xfrm>
          <a:prstGeom prst="roundRect">
            <a:avLst>
              <a:gd name="adj" fmla="val 18182"/>
            </a:avLst>
          </a:prstGeom>
          <a:solidFill>
            <a:srgbClr val="FFFFFF"/>
          </a:solidFill>
          <a:ln/>
        </p:spPr>
      </p:sp>
      <p:sp>
        <p:nvSpPr>
          <p:cNvPr id="11" name="Text 9" descr="" title=""/>
          <p:cNvSpPr/>
          <p:nvPr/>
        </p:nvSpPr>
        <p:spPr>
          <a:xfrm>
            <a:off x="1143000" y="5344418"/>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C. Before the meeting, the seller spends five minutes asking about the client's biggest challenge this quarter.</a:t>
            </a:r>
            <a:endParaRPr lang="en-US" sz="2100" dirty="0"/>
          </a:p>
        </p:txBody>
      </p:sp>
      <p:sp>
        <p:nvSpPr>
          <p:cNvPr id="12" name="Shape 10" descr="" title=""/>
          <p:cNvSpPr/>
          <p:nvPr/>
        </p:nvSpPr>
        <p:spPr>
          <a:xfrm>
            <a:off x="752475" y="6153150"/>
            <a:ext cx="16773525" cy="838200"/>
          </a:xfrm>
          <a:prstGeom prst="roundRect">
            <a:avLst>
              <a:gd name="adj" fmla="val 18182"/>
            </a:avLst>
          </a:prstGeom>
          <a:solidFill>
            <a:srgbClr val="FFFFFF"/>
          </a:solidFill>
          <a:ln/>
        </p:spPr>
      </p:sp>
      <p:sp>
        <p:nvSpPr>
          <p:cNvPr id="13" name="Text 11" descr="" title=""/>
          <p:cNvSpPr/>
          <p:nvPr/>
        </p:nvSpPr>
        <p:spPr>
          <a:xfrm>
            <a:off x="1143000" y="6392168"/>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D. Instead of calling the firm "a market leader," the seller cites the exact number of deals closed last year.</a:t>
            </a:r>
            <a:endParaRPr lang="en-US" sz="2100" dirty="0"/>
          </a:p>
        </p:txBody>
      </p:sp>
      <p:sp>
        <p:nvSpPr>
          <p:cNvPr id="14" name="Shape 12" descr="" title=""/>
          <p:cNvSpPr/>
          <p:nvPr/>
        </p:nvSpPr>
        <p:spPr>
          <a:xfrm>
            <a:off x="752475" y="7334250"/>
            <a:ext cx="16773525" cy="2057400"/>
          </a:xfrm>
          <a:prstGeom prst="roundRect">
            <a:avLst>
              <a:gd name="adj" fmla="val 7407"/>
            </a:avLst>
          </a:prstGeom>
          <a:solidFill>
            <a:srgbClr val="1B2A47"/>
          </a:solidFill>
          <a:ln/>
        </p:spPr>
      </p:sp>
      <p:sp>
        <p:nvSpPr>
          <p:cNvPr id="15" name="Text 13" descr="" title=""/>
          <p:cNvSpPr/>
          <p:nvPr/>
        </p:nvSpPr>
        <p:spPr>
          <a:xfrm>
            <a:off x="1162050" y="7621191"/>
            <a:ext cx="9947731" cy="352425"/>
          </a:xfrm>
          <a:prstGeom prst="rect">
            <a:avLst/>
          </a:prstGeom>
          <a:noFill/>
          <a:ln/>
        </p:spPr>
        <p:txBody>
          <a:bodyPr wrap="square" lIns="25400" tIns="25400" rIns="25400" bIns="25400" rtlCol="0" anchor="t">
            <a:normAutofit/>
          </a:bodyPr>
          <a:lstStyle/>
          <a:p>
            <a:pPr marL="0" indent="0" algn="l">
              <a:lnSpc>
                <a:spcPct val="102273"/>
              </a:lnSpc>
              <a:buNone/>
            </a:pPr>
            <a:r>
              <a:rPr lang="en-US" sz="1875" b="1" kern="0" spc="150" dirty="0">
                <a:solidFill>
                  <a:srgbClr val="A9814B"/>
                </a:solidFill>
                <a:latin typeface="Palatino Linotype" pitchFamily="34" charset="0"/>
                <a:ea typeface="Palatino Linotype" pitchFamily="34" charset="-122"/>
                <a:cs typeface="Palatino Linotype" pitchFamily="34" charset="-120"/>
              </a:rPr>
              <a:t>ANSWER · A = Consistency · B = Clarity · C = Empathy · D = Credibility</a:t>
            </a:r>
            <a:endParaRPr lang="en-US" sz="1875" dirty="0"/>
          </a:p>
        </p:txBody>
      </p:sp>
      <p:sp>
        <p:nvSpPr>
          <p:cNvPr id="16" name="Text 14" descr="" title=""/>
          <p:cNvSpPr/>
          <p:nvPr/>
        </p:nvSpPr>
        <p:spPr>
          <a:xfrm>
            <a:off x="1162050" y="8048625"/>
            <a:ext cx="16433006" cy="758130"/>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FFFFFF"/>
                </a:solidFill>
                <a:latin typeface="Palatino Linotype" pitchFamily="34" charset="0"/>
                <a:ea typeface="Palatino Linotype" pitchFamily="34" charset="-122"/>
                <a:cs typeface="Palatino Linotype" pitchFamily="34" charset="-120"/>
              </a:rPr>
              <a:t>These four pillars are the behavioral architecture behind every technique in this training. When a technique feels off, it's usually because one of these four is missing.</a:t>
            </a:r>
            <a:endParaRPr lang="en-US" sz="210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6</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80349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2 · FRAMEWORK</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Sales Math: Two Conversion Rates</a:t>
            </a:r>
            <a:endParaRPr lang="en-US" sz="4500" dirty="0"/>
          </a:p>
        </p:txBody>
      </p:sp>
      <p:sp>
        <p:nvSpPr>
          <p:cNvPr id="5" name="Text 3" descr="" title=""/>
          <p:cNvSpPr/>
          <p:nvPr/>
        </p:nvSpPr>
        <p:spPr>
          <a:xfrm>
            <a:off x="819150" y="2893219"/>
            <a:ext cx="17276731" cy="423863"/>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5B6472"/>
                </a:solidFill>
                <a:latin typeface="Palatino Linotype" pitchFamily="34" charset="0"/>
                <a:ea typeface="Palatino Linotype" pitchFamily="34" charset="-122"/>
                <a:cs typeface="Palatino Linotype" pitchFamily="34" charset="-120"/>
              </a:rPr>
              <a:t>Sales outcomes can be predicted by two key ratios.</a:t>
            </a:r>
            <a:endParaRPr lang="en-US" sz="2250" dirty="0"/>
          </a:p>
        </p:txBody>
      </p:sp>
      <p:sp>
        <p:nvSpPr>
          <p:cNvPr id="6" name="Shape 4" descr="" title=""/>
          <p:cNvSpPr/>
          <p:nvPr/>
        </p:nvSpPr>
        <p:spPr>
          <a:xfrm>
            <a:off x="752475" y="3638550"/>
            <a:ext cx="5314950" cy="3905250"/>
          </a:xfrm>
          <a:prstGeom prst="roundRect">
            <a:avLst>
              <a:gd name="adj" fmla="val 3902"/>
            </a:avLst>
          </a:prstGeom>
          <a:solidFill>
            <a:srgbClr val="F5F5F4"/>
          </a:solidFill>
          <a:ln/>
        </p:spPr>
      </p:sp>
      <p:sp>
        <p:nvSpPr>
          <p:cNvPr id="7" name="Text 5" descr="" title=""/>
          <p:cNvSpPr/>
          <p:nvPr/>
        </p:nvSpPr>
        <p:spPr>
          <a:xfrm>
            <a:off x="2530078" y="4524375"/>
            <a:ext cx="1946032" cy="762000"/>
          </a:xfrm>
          <a:prstGeom prst="rect">
            <a:avLst/>
          </a:prstGeom>
          <a:noFill/>
          <a:ln/>
        </p:spPr>
        <p:txBody>
          <a:bodyPr wrap="square" lIns="25400" tIns="25400" rIns="25400" bIns="25400" rtlCol="0" anchor="t">
            <a:normAutofit/>
          </a:bodyPr>
          <a:lstStyle/>
          <a:p>
            <a:pPr marL="0" indent="0" algn="l">
              <a:lnSpc>
                <a:spcPct val="73786"/>
              </a:lnSpc>
              <a:buNone/>
            </a:pPr>
            <a:r>
              <a:rPr lang="en-US" sz="5700" b="1" dirty="0">
                <a:solidFill>
                  <a:srgbClr val="1B2A47"/>
                </a:solidFill>
                <a:latin typeface="Palatino Linotype" pitchFamily="34" charset="0"/>
                <a:ea typeface="Palatino Linotype" pitchFamily="34" charset="-122"/>
                <a:cs typeface="Palatino Linotype" pitchFamily="34" charset="-120"/>
              </a:rPr>
              <a:t>1 in 5</a:t>
            </a:r>
            <a:endParaRPr lang="en-US" sz="5700" dirty="0"/>
          </a:p>
        </p:txBody>
      </p:sp>
      <p:sp>
        <p:nvSpPr>
          <p:cNvPr id="8" name="Text 6" descr="" title=""/>
          <p:cNvSpPr/>
          <p:nvPr/>
        </p:nvSpPr>
        <p:spPr>
          <a:xfrm>
            <a:off x="888444" y="5457825"/>
            <a:ext cx="5052536" cy="1238250"/>
          </a:xfrm>
          <a:prstGeom prst="rect">
            <a:avLst/>
          </a:prstGeom>
          <a:noFill/>
          <a:ln/>
        </p:spPr>
        <p:txBody>
          <a:bodyPr wrap="square" lIns="25400" tIns="25400" rIns="25400" bIns="25400" rtlCol="0" anchor="t">
            <a:normAutofit/>
          </a:bodyPr>
          <a:lstStyle/>
          <a:p>
            <a:pPr marL="0" indent="0" algn="ctr">
              <a:lnSpc>
                <a:spcPct val="105000"/>
              </a:lnSpc>
              <a:buNone/>
            </a:pPr>
            <a:r>
              <a:rPr lang="en-US" sz="2250" b="1" dirty="0">
                <a:solidFill>
                  <a:srgbClr val="0A0A0A"/>
                </a:solidFill>
                <a:latin typeface="Palatino Linotype" pitchFamily="34" charset="0"/>
                <a:ea typeface="Palatino Linotype" pitchFamily="34" charset="-122"/>
                <a:cs typeface="Palatino Linotype" pitchFamily="34" charset="-120"/>
              </a:rPr>
              <a:t>Prospecting Conversion Rate — outreaches that yield a qualified pitch meeting</a:t>
            </a:r>
            <a:endParaRPr lang="en-US" sz="2250" dirty="0"/>
          </a:p>
        </p:txBody>
      </p:sp>
      <p:sp>
        <p:nvSpPr>
          <p:cNvPr id="9" name="Shape 7" descr="" title=""/>
          <p:cNvSpPr/>
          <p:nvPr/>
        </p:nvSpPr>
        <p:spPr>
          <a:xfrm>
            <a:off x="6486525" y="3638550"/>
            <a:ext cx="5314950" cy="3905250"/>
          </a:xfrm>
          <a:prstGeom prst="roundRect">
            <a:avLst>
              <a:gd name="adj" fmla="val 3902"/>
            </a:avLst>
          </a:prstGeom>
          <a:solidFill>
            <a:srgbClr val="F5F5F4"/>
          </a:solidFill>
          <a:ln/>
        </p:spPr>
      </p:sp>
      <p:sp>
        <p:nvSpPr>
          <p:cNvPr id="10" name="Text 8" descr="" title=""/>
          <p:cNvSpPr/>
          <p:nvPr/>
        </p:nvSpPr>
        <p:spPr>
          <a:xfrm>
            <a:off x="8254603" y="4724400"/>
            <a:ext cx="1946032" cy="762000"/>
          </a:xfrm>
          <a:prstGeom prst="rect">
            <a:avLst/>
          </a:prstGeom>
          <a:noFill/>
          <a:ln/>
        </p:spPr>
        <p:txBody>
          <a:bodyPr wrap="square" lIns="25400" tIns="25400" rIns="25400" bIns="25400" rtlCol="0" anchor="t">
            <a:normAutofit/>
          </a:bodyPr>
          <a:lstStyle/>
          <a:p>
            <a:pPr marL="0" indent="0" algn="l">
              <a:lnSpc>
                <a:spcPct val="73786"/>
              </a:lnSpc>
              <a:buNone/>
            </a:pPr>
            <a:r>
              <a:rPr lang="en-US" sz="5700" b="1" dirty="0">
                <a:solidFill>
                  <a:srgbClr val="1B2A47"/>
                </a:solidFill>
                <a:latin typeface="Palatino Linotype" pitchFamily="34" charset="0"/>
                <a:ea typeface="Palatino Linotype" pitchFamily="34" charset="-122"/>
                <a:cs typeface="Palatino Linotype" pitchFamily="34" charset="-120"/>
              </a:rPr>
              <a:t>1 in 5</a:t>
            </a:r>
            <a:endParaRPr lang="en-US" sz="5700" dirty="0"/>
          </a:p>
        </p:txBody>
      </p:sp>
      <p:sp>
        <p:nvSpPr>
          <p:cNvPr id="11" name="Text 9" descr="" title=""/>
          <p:cNvSpPr/>
          <p:nvPr/>
        </p:nvSpPr>
        <p:spPr>
          <a:xfrm>
            <a:off x="6612969" y="5657850"/>
            <a:ext cx="5052536" cy="838200"/>
          </a:xfrm>
          <a:prstGeom prst="rect">
            <a:avLst/>
          </a:prstGeom>
          <a:noFill/>
          <a:ln/>
        </p:spPr>
        <p:txBody>
          <a:bodyPr wrap="square" lIns="25400" tIns="25400" rIns="25400" bIns="25400" rtlCol="0" anchor="t">
            <a:normAutofit/>
          </a:bodyPr>
          <a:lstStyle/>
          <a:p>
            <a:pPr marL="0" indent="0" algn="ctr">
              <a:lnSpc>
                <a:spcPct val="105000"/>
              </a:lnSpc>
              <a:buNone/>
            </a:pPr>
            <a:r>
              <a:rPr lang="en-US" sz="2250" b="1" dirty="0">
                <a:solidFill>
                  <a:srgbClr val="0A0A0A"/>
                </a:solidFill>
                <a:latin typeface="Palatino Linotype" pitchFamily="34" charset="0"/>
                <a:ea typeface="Palatino Linotype" pitchFamily="34" charset="-122"/>
                <a:cs typeface="Palatino Linotype" pitchFamily="34" charset="-120"/>
              </a:rPr>
              <a:t>Closing Conversion Rate — pitch meetings that yield a new client</a:t>
            </a:r>
            <a:endParaRPr lang="en-US" sz="2250" dirty="0"/>
          </a:p>
        </p:txBody>
      </p:sp>
      <p:sp>
        <p:nvSpPr>
          <p:cNvPr id="12" name="Shape 10" descr="" title=""/>
          <p:cNvSpPr/>
          <p:nvPr/>
        </p:nvSpPr>
        <p:spPr>
          <a:xfrm>
            <a:off x="12211050" y="3638550"/>
            <a:ext cx="5314950" cy="3905250"/>
          </a:xfrm>
          <a:prstGeom prst="roundRect">
            <a:avLst>
              <a:gd name="adj" fmla="val 3902"/>
            </a:avLst>
          </a:prstGeom>
          <a:solidFill>
            <a:srgbClr val="1B2A47"/>
          </a:solidFill>
          <a:ln/>
        </p:spPr>
      </p:sp>
      <p:sp>
        <p:nvSpPr>
          <p:cNvPr id="13" name="Text 11" descr="" title=""/>
          <p:cNvSpPr/>
          <p:nvPr/>
        </p:nvSpPr>
        <p:spPr>
          <a:xfrm>
            <a:off x="14511338" y="4524375"/>
            <a:ext cx="800100" cy="762000"/>
          </a:xfrm>
          <a:prstGeom prst="rect">
            <a:avLst/>
          </a:prstGeom>
          <a:noFill/>
          <a:ln/>
        </p:spPr>
        <p:txBody>
          <a:bodyPr wrap="square" lIns="25400" tIns="25400" rIns="25400" bIns="25400" rtlCol="0" anchor="t">
            <a:normAutofit/>
          </a:bodyPr>
          <a:lstStyle/>
          <a:p>
            <a:pPr marL="0" indent="0" algn="l">
              <a:lnSpc>
                <a:spcPct val="73786"/>
              </a:lnSpc>
              <a:buNone/>
            </a:pPr>
            <a:r>
              <a:rPr lang="en-US" sz="5700" b="1" dirty="0">
                <a:solidFill>
                  <a:srgbClr val="D9C79E"/>
                </a:solidFill>
                <a:latin typeface="Palatino Linotype" pitchFamily="34" charset="0"/>
                <a:ea typeface="Palatino Linotype" pitchFamily="34" charset="-122"/>
                <a:cs typeface="Palatino Linotype" pitchFamily="34" charset="-120"/>
              </a:rPr>
              <a:t>25</a:t>
            </a:r>
            <a:endParaRPr lang="en-US" sz="5700" dirty="0"/>
          </a:p>
        </p:txBody>
      </p:sp>
      <p:sp>
        <p:nvSpPr>
          <p:cNvPr id="14" name="Text 12" descr="" title=""/>
          <p:cNvSpPr/>
          <p:nvPr/>
        </p:nvSpPr>
        <p:spPr>
          <a:xfrm>
            <a:off x="12347019" y="5457825"/>
            <a:ext cx="5052536" cy="1238250"/>
          </a:xfrm>
          <a:prstGeom prst="rect">
            <a:avLst/>
          </a:prstGeom>
          <a:noFill/>
          <a:ln/>
        </p:spPr>
        <p:txBody>
          <a:bodyPr wrap="square" lIns="25400" tIns="25400" rIns="25400" bIns="25400" rtlCol="0" anchor="t">
            <a:normAutofit/>
          </a:bodyPr>
          <a:lstStyle/>
          <a:p>
            <a:pPr marL="0" indent="0" algn="ctr">
              <a:lnSpc>
                <a:spcPct val="105000"/>
              </a:lnSpc>
              <a:buNone/>
            </a:pPr>
            <a:r>
              <a:rPr lang="en-US" sz="2250" b="1" dirty="0">
                <a:solidFill>
                  <a:srgbClr val="FFFFFF"/>
                </a:solidFill>
                <a:latin typeface="Palatino Linotype" pitchFamily="34" charset="0"/>
                <a:ea typeface="Palatino Linotype" pitchFamily="34" charset="-122"/>
                <a:cs typeface="Palatino Linotype" pitchFamily="34" charset="-120"/>
              </a:rPr>
              <a:t>Prospecting outreaches a seller should expect per new client, in this example</a:t>
            </a:r>
            <a:endParaRPr lang="en-US" sz="2250" dirty="0"/>
          </a:p>
        </p:txBody>
      </p:sp>
      <p:sp>
        <p:nvSpPr>
          <p:cNvPr id="15" name="Shape 13" descr="" title=""/>
          <p:cNvSpPr/>
          <p:nvPr/>
        </p:nvSpPr>
        <p:spPr>
          <a:xfrm>
            <a:off x="752475" y="7953375"/>
            <a:ext cx="16773525" cy="1304925"/>
          </a:xfrm>
          <a:prstGeom prst="roundRect">
            <a:avLst>
              <a:gd name="adj" fmla="val 11679"/>
            </a:avLst>
          </a:prstGeom>
          <a:solidFill>
            <a:srgbClr val="F5F5F4"/>
          </a:solidFill>
          <a:ln/>
        </p:spPr>
      </p:sp>
      <p:sp>
        <p:nvSpPr>
          <p:cNvPr id="16" name="Text 14" descr="" title=""/>
          <p:cNvSpPr/>
          <p:nvPr/>
        </p:nvSpPr>
        <p:spPr>
          <a:xfrm>
            <a:off x="1162050" y="8245822"/>
            <a:ext cx="16433006" cy="758130"/>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1B2A47"/>
                </a:solidFill>
                <a:latin typeface="Palatino Linotype" pitchFamily="34" charset="0"/>
                <a:ea typeface="Palatino Linotype" pitchFamily="34" charset="-122"/>
                <a:cs typeface="Palatino Linotype" pitchFamily="34" charset="-120"/>
              </a:rPr>
              <a:t>The Efficiency Principle: Even slight improvements — say, 1 in 4 instead of 1 in 5 — can compound into dramatic increases in annual revenue. Easy to Buy is fundamentally about understanding these two ratios and mastering the behaviors that move them.</a:t>
            </a:r>
            <a:endParaRPr lang="en-US" sz="210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7</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80349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2 · FRAMEWORK</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Peer Mindset: Communicating as Equals</a:t>
            </a:r>
            <a:endParaRPr lang="en-US" sz="4500" dirty="0"/>
          </a:p>
        </p:txBody>
      </p:sp>
      <p:sp>
        <p:nvSpPr>
          <p:cNvPr id="5" name="Text 3" descr="" title=""/>
          <p:cNvSpPr/>
          <p:nvPr/>
        </p:nvSpPr>
        <p:spPr>
          <a:xfrm>
            <a:off x="819150" y="3238500"/>
            <a:ext cx="17139380" cy="1478012"/>
          </a:xfrm>
          <a:prstGeom prst="rect">
            <a:avLst/>
          </a:prstGeom>
          <a:noFill/>
          <a:ln/>
        </p:spPr>
        <p:txBody>
          <a:bodyPr wrap="square" lIns="25400" tIns="25400" rIns="25400" bIns="25400" rtlCol="0" anchor="t">
            <a:normAutofit/>
          </a:bodyPr>
          <a:lstStyle/>
          <a:p>
            <a:pPr marL="0" indent="0" algn="l">
              <a:lnSpc>
                <a:spcPct val="101818"/>
              </a:lnSpc>
              <a:buNone/>
            </a:pPr>
            <a:r>
              <a:rPr lang="en-US" sz="2700" b="1" dirty="0">
                <a:solidFill>
                  <a:srgbClr val="1B2A47"/>
                </a:solidFill>
                <a:latin typeface="Palatino Linotype" pitchFamily="34" charset="0"/>
                <a:ea typeface="Palatino Linotype" pitchFamily="34" charset="-122"/>
                <a:cs typeface="Palatino Linotype" pitchFamily="34" charset="-120"/>
              </a:rPr>
              <a:t>Mindset reframe: Think of yourself and your buyer both as CEOs of your respective lives. In this way, you truly are peers. Technique: Never use question marks in written outreach — restate questions as confident statements that assert value.</a:t>
            </a:r>
            <a:endParaRPr lang="en-US" sz="2700" dirty="0"/>
          </a:p>
        </p:txBody>
      </p:sp>
      <p:sp>
        <p:nvSpPr>
          <p:cNvPr id="6" name="Text 4" descr="" title=""/>
          <p:cNvSpPr/>
          <p:nvPr/>
        </p:nvSpPr>
        <p:spPr>
          <a:xfrm>
            <a:off x="819150" y="5667375"/>
            <a:ext cx="400050" cy="55245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7" name="Text 5" descr="" title=""/>
          <p:cNvSpPr/>
          <p:nvPr/>
        </p:nvSpPr>
        <p:spPr>
          <a:xfrm>
            <a:off x="1295400" y="5667375"/>
            <a:ext cx="16648843" cy="55245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Positions the seller as an equal, not an applicant.</a:t>
            </a:r>
            <a:endParaRPr lang="en-US" sz="2700" dirty="0"/>
          </a:p>
        </p:txBody>
      </p:sp>
      <p:sp>
        <p:nvSpPr>
          <p:cNvPr id="8" name="Text 6" descr="" title=""/>
          <p:cNvSpPr/>
          <p:nvPr/>
        </p:nvSpPr>
        <p:spPr>
          <a:xfrm>
            <a:off x="819150" y="6543675"/>
            <a:ext cx="400050" cy="55245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9" name="Text 7" descr="" title=""/>
          <p:cNvSpPr/>
          <p:nvPr/>
        </p:nvSpPr>
        <p:spPr>
          <a:xfrm>
            <a:off x="1295400" y="6543675"/>
            <a:ext cx="16648843" cy="55245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Signals confidence and professional respect.</a:t>
            </a:r>
            <a:endParaRPr lang="en-US" sz="2700" dirty="0"/>
          </a:p>
        </p:txBody>
      </p:sp>
      <p:sp>
        <p:nvSpPr>
          <p:cNvPr id="10" name="Text 8" descr="" title=""/>
          <p:cNvSpPr/>
          <p:nvPr/>
        </p:nvSpPr>
        <p:spPr>
          <a:xfrm>
            <a:off x="819150" y="7419975"/>
            <a:ext cx="400050" cy="106680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11" name="Text 9" descr="" title=""/>
          <p:cNvSpPr/>
          <p:nvPr/>
        </p:nvSpPr>
        <p:spPr>
          <a:xfrm>
            <a:off x="1295400" y="7419975"/>
            <a:ext cx="16648843" cy="106680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Reinforces that the seller holds insight or perspective the buyer may not yet see — insight that is in the buyer's interest to understand.</a:t>
            </a:r>
            <a:endParaRPr lang="en-US" sz="2700" dirty="0"/>
          </a:p>
        </p:txBody>
      </p:sp>
      <p:sp>
        <p:nvSpPr>
          <p:cNvPr id="12" name="Text 10"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3" name="Text 11"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4" name="Text 12"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8</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80349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2 · FRAMEWORK</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Restate Questions as Statements</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8C2F2F"/>
                </a:solidFill>
                <a:latin typeface="Palatino Linotype" pitchFamily="34" charset="0"/>
                <a:ea typeface="Palatino Linotype" pitchFamily="34" charset="-122"/>
                <a:cs typeface="Palatino Linotype" pitchFamily="34" charset="-120"/>
              </a:rPr>
              <a:t>✕ Weak</a:t>
            </a:r>
            <a:endParaRPr lang="en-US" sz="2700" dirty="0"/>
          </a:p>
        </p:txBody>
      </p:sp>
      <p:sp>
        <p:nvSpPr>
          <p:cNvPr id="7" name="Text 5" descr="" title=""/>
          <p:cNvSpPr/>
          <p:nvPr/>
        </p:nvSpPr>
        <p:spPr>
          <a:xfrm>
            <a:off x="1162050" y="5995095"/>
            <a:ext cx="7505224" cy="1211461"/>
          </a:xfrm>
          <a:prstGeom prst="rect">
            <a:avLst/>
          </a:prstGeom>
          <a:noFill/>
          <a:ln/>
        </p:spPr>
        <p:txBody>
          <a:bodyPr wrap="square" lIns="25400" tIns="25400" rIns="25400" bIns="25400" rtlCol="0" anchor="t">
            <a:normAutofit/>
          </a:bodyPr>
          <a:lstStyle/>
          <a:p>
            <a:pPr marL="0" indent="0" algn="l">
              <a:lnSpc>
                <a:spcPct val="104407"/>
              </a:lnSpc>
              <a:buNone/>
            </a:pPr>
            <a:r>
              <a:rPr lang="en-US" sz="3300" b="1" i="1" dirty="0">
                <a:solidFill>
                  <a:srgbClr val="0A0A0A"/>
                </a:solidFill>
                <a:latin typeface="Palatino Linotype" pitchFamily="34" charset="0"/>
                <a:ea typeface="Palatino Linotype" pitchFamily="34" charset="-122"/>
                <a:cs typeface="Palatino Linotype" pitchFamily="34" charset="-120"/>
              </a:rPr>
              <a:t>"Would you be open to learning how we help firms like yours?"</a:t>
            </a:r>
            <a:endParaRPr lang="en-US" sz="3300" dirty="0"/>
          </a:p>
        </p:txBody>
      </p:sp>
      <p:sp>
        <p:nvSpPr>
          <p:cNvPr id="8" name="Shape 6" descr="" title=""/>
          <p:cNvSpPr/>
          <p:nvPr/>
        </p:nvSpPr>
        <p:spPr>
          <a:xfrm>
            <a:off x="9420225" y="2743200"/>
            <a:ext cx="8115300" cy="6791325"/>
          </a:xfrm>
          <a:prstGeom prst="roundRect">
            <a:avLst>
              <a:gd name="adj" fmla="val 2244"/>
            </a:avLst>
          </a:prstGeom>
          <a:solidFill>
            <a:srgbClr val="1B2A47"/>
          </a:solidFill>
          <a:ln/>
        </p:spPr>
      </p:sp>
      <p:sp>
        <p:nvSpPr>
          <p:cNvPr id="9" name="Text 7"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D9C79E"/>
                </a:solidFill>
                <a:latin typeface="Palatino Linotype" pitchFamily="34" charset="0"/>
                <a:ea typeface="Palatino Linotype" pitchFamily="34" charset="-122"/>
                <a:cs typeface="Palatino Linotype" pitchFamily="34" charset="-120"/>
              </a:rPr>
              <a:t>✓ Strong</a:t>
            </a:r>
            <a:endParaRPr lang="en-US" sz="2700" dirty="0"/>
          </a:p>
        </p:txBody>
      </p:sp>
      <p:sp>
        <p:nvSpPr>
          <p:cNvPr id="10" name="Text 8" descr="" title=""/>
          <p:cNvSpPr/>
          <p:nvPr/>
        </p:nvSpPr>
        <p:spPr>
          <a:xfrm>
            <a:off x="9829800" y="5701754"/>
            <a:ext cx="7505224" cy="1798141"/>
          </a:xfrm>
          <a:prstGeom prst="rect">
            <a:avLst/>
          </a:prstGeom>
          <a:noFill/>
          <a:ln/>
        </p:spPr>
        <p:txBody>
          <a:bodyPr wrap="square" lIns="25400" tIns="25400" rIns="25400" bIns="25400" rtlCol="0" anchor="t">
            <a:normAutofit/>
          </a:bodyPr>
          <a:lstStyle/>
          <a:p>
            <a:pPr marL="0" indent="0" algn="l">
              <a:lnSpc>
                <a:spcPct val="104407"/>
              </a:lnSpc>
              <a:buNone/>
            </a:pPr>
            <a:r>
              <a:rPr lang="en-US" sz="3300" b="1" i="1" dirty="0">
                <a:solidFill>
                  <a:srgbClr val="FFFFFF"/>
                </a:solidFill>
                <a:latin typeface="Palatino Linotype" pitchFamily="34" charset="0"/>
                <a:ea typeface="Palatino Linotype" pitchFamily="34" charset="-122"/>
                <a:cs typeface="Palatino Linotype" pitchFamily="34" charset="-120"/>
              </a:rPr>
              <a:t>"You'll be interested in how we help firms like yours increase deal velocity."</a:t>
            </a:r>
            <a:endParaRPr lang="en-US" sz="33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9</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803496"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2 · FRAMEWORK</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Sales Flywheel</a:t>
            </a:r>
            <a:endParaRPr lang="en-US" sz="4500" dirty="0"/>
          </a:p>
        </p:txBody>
      </p:sp>
      <p:sp>
        <p:nvSpPr>
          <p:cNvPr id="5" name="Shape 3" descr="" title=""/>
          <p:cNvSpPr/>
          <p:nvPr/>
        </p:nvSpPr>
        <p:spPr>
          <a:xfrm>
            <a:off x="4459337" y="3143250"/>
            <a:ext cx="1619250" cy="1619250"/>
          </a:xfrm>
          <a:prstGeom prst="ellipse">
            <a:avLst/>
          </a:prstGeom>
          <a:solidFill>
            <a:srgbClr val="1B2A47"/>
          </a:solidFill>
          <a:ln/>
        </p:spPr>
      </p:sp>
      <p:sp>
        <p:nvSpPr>
          <p:cNvPr id="6" name="Text 4" descr="" title=""/>
          <p:cNvSpPr/>
          <p:nvPr/>
        </p:nvSpPr>
        <p:spPr>
          <a:xfrm>
            <a:off x="5107037" y="3519488"/>
            <a:ext cx="400050" cy="904875"/>
          </a:xfrm>
          <a:prstGeom prst="rect">
            <a:avLst/>
          </a:prstGeom>
          <a:noFill/>
          <a:ln/>
        </p:spPr>
        <p:txBody>
          <a:bodyPr wrap="square" lIns="25400" tIns="25400" rIns="25400" bIns="25400" rtlCol="0" anchor="t">
            <a:normAutofit/>
          </a:bodyPr>
          <a:lstStyle/>
          <a:p>
            <a:pPr marL="0" indent="0" algn="l">
              <a:buNone/>
            </a:pPr>
            <a:r>
              <a:rPr lang="en-US" sz="5100" b="1" dirty="0">
                <a:solidFill>
                  <a:srgbClr val="D9C79E"/>
                </a:solidFill>
                <a:latin typeface="Palatino Linotype" pitchFamily="34" charset="0"/>
                <a:ea typeface="Palatino Linotype" pitchFamily="34" charset="-122"/>
                <a:cs typeface="Palatino Linotype" pitchFamily="34" charset="-120"/>
              </a:rPr>
              <a:t>1</a:t>
            </a:r>
            <a:endParaRPr lang="en-US" sz="5100" dirty="0"/>
          </a:p>
        </p:txBody>
      </p:sp>
      <p:sp>
        <p:nvSpPr>
          <p:cNvPr id="7" name="Text 5" descr="" title=""/>
          <p:cNvSpPr/>
          <p:nvPr/>
        </p:nvSpPr>
        <p:spPr>
          <a:xfrm>
            <a:off x="4499223" y="4953000"/>
            <a:ext cx="1693262"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B2A47"/>
                </a:solidFill>
                <a:latin typeface="Palatino Linotype" pitchFamily="34" charset="0"/>
                <a:ea typeface="Palatino Linotype" pitchFamily="34" charset="-122"/>
                <a:cs typeface="Palatino Linotype" pitchFamily="34" charset="-120"/>
              </a:rPr>
              <a:t>Prospecting</a:t>
            </a:r>
            <a:endParaRPr lang="en-US" sz="2250" dirty="0"/>
          </a:p>
        </p:txBody>
      </p:sp>
      <p:sp>
        <p:nvSpPr>
          <p:cNvPr id="8" name="Text 6" descr="" title=""/>
          <p:cNvSpPr/>
          <p:nvPr/>
        </p:nvSpPr>
        <p:spPr>
          <a:xfrm>
            <a:off x="6688187" y="3876675"/>
            <a:ext cx="609600" cy="762000"/>
          </a:xfrm>
          <a:prstGeom prst="rect">
            <a:avLst/>
          </a:prstGeom>
          <a:noFill/>
          <a:ln/>
        </p:spPr>
        <p:txBody>
          <a:bodyPr wrap="square" lIns="25400" tIns="25400" rIns="25400" bIns="25400" rtlCol="0" anchor="t">
            <a:normAutofit/>
          </a:bodyPr>
          <a:lstStyle/>
          <a:p>
            <a:pPr marL="0" indent="0" algn="l">
              <a:buNone/>
            </a:pPr>
            <a:r>
              <a:rPr lang="en-US" sz="4200" dirty="0">
                <a:solidFill>
                  <a:srgbClr val="A9814B"/>
                </a:solidFill>
                <a:latin typeface="Palatino Linotype" pitchFamily="34" charset="0"/>
                <a:ea typeface="Palatino Linotype" pitchFamily="34" charset="-122"/>
                <a:cs typeface="Palatino Linotype" pitchFamily="34" charset="-120"/>
              </a:rPr>
              <a:t>→</a:t>
            </a:r>
            <a:endParaRPr lang="en-US" sz="4200" dirty="0"/>
          </a:p>
        </p:txBody>
      </p:sp>
      <p:sp>
        <p:nvSpPr>
          <p:cNvPr id="9" name="Shape 7" descr="" title=""/>
          <p:cNvSpPr/>
          <p:nvPr/>
        </p:nvSpPr>
        <p:spPr>
          <a:xfrm>
            <a:off x="7831187" y="3143250"/>
            <a:ext cx="1619250" cy="1619250"/>
          </a:xfrm>
          <a:prstGeom prst="ellipse">
            <a:avLst/>
          </a:prstGeom>
          <a:solidFill>
            <a:srgbClr val="1B2A47"/>
          </a:solidFill>
          <a:ln/>
        </p:spPr>
      </p:sp>
      <p:sp>
        <p:nvSpPr>
          <p:cNvPr id="10" name="Text 8" descr="" title=""/>
          <p:cNvSpPr/>
          <p:nvPr/>
        </p:nvSpPr>
        <p:spPr>
          <a:xfrm>
            <a:off x="8478887" y="3519488"/>
            <a:ext cx="400050" cy="904875"/>
          </a:xfrm>
          <a:prstGeom prst="rect">
            <a:avLst/>
          </a:prstGeom>
          <a:noFill/>
          <a:ln/>
        </p:spPr>
        <p:txBody>
          <a:bodyPr wrap="square" lIns="25400" tIns="25400" rIns="25400" bIns="25400" rtlCol="0" anchor="t">
            <a:normAutofit/>
          </a:bodyPr>
          <a:lstStyle/>
          <a:p>
            <a:pPr marL="0" indent="0" algn="l">
              <a:buNone/>
            </a:pPr>
            <a:r>
              <a:rPr lang="en-US" sz="5100" b="1" dirty="0">
                <a:solidFill>
                  <a:srgbClr val="D9C79E"/>
                </a:solidFill>
                <a:latin typeface="Palatino Linotype" pitchFamily="34" charset="0"/>
                <a:ea typeface="Palatino Linotype" pitchFamily="34" charset="-122"/>
                <a:cs typeface="Palatino Linotype" pitchFamily="34" charset="-120"/>
              </a:rPr>
              <a:t>2</a:t>
            </a:r>
            <a:endParaRPr lang="en-US" sz="5100" dirty="0"/>
          </a:p>
        </p:txBody>
      </p:sp>
      <p:sp>
        <p:nvSpPr>
          <p:cNvPr id="11" name="Text 9" descr="" title=""/>
          <p:cNvSpPr/>
          <p:nvPr/>
        </p:nvSpPr>
        <p:spPr>
          <a:xfrm>
            <a:off x="8093422" y="4953000"/>
            <a:ext cx="1170831"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B2A47"/>
                </a:solidFill>
                <a:latin typeface="Palatino Linotype" pitchFamily="34" charset="0"/>
                <a:ea typeface="Palatino Linotype" pitchFamily="34" charset="-122"/>
                <a:cs typeface="Palatino Linotype" pitchFamily="34" charset="-120"/>
              </a:rPr>
              <a:t>Pitching</a:t>
            </a:r>
            <a:endParaRPr lang="en-US" sz="2250" dirty="0"/>
          </a:p>
        </p:txBody>
      </p:sp>
      <p:sp>
        <p:nvSpPr>
          <p:cNvPr id="12" name="Text 10" descr="" title=""/>
          <p:cNvSpPr/>
          <p:nvPr/>
        </p:nvSpPr>
        <p:spPr>
          <a:xfrm>
            <a:off x="10060037" y="3876675"/>
            <a:ext cx="609600" cy="762000"/>
          </a:xfrm>
          <a:prstGeom prst="rect">
            <a:avLst/>
          </a:prstGeom>
          <a:noFill/>
          <a:ln/>
        </p:spPr>
        <p:txBody>
          <a:bodyPr wrap="square" lIns="25400" tIns="25400" rIns="25400" bIns="25400" rtlCol="0" anchor="t">
            <a:normAutofit/>
          </a:bodyPr>
          <a:lstStyle/>
          <a:p>
            <a:pPr marL="0" indent="0" algn="l">
              <a:buNone/>
            </a:pPr>
            <a:r>
              <a:rPr lang="en-US" sz="4200" dirty="0">
                <a:solidFill>
                  <a:srgbClr val="A9814B"/>
                </a:solidFill>
                <a:latin typeface="Palatino Linotype" pitchFamily="34" charset="0"/>
                <a:ea typeface="Palatino Linotype" pitchFamily="34" charset="-122"/>
                <a:cs typeface="Palatino Linotype" pitchFamily="34" charset="-120"/>
              </a:rPr>
              <a:t>→</a:t>
            </a:r>
            <a:endParaRPr lang="en-US" sz="4200" dirty="0"/>
          </a:p>
        </p:txBody>
      </p:sp>
      <p:sp>
        <p:nvSpPr>
          <p:cNvPr id="13" name="Shape 11" descr="" title=""/>
          <p:cNvSpPr/>
          <p:nvPr/>
        </p:nvSpPr>
        <p:spPr>
          <a:xfrm>
            <a:off x="11203037" y="3143250"/>
            <a:ext cx="1619250" cy="1619250"/>
          </a:xfrm>
          <a:prstGeom prst="ellipse">
            <a:avLst/>
          </a:prstGeom>
          <a:solidFill>
            <a:srgbClr val="1B2A47"/>
          </a:solidFill>
          <a:ln/>
        </p:spPr>
      </p:sp>
      <p:sp>
        <p:nvSpPr>
          <p:cNvPr id="14" name="Text 12" descr="" title=""/>
          <p:cNvSpPr/>
          <p:nvPr/>
        </p:nvSpPr>
        <p:spPr>
          <a:xfrm>
            <a:off x="11850737" y="3519488"/>
            <a:ext cx="400050" cy="904875"/>
          </a:xfrm>
          <a:prstGeom prst="rect">
            <a:avLst/>
          </a:prstGeom>
          <a:noFill/>
          <a:ln/>
        </p:spPr>
        <p:txBody>
          <a:bodyPr wrap="square" lIns="25400" tIns="25400" rIns="25400" bIns="25400" rtlCol="0" anchor="t">
            <a:normAutofit/>
          </a:bodyPr>
          <a:lstStyle/>
          <a:p>
            <a:pPr marL="0" indent="0" algn="l">
              <a:buNone/>
            </a:pPr>
            <a:r>
              <a:rPr lang="en-US" sz="5100" b="1" dirty="0">
                <a:solidFill>
                  <a:srgbClr val="D9C79E"/>
                </a:solidFill>
                <a:latin typeface="Palatino Linotype" pitchFamily="34" charset="0"/>
                <a:ea typeface="Palatino Linotype" pitchFamily="34" charset="-122"/>
                <a:cs typeface="Palatino Linotype" pitchFamily="34" charset="-120"/>
              </a:rPr>
              <a:t>3</a:t>
            </a:r>
            <a:endParaRPr lang="en-US" sz="5100" dirty="0"/>
          </a:p>
        </p:txBody>
      </p:sp>
      <p:sp>
        <p:nvSpPr>
          <p:cNvPr id="15" name="Text 13" descr="" title=""/>
          <p:cNvSpPr/>
          <p:nvPr/>
        </p:nvSpPr>
        <p:spPr>
          <a:xfrm>
            <a:off x="11504712" y="4953000"/>
            <a:ext cx="1091952"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B2A47"/>
                </a:solidFill>
                <a:latin typeface="Palatino Linotype" pitchFamily="34" charset="0"/>
                <a:ea typeface="Palatino Linotype" pitchFamily="34" charset="-122"/>
                <a:cs typeface="Palatino Linotype" pitchFamily="34" charset="-120"/>
              </a:rPr>
              <a:t>Closing</a:t>
            </a:r>
            <a:endParaRPr lang="en-US" sz="2250" dirty="0"/>
          </a:p>
        </p:txBody>
      </p:sp>
      <p:sp>
        <p:nvSpPr>
          <p:cNvPr id="16" name="Text 14" descr="" title=""/>
          <p:cNvSpPr/>
          <p:nvPr/>
        </p:nvSpPr>
        <p:spPr>
          <a:xfrm>
            <a:off x="13431887" y="3895725"/>
            <a:ext cx="463451" cy="723900"/>
          </a:xfrm>
          <a:prstGeom prst="rect">
            <a:avLst/>
          </a:prstGeom>
          <a:noFill/>
          <a:ln/>
        </p:spPr>
        <p:txBody>
          <a:bodyPr wrap="square" lIns="25400" tIns="25400" rIns="25400" bIns="25400" rtlCol="0" anchor="t">
            <a:normAutofit/>
          </a:bodyPr>
          <a:lstStyle/>
          <a:p>
            <a:pPr marL="0" indent="0" algn="l">
              <a:buNone/>
            </a:pPr>
            <a:r>
              <a:rPr lang="en-US" sz="3900" dirty="0">
                <a:solidFill>
                  <a:srgbClr val="A9814B"/>
                </a:solidFill>
                <a:latin typeface="Palatino Linotype" pitchFamily="34" charset="0"/>
                <a:ea typeface="Palatino Linotype" pitchFamily="34" charset="-122"/>
                <a:cs typeface="Palatino Linotype" pitchFamily="34" charset="-120"/>
              </a:rPr>
              <a:t>↻</a:t>
            </a:r>
            <a:endParaRPr lang="en-US" sz="3900" dirty="0"/>
          </a:p>
        </p:txBody>
      </p:sp>
      <p:sp>
        <p:nvSpPr>
          <p:cNvPr id="17" name="Text 15" descr="" title=""/>
          <p:cNvSpPr/>
          <p:nvPr/>
        </p:nvSpPr>
        <p:spPr>
          <a:xfrm>
            <a:off x="819150" y="6191250"/>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18" name="Text 16" descr="" title=""/>
          <p:cNvSpPr/>
          <p:nvPr/>
        </p:nvSpPr>
        <p:spPr>
          <a:xfrm>
            <a:off x="1276350" y="6191250"/>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Each full sales cycle — prospecting, pitching, closing — strengthens the next.</a:t>
            </a:r>
            <a:endParaRPr lang="en-US" sz="2400" dirty="0"/>
          </a:p>
        </p:txBody>
      </p:sp>
      <p:sp>
        <p:nvSpPr>
          <p:cNvPr id="19" name="Text 17" descr="" title=""/>
          <p:cNvSpPr/>
          <p:nvPr/>
        </p:nvSpPr>
        <p:spPr>
          <a:xfrm>
            <a:off x="819150" y="6956971"/>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20" name="Text 18" descr="" title=""/>
          <p:cNvSpPr/>
          <p:nvPr/>
        </p:nvSpPr>
        <p:spPr>
          <a:xfrm>
            <a:off x="1276350" y="6956971"/>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Year by year, momentum compounds: credibility grows, referrals increase, and outreach becomes more efficient.</a:t>
            </a:r>
            <a:endParaRPr lang="en-US" sz="2400" dirty="0"/>
          </a:p>
        </p:txBody>
      </p:sp>
      <p:sp>
        <p:nvSpPr>
          <p:cNvPr id="21" name="Text 19" descr="" title=""/>
          <p:cNvSpPr/>
          <p:nvPr/>
        </p:nvSpPr>
        <p:spPr>
          <a:xfrm>
            <a:off x="819150" y="7722691"/>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22" name="Text 20" descr="" title=""/>
          <p:cNvSpPr/>
          <p:nvPr/>
        </p:nvSpPr>
        <p:spPr>
          <a:xfrm>
            <a:off x="1276350" y="7722691"/>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Consistency creates exponential returns: what starts as linear effort develops into geometric growth.</a:t>
            </a:r>
            <a:endParaRPr lang="en-US" sz="2400" dirty="0"/>
          </a:p>
        </p:txBody>
      </p:sp>
      <p:sp>
        <p:nvSpPr>
          <p:cNvPr id="23" name="Text 2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4" name="Text 2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5" name="Text 2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10</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2</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2 CHECKPOINT</a:t>
            </a:r>
            <a:endParaRPr lang="en-US" sz="1800" dirty="0"/>
          </a:p>
        </p:txBody>
      </p:sp>
      <p:sp>
        <p:nvSpPr>
          <p:cNvPr id="5" name="Text 3" descr="" title=""/>
          <p:cNvSpPr/>
          <p:nvPr/>
        </p:nvSpPr>
        <p:spPr>
          <a:xfrm>
            <a:off x="752475" y="1504950"/>
            <a:ext cx="17276731" cy="1015305"/>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Do the sales math: if your prospecting conversion rate is 1 in 3, and your closing conversion rate is 1 in 3,</a:t>
            </a:r>
            <a:endParaRPr lang="en-US" sz="2850" dirty="0"/>
          </a:p>
        </p:txBody>
      </p:sp>
      <p:sp>
        <p:nvSpPr>
          <p:cNvPr id="6" name="Shape 4" descr="" title=""/>
          <p:cNvSpPr/>
          <p:nvPr/>
        </p:nvSpPr>
        <p:spPr>
          <a:xfrm>
            <a:off x="752475" y="4057650"/>
            <a:ext cx="16773525" cy="1333500"/>
          </a:xfrm>
          <a:prstGeom prst="roundRect">
            <a:avLst>
              <a:gd name="adj" fmla="val 11429"/>
            </a:avLst>
          </a:prstGeom>
          <a:solidFill>
            <a:srgbClr val="FFFFFF"/>
          </a:solidFill>
          <a:ln/>
        </p:spPr>
      </p:sp>
      <p:sp>
        <p:nvSpPr>
          <p:cNvPr id="7" name="Text 5" descr="" title=""/>
          <p:cNvSpPr/>
          <p:nvPr/>
        </p:nvSpPr>
        <p:spPr>
          <a:xfrm>
            <a:off x="1143000" y="4510980"/>
            <a:ext cx="16501682" cy="464790"/>
          </a:xfrm>
          <a:prstGeom prst="rect">
            <a:avLst/>
          </a:prstGeom>
          <a:noFill/>
          <a:ln/>
        </p:spPr>
        <p:txBody>
          <a:bodyPr wrap="square" lIns="25400" tIns="25400" rIns="25400" bIns="25400" rtlCol="0" anchor="t">
            <a:normAutofit/>
          </a:bodyPr>
          <a:lstStyle/>
          <a:p>
            <a:pPr marL="0" indent="0" algn="l">
              <a:lnSpc>
                <a:spcPct val="101818"/>
              </a:lnSpc>
              <a:buNone/>
            </a:pPr>
            <a:r>
              <a:rPr lang="en-US" sz="2400" b="1" dirty="0">
                <a:solidFill>
                  <a:srgbClr val="0A0A0A"/>
                </a:solidFill>
                <a:latin typeface="Palatino Linotype" pitchFamily="34" charset="0"/>
                <a:ea typeface="Palatino Linotype" pitchFamily="34" charset="-122"/>
                <a:cs typeface="Palatino Linotype" pitchFamily="34" charset="-120"/>
              </a:rPr>
              <a:t>How many prospecting outreaches should you expect to make for every one new client?</a:t>
            </a:r>
            <a:endParaRPr lang="en-US" sz="2400" dirty="0"/>
          </a:p>
        </p:txBody>
      </p:sp>
      <p:sp>
        <p:nvSpPr>
          <p:cNvPr id="8" name="Shape 6" descr="" title=""/>
          <p:cNvSpPr/>
          <p:nvPr/>
        </p:nvSpPr>
        <p:spPr>
          <a:xfrm>
            <a:off x="752475" y="5915025"/>
            <a:ext cx="16773525" cy="2286000"/>
          </a:xfrm>
          <a:prstGeom prst="roundRect">
            <a:avLst>
              <a:gd name="adj" fmla="val 6667"/>
            </a:avLst>
          </a:prstGeom>
          <a:solidFill>
            <a:srgbClr val="1B2A47"/>
          </a:solidFill>
          <a:ln/>
        </p:spPr>
      </p:sp>
      <p:sp>
        <p:nvSpPr>
          <p:cNvPr id="9" name="Text 7" descr="" title=""/>
          <p:cNvSpPr/>
          <p:nvPr/>
        </p:nvSpPr>
        <p:spPr>
          <a:xfrm>
            <a:off x="1162050" y="6236791"/>
            <a:ext cx="5755094" cy="381000"/>
          </a:xfrm>
          <a:prstGeom prst="rect">
            <a:avLst/>
          </a:prstGeom>
          <a:noFill/>
          <a:ln/>
        </p:spPr>
        <p:txBody>
          <a:bodyPr wrap="square" lIns="25400" tIns="25400" rIns="25400" bIns="25400" rtlCol="0" anchor="t">
            <a:normAutofit/>
          </a:bodyPr>
          <a:lstStyle/>
          <a:p>
            <a:pPr marL="0" indent="0" algn="l">
              <a:lnSpc>
                <a:spcPct val="101250"/>
              </a:lnSpc>
              <a:buNone/>
            </a:pPr>
            <a:r>
              <a:rPr lang="en-US" sz="2025" b="1" kern="0" spc="150" dirty="0">
                <a:solidFill>
                  <a:srgbClr val="A9814B"/>
                </a:solidFill>
                <a:latin typeface="Palatino Linotype" pitchFamily="34" charset="0"/>
                <a:ea typeface="Palatino Linotype" pitchFamily="34" charset="-122"/>
                <a:cs typeface="Palatino Linotype" pitchFamily="34" charset="-120"/>
              </a:rPr>
              <a:t>ANSWER · 9 outreaches per new client</a:t>
            </a:r>
            <a:endParaRPr lang="en-US" sz="2025" dirty="0"/>
          </a:p>
        </p:txBody>
      </p:sp>
      <p:sp>
        <p:nvSpPr>
          <p:cNvPr id="10" name="Text 8" descr="" title=""/>
          <p:cNvSpPr/>
          <p:nvPr/>
        </p:nvSpPr>
        <p:spPr>
          <a:xfrm>
            <a:off x="1162050" y="6715125"/>
            <a:ext cx="16433006" cy="864691"/>
          </a:xfrm>
          <a:prstGeom prst="rect">
            <a:avLst/>
          </a:prstGeom>
          <a:noFill/>
          <a:ln/>
        </p:spPr>
        <p:txBody>
          <a:bodyPr wrap="square" lIns="25400" tIns="25400" rIns="25400" bIns="25400" rtlCol="0" anchor="t">
            <a:normAutofit/>
          </a:bodyPr>
          <a:lstStyle/>
          <a:p>
            <a:pPr marL="0" indent="0" algn="l">
              <a:lnSpc>
                <a:spcPct val="101818"/>
              </a:lnSpc>
              <a:buNone/>
            </a:pPr>
            <a:r>
              <a:rPr lang="en-US" sz="2325" b="1" dirty="0">
                <a:solidFill>
                  <a:srgbClr val="FFFFFF"/>
                </a:solidFill>
                <a:latin typeface="Palatino Linotype" pitchFamily="34" charset="0"/>
                <a:ea typeface="Palatino Linotype" pitchFamily="34" charset="-122"/>
                <a:cs typeface="Palatino Linotype" pitchFamily="34" charset="-120"/>
              </a:rPr>
              <a:t>3 outreaches → 1 qualified pitch meeting. 3 pitch meetings → 1 new client. 3 × 3 = 9. The same math applies at any ratio — multiply the two conversion rates to find your outreach target.</a:t>
            </a:r>
            <a:endParaRPr lang="en-US" sz="232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11</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Purpose and the Three-Step Cycle</a:t>
            </a:r>
            <a:endParaRPr lang="en-US" sz="4500" dirty="0"/>
          </a:p>
        </p:txBody>
      </p:sp>
      <p:sp>
        <p:nvSpPr>
          <p:cNvPr id="5" name="Text 3" descr="" title=""/>
          <p:cNvSpPr/>
          <p:nvPr/>
        </p:nvSpPr>
        <p:spPr>
          <a:xfrm>
            <a:off x="819150" y="3571875"/>
            <a:ext cx="17139380" cy="1438275"/>
          </a:xfrm>
          <a:prstGeom prst="rect">
            <a:avLst/>
          </a:prstGeom>
          <a:noFill/>
          <a:ln/>
        </p:spPr>
        <p:txBody>
          <a:bodyPr wrap="square" lIns="25400" tIns="25400" rIns="25400" bIns="25400" rtlCol="0" anchor="t">
            <a:normAutofit/>
          </a:bodyPr>
          <a:lstStyle/>
          <a:p>
            <a:pPr marL="0" indent="0" algn="l">
              <a:lnSpc>
                <a:spcPct val="101818"/>
              </a:lnSpc>
              <a:buNone/>
            </a:pPr>
            <a:r>
              <a:rPr lang="en-US" sz="2625" b="1" dirty="0">
                <a:solidFill>
                  <a:srgbClr val="1B2A47"/>
                </a:solidFill>
                <a:latin typeface="Palatino Linotype" pitchFamily="34" charset="0"/>
                <a:ea typeface="Palatino Linotype" pitchFamily="34" charset="-122"/>
                <a:cs typeface="Palatino Linotype" pitchFamily="34" charset="-120"/>
              </a:rPr>
              <a:t>Prospecting is the disciplined art of creating qualified pitch meetings — meetings where both parties expect a business conversation and the buyer has genuine authority to engage. The goal is not simply to be noticed; it is to be invited.</a:t>
            </a:r>
            <a:endParaRPr lang="en-US" sz="2625" dirty="0"/>
          </a:p>
        </p:txBody>
      </p:sp>
      <p:sp>
        <p:nvSpPr>
          <p:cNvPr id="6" name="Text 4" descr="" title=""/>
          <p:cNvSpPr/>
          <p:nvPr/>
        </p:nvSpPr>
        <p:spPr>
          <a:xfrm>
            <a:off x="819150" y="6334125"/>
            <a:ext cx="40005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7" name="Text 5" descr="" title=""/>
          <p:cNvSpPr/>
          <p:nvPr/>
        </p:nvSpPr>
        <p:spPr>
          <a:xfrm>
            <a:off x="1295400" y="6334125"/>
            <a:ext cx="16648843"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1. Identify and Qualify.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Research to confirm the prospect has both authority and relevance; look for triggers such as a transaction, leadership change, or expansion.</a:t>
            </a:r>
            <a:endParaRPr lang="en-US" sz="1200" dirty="0"/>
          </a:p>
        </p:txBody>
      </p:sp>
      <p:sp>
        <p:nvSpPr>
          <p:cNvPr id="8" name="Text 6" descr="" title=""/>
          <p:cNvSpPr/>
          <p:nvPr/>
        </p:nvSpPr>
        <p:spPr>
          <a:xfrm>
            <a:off x="819150" y="7508974"/>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9" name="Text 7" descr="" title=""/>
          <p:cNvSpPr/>
          <p:nvPr/>
        </p:nvSpPr>
        <p:spPr>
          <a:xfrm>
            <a:off x="1295400" y="7508974"/>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2. Approach.</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Send a concise, respectful message that communicates credibility in seconds, using the five-sentence structure.</a:t>
            </a:r>
            <a:endParaRPr lang="en-US" sz="1200" dirty="0"/>
          </a:p>
        </p:txBody>
      </p:sp>
      <p:sp>
        <p:nvSpPr>
          <p:cNvPr id="10" name="Text 8" descr="" title=""/>
          <p:cNvSpPr/>
          <p:nvPr/>
        </p:nvSpPr>
        <p:spPr>
          <a:xfrm>
            <a:off x="819150" y="8283327"/>
            <a:ext cx="40005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1" name="Text 9" descr="" title=""/>
          <p:cNvSpPr/>
          <p:nvPr/>
        </p:nvSpPr>
        <p:spPr>
          <a:xfrm>
            <a:off x="1295400" y="8283327"/>
            <a:ext cx="16648843"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3. Persist with Value.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Follow up methodically until the prospect agrees to meet or explicitly declines — each follow-up delivers new value, never repetition.</a:t>
            </a:r>
            <a:endParaRPr lang="en-US" sz="1200" dirty="0"/>
          </a:p>
        </p:txBody>
      </p:sp>
      <p:sp>
        <p:nvSpPr>
          <p:cNvPr id="12" name="Text 10"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3" name="Text 11"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4" name="Text 12"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12</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Five-Sentence Outreach Script</a:t>
            </a:r>
            <a:endParaRPr lang="en-US" sz="4500" dirty="0"/>
          </a:p>
        </p:txBody>
      </p:sp>
      <p:sp>
        <p:nvSpPr>
          <p:cNvPr id="5" name="Text 3" descr="" title=""/>
          <p:cNvSpPr/>
          <p:nvPr/>
        </p:nvSpPr>
        <p:spPr>
          <a:xfrm>
            <a:off x="819150" y="4324350"/>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95400" y="4324350"/>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1. Lead with the Lead:</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Declare purpose clearly and early.</a:t>
            </a:r>
            <a:endParaRPr lang="en-US" sz="1200" dirty="0"/>
          </a:p>
        </p:txBody>
      </p:sp>
      <p:sp>
        <p:nvSpPr>
          <p:cNvPr id="7" name="Text 5" descr="" title=""/>
          <p:cNvSpPr/>
          <p:nvPr/>
        </p:nvSpPr>
        <p:spPr>
          <a:xfrm>
            <a:off x="819150" y="5022503"/>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95400" y="5022503"/>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2. Offer Incentive:</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Provide a compelling reason to meet — a case, insight, or value.</a:t>
            </a:r>
            <a:endParaRPr lang="en-US" sz="1200" dirty="0"/>
          </a:p>
        </p:txBody>
      </p:sp>
      <p:sp>
        <p:nvSpPr>
          <p:cNvPr id="9" name="Text 7" descr="" title=""/>
          <p:cNvSpPr/>
          <p:nvPr/>
        </p:nvSpPr>
        <p:spPr>
          <a:xfrm>
            <a:off x="819150" y="5720655"/>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95400" y="5720655"/>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3. Establish Credibility:</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Share two to three relevant facts about you or your firm.</a:t>
            </a:r>
            <a:endParaRPr lang="en-US" sz="1200" dirty="0"/>
          </a:p>
        </p:txBody>
      </p:sp>
      <p:sp>
        <p:nvSpPr>
          <p:cNvPr id="11" name="Text 9" descr="" title=""/>
          <p:cNvSpPr/>
          <p:nvPr/>
        </p:nvSpPr>
        <p:spPr>
          <a:xfrm>
            <a:off x="819150" y="6418808"/>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2" name="Text 10" descr="" title=""/>
          <p:cNvSpPr/>
          <p:nvPr/>
        </p:nvSpPr>
        <p:spPr>
          <a:xfrm>
            <a:off x="1295400" y="6418808"/>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4. Suggest Meeting Times:</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Provide specific, concrete options — no calendar links.</a:t>
            </a:r>
            <a:endParaRPr lang="en-US" sz="1200" dirty="0"/>
          </a:p>
        </p:txBody>
      </p:sp>
      <p:sp>
        <p:nvSpPr>
          <p:cNvPr id="13" name="Text 11" descr="" title=""/>
          <p:cNvSpPr/>
          <p:nvPr/>
        </p:nvSpPr>
        <p:spPr>
          <a:xfrm>
            <a:off x="819150" y="7116961"/>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4" name="Text 12" descr="" title=""/>
          <p:cNvSpPr/>
          <p:nvPr/>
        </p:nvSpPr>
        <p:spPr>
          <a:xfrm>
            <a:off x="1295400" y="7116961"/>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5. Simple Close:</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"Looking forward to connecting."</a:t>
            </a:r>
            <a:endParaRPr lang="en-US" sz="1200" dirty="0"/>
          </a:p>
        </p:txBody>
      </p:sp>
      <p:sp>
        <p:nvSpPr>
          <p:cNvPr id="15" name="Text 1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6" name="Text 1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7" name="Text 1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13</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Anatomy of a High-Converting Outreach</a:t>
            </a:r>
            <a:endParaRPr lang="en-US" sz="4500" dirty="0"/>
          </a:p>
        </p:txBody>
      </p:sp>
      <p:sp>
        <p:nvSpPr>
          <p:cNvPr id="5" name="Text 3" descr="" title=""/>
          <p:cNvSpPr/>
          <p:nvPr/>
        </p:nvSpPr>
        <p:spPr>
          <a:xfrm>
            <a:off x="819150" y="3363516"/>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6" name="Text 4" descr="" title=""/>
          <p:cNvSpPr/>
          <p:nvPr/>
        </p:nvSpPr>
        <p:spPr>
          <a:xfrm>
            <a:off x="1276350" y="3363516"/>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Anchor the ask to one named, credentialed person.</a:t>
            </a:r>
            <a:endParaRPr lang="en-US" sz="2475" dirty="0"/>
          </a:p>
        </p:txBody>
      </p:sp>
      <p:sp>
        <p:nvSpPr>
          <p:cNvPr id="7" name="Text 5" descr="" title=""/>
          <p:cNvSpPr/>
          <p:nvPr/>
        </p:nvSpPr>
        <p:spPr>
          <a:xfrm>
            <a:off x="819150" y="4066877"/>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8" name="Text 6" descr="" title=""/>
          <p:cNvSpPr/>
          <p:nvPr/>
        </p:nvSpPr>
        <p:spPr>
          <a:xfrm>
            <a:off x="1276350" y="4066877"/>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Lead with a fact about the prospect, not a fact about you.</a:t>
            </a:r>
            <a:endParaRPr lang="en-US" sz="2475" dirty="0"/>
          </a:p>
        </p:txBody>
      </p:sp>
      <p:sp>
        <p:nvSpPr>
          <p:cNvPr id="9" name="Text 7" descr="" title=""/>
          <p:cNvSpPr/>
          <p:nvPr/>
        </p:nvSpPr>
        <p:spPr>
          <a:xfrm>
            <a:off x="819150" y="4770239"/>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0" name="Text 8" descr="" title=""/>
          <p:cNvSpPr/>
          <p:nvPr/>
        </p:nvSpPr>
        <p:spPr>
          <a:xfrm>
            <a:off x="1276350" y="4770239"/>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Tie the ask to a coming event, not a standing need.</a:t>
            </a:r>
            <a:endParaRPr lang="en-US" sz="2475" dirty="0"/>
          </a:p>
        </p:txBody>
      </p:sp>
      <p:sp>
        <p:nvSpPr>
          <p:cNvPr id="11" name="Text 9" descr="" title=""/>
          <p:cNvSpPr/>
          <p:nvPr/>
        </p:nvSpPr>
        <p:spPr>
          <a:xfrm>
            <a:off x="819150" y="5473601"/>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2" name="Text 10" descr="" title=""/>
          <p:cNvSpPr/>
          <p:nvPr/>
        </p:nvSpPr>
        <p:spPr>
          <a:xfrm>
            <a:off x="1276350" y="5473601"/>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One ask per email, framed as a scheduling ask.</a:t>
            </a:r>
            <a:endParaRPr lang="en-US" sz="2475" dirty="0"/>
          </a:p>
        </p:txBody>
      </p:sp>
      <p:sp>
        <p:nvSpPr>
          <p:cNvPr id="13" name="Text 11" descr="" title=""/>
          <p:cNvSpPr/>
          <p:nvPr/>
        </p:nvSpPr>
        <p:spPr>
          <a:xfrm>
            <a:off x="819150" y="6176963"/>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4" name="Text 12" descr="" title=""/>
          <p:cNvSpPr/>
          <p:nvPr/>
        </p:nvSpPr>
        <p:spPr>
          <a:xfrm>
            <a:off x="1276350" y="6176963"/>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Offer two to four concrete time slots, never an open-ended "let me know when works."</a:t>
            </a:r>
            <a:endParaRPr lang="en-US" sz="2475" dirty="0"/>
          </a:p>
        </p:txBody>
      </p:sp>
      <p:sp>
        <p:nvSpPr>
          <p:cNvPr id="15" name="Text 13" descr="" title=""/>
          <p:cNvSpPr/>
          <p:nvPr/>
        </p:nvSpPr>
        <p:spPr>
          <a:xfrm>
            <a:off x="819150" y="6880324"/>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6" name="Text 14" descr="" title=""/>
          <p:cNvSpPr/>
          <p:nvPr/>
        </p:nvSpPr>
        <p:spPr>
          <a:xfrm>
            <a:off x="1276350" y="6880324"/>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Convert the closing question into a statement.</a:t>
            </a:r>
            <a:endParaRPr lang="en-US" sz="2475" dirty="0"/>
          </a:p>
        </p:txBody>
      </p:sp>
      <p:sp>
        <p:nvSpPr>
          <p:cNvPr id="17" name="Text 15" descr="" title=""/>
          <p:cNvSpPr/>
          <p:nvPr/>
        </p:nvSpPr>
        <p:spPr>
          <a:xfrm>
            <a:off x="819150" y="7583686"/>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8" name="Text 16" descr="" title=""/>
          <p:cNvSpPr/>
          <p:nvPr/>
        </p:nvSpPr>
        <p:spPr>
          <a:xfrm>
            <a:off x="1276350" y="7583686"/>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Never open a sentence with a subordinating conjunction ("With," "Given," "Since").</a:t>
            </a:r>
            <a:endParaRPr lang="en-US" sz="2475" dirty="0"/>
          </a:p>
        </p:txBody>
      </p:sp>
      <p:sp>
        <p:nvSpPr>
          <p:cNvPr id="19" name="Text 17" descr="" title=""/>
          <p:cNvSpPr/>
          <p:nvPr/>
        </p:nvSpPr>
        <p:spPr>
          <a:xfrm>
            <a:off x="819150" y="8287048"/>
            <a:ext cx="381000" cy="493812"/>
          </a:xfrm>
          <a:prstGeom prst="rect">
            <a:avLst/>
          </a:prstGeom>
          <a:noFill/>
          <a:ln/>
        </p:spPr>
        <p:txBody>
          <a:bodyPr wrap="square" lIns="25400" tIns="25400" rIns="25400" bIns="25400" rtlCol="0" anchor="t">
            <a:normAutofit/>
          </a:bodyPr>
          <a:lstStyle/>
          <a:p>
            <a:pPr marL="0" indent="0" algn="l">
              <a:lnSpc>
                <a:spcPct val="106333"/>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20" name="Text 18" descr="" title=""/>
          <p:cNvSpPr/>
          <p:nvPr/>
        </p:nvSpPr>
        <p:spPr>
          <a:xfrm>
            <a:off x="1276350" y="8287048"/>
            <a:ext cx="16668464" cy="493812"/>
          </a:xfrm>
          <a:prstGeom prst="rect">
            <a:avLst/>
          </a:prstGeom>
          <a:noFill/>
          <a:ln/>
        </p:spPr>
        <p:txBody>
          <a:bodyPr wrap="square" lIns="25400" tIns="25400" rIns="25400" bIns="25400" rtlCol="0" anchor="t">
            <a:normAutofit/>
          </a:bodyPr>
          <a:lstStyle/>
          <a:p>
            <a:pPr marL="0" indent="0" algn="l">
              <a:lnSpc>
                <a:spcPct val="105455"/>
              </a:lnSpc>
              <a:buNone/>
            </a:pPr>
            <a:r>
              <a:rPr lang="en-US" sz="2475" dirty="0">
                <a:solidFill>
                  <a:srgbClr val="0A0A0A"/>
                </a:solidFill>
                <a:latin typeface="Palatino Linotype" pitchFamily="34" charset="0"/>
                <a:ea typeface="Palatino Linotype" pitchFamily="34" charset="-122"/>
                <a:cs typeface="Palatino Linotype" pitchFamily="34" charset="-120"/>
              </a:rPr>
              <a:t>Two short paragraphs, no more.</a:t>
            </a:r>
            <a:endParaRPr lang="en-US" sz="2475" dirty="0"/>
          </a:p>
        </p:txBody>
      </p:sp>
      <p:sp>
        <p:nvSpPr>
          <p:cNvPr id="21" name="Text 1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2" name="Text 2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3" name="Text 2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14</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Art of Approach: A Spectrum</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Formal Invitation</a:t>
            </a:r>
            <a:endParaRPr lang="en-US" sz="2700" dirty="0"/>
          </a:p>
        </p:txBody>
      </p:sp>
      <p:sp>
        <p:nvSpPr>
          <p:cNvPr id="7" name="Text 5" descr="" title=""/>
          <p:cNvSpPr/>
          <p:nvPr/>
        </p:nvSpPr>
        <p:spPr>
          <a:xfrm>
            <a:off x="1162050" y="5367338"/>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5367338"/>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Clear, direct, specific about intent.</a:t>
            </a:r>
            <a:endParaRPr lang="en-US" sz="2550" dirty="0"/>
          </a:p>
        </p:txBody>
      </p:sp>
      <p:sp>
        <p:nvSpPr>
          <p:cNvPr id="9" name="Text 7" descr="" title=""/>
          <p:cNvSpPr/>
          <p:nvPr/>
        </p:nvSpPr>
        <p:spPr>
          <a:xfrm>
            <a:off x="1162050" y="6176963"/>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6176963"/>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Filters for highly qualified prospects.</a:t>
            </a:r>
            <a:endParaRPr lang="en-US" sz="2550" dirty="0"/>
          </a:p>
        </p:txBody>
      </p:sp>
      <p:sp>
        <p:nvSpPr>
          <p:cNvPr id="11" name="Text 9" descr="" title=""/>
          <p:cNvSpPr/>
          <p:nvPr/>
        </p:nvSpPr>
        <p:spPr>
          <a:xfrm>
            <a:off x="1162050" y="6986588"/>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2" name="Text 10" descr="" title=""/>
          <p:cNvSpPr/>
          <p:nvPr/>
        </p:nvSpPr>
        <p:spPr>
          <a:xfrm>
            <a:off x="1619250" y="6986588"/>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May narrow response rates.</a:t>
            </a:r>
            <a:endParaRPr lang="en-US" sz="2550" dirty="0"/>
          </a:p>
        </p:txBody>
      </p:sp>
      <p:sp>
        <p:nvSpPr>
          <p:cNvPr id="13" name="Shape 11" descr="" title=""/>
          <p:cNvSpPr/>
          <p:nvPr/>
        </p:nvSpPr>
        <p:spPr>
          <a:xfrm>
            <a:off x="9420225" y="2743200"/>
            <a:ext cx="8115300" cy="6791325"/>
          </a:xfrm>
          <a:prstGeom prst="roundRect">
            <a:avLst>
              <a:gd name="adj" fmla="val 2244"/>
            </a:avLst>
          </a:prstGeom>
          <a:solidFill>
            <a:srgbClr val="1B2A47"/>
          </a:solidFill>
          <a:ln/>
        </p:spPr>
      </p:sp>
      <p:sp>
        <p:nvSpPr>
          <p:cNvPr id="14" name="Text 12"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FFFFFF"/>
                </a:solidFill>
                <a:latin typeface="Palatino Linotype" pitchFamily="34" charset="0"/>
                <a:ea typeface="Palatino Linotype" pitchFamily="34" charset="-122"/>
                <a:cs typeface="Palatino Linotype" pitchFamily="34" charset="-120"/>
              </a:rPr>
              <a:t>Value-First Touch</a:t>
            </a:r>
            <a:endParaRPr lang="en-US" sz="2700" dirty="0"/>
          </a:p>
        </p:txBody>
      </p:sp>
      <p:sp>
        <p:nvSpPr>
          <p:cNvPr id="15" name="Text 13" descr="" title=""/>
          <p:cNvSpPr/>
          <p:nvPr/>
        </p:nvSpPr>
        <p:spPr>
          <a:xfrm>
            <a:off x="9829800" y="512445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6" name="Text 14" descr="" title=""/>
          <p:cNvSpPr/>
          <p:nvPr/>
        </p:nvSpPr>
        <p:spPr>
          <a:xfrm>
            <a:off x="10287000" y="512445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Shares an article, opportunity, or insight, with no explicit request attached.</a:t>
            </a:r>
            <a:endParaRPr lang="en-US" sz="2550" dirty="0"/>
          </a:p>
        </p:txBody>
      </p:sp>
      <p:sp>
        <p:nvSpPr>
          <p:cNvPr id="17" name="Text 15" descr="" title=""/>
          <p:cNvSpPr/>
          <p:nvPr/>
        </p:nvSpPr>
        <p:spPr>
          <a:xfrm>
            <a:off x="9829800" y="6419850"/>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8" name="Text 16" descr="" title=""/>
          <p:cNvSpPr/>
          <p:nvPr/>
        </p:nvSpPr>
        <p:spPr>
          <a:xfrm>
            <a:off x="10287000" y="6419850"/>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Often elicits warmer responses.</a:t>
            </a:r>
            <a:endParaRPr lang="en-US" sz="2550" dirty="0"/>
          </a:p>
        </p:txBody>
      </p:sp>
      <p:sp>
        <p:nvSpPr>
          <p:cNvPr id="19" name="Text 17" descr="" title=""/>
          <p:cNvSpPr/>
          <p:nvPr/>
        </p:nvSpPr>
        <p:spPr>
          <a:xfrm>
            <a:off x="9829800" y="7229475"/>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20" name="Text 18" descr="" title=""/>
          <p:cNvSpPr/>
          <p:nvPr/>
        </p:nvSpPr>
        <p:spPr>
          <a:xfrm>
            <a:off x="10287000" y="7229475"/>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Can lead naturally into a qualified meeting.</a:t>
            </a:r>
            <a:endParaRPr lang="en-US" sz="2550" dirty="0"/>
          </a:p>
        </p:txBody>
      </p:sp>
      <p:sp>
        <p:nvSpPr>
          <p:cNvPr id="21" name="Text 1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2" name="Text 2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3" name="Text 2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15</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D9C79E"/>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Shape 2" descr="" title=""/>
          <p:cNvSpPr/>
          <p:nvPr/>
        </p:nvSpPr>
        <p:spPr>
          <a:xfrm>
            <a:off x="68580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5" name="Shape 3" descr="" title=""/>
          <p:cNvSpPr/>
          <p:nvPr/>
        </p:nvSpPr>
        <p:spPr>
          <a:xfrm>
            <a:off x="123825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6" name="Text 4" descr="" title=""/>
          <p:cNvSpPr/>
          <p:nvPr/>
        </p:nvSpPr>
        <p:spPr>
          <a:xfrm>
            <a:off x="1238250" y="2166491"/>
            <a:ext cx="2626906" cy="371475"/>
          </a:xfrm>
          <a:prstGeom prst="rect">
            <a:avLst/>
          </a:prstGeom>
          <a:noFill/>
          <a:ln/>
        </p:spPr>
        <p:txBody>
          <a:bodyPr wrap="square" lIns="25400" tIns="25400" rIns="25400" bIns="25400" rtlCol="0" anchor="t">
            <a:normAutofit/>
          </a:bodyPr>
          <a:lstStyle/>
          <a:p>
            <a:pPr marL="0" indent="0" algn="l">
              <a:lnSpc>
                <a:spcPct val="100286"/>
              </a:lnSpc>
              <a:buNone/>
            </a:pPr>
            <a:r>
              <a:rPr lang="en-US" sz="1950" b="1" kern="0" spc="300" dirty="0">
                <a:solidFill>
                  <a:srgbClr val="D9C79E"/>
                </a:solidFill>
                <a:latin typeface="Palatino Linotype" pitchFamily="34" charset="0"/>
                <a:ea typeface="Palatino Linotype" pitchFamily="34" charset="-122"/>
                <a:cs typeface="Palatino Linotype" pitchFamily="34" charset="-120"/>
              </a:rPr>
              <a:t>ILLUSTRATION</a:t>
            </a:r>
            <a:endParaRPr lang="en-US" sz="1950" dirty="0"/>
          </a:p>
        </p:txBody>
      </p:sp>
      <p:sp>
        <p:nvSpPr>
          <p:cNvPr id="7" name="Text 5" descr="" title=""/>
          <p:cNvSpPr/>
          <p:nvPr/>
        </p:nvSpPr>
        <p:spPr>
          <a:xfrm>
            <a:off x="1238250" y="2743200"/>
            <a:ext cx="16109252" cy="2120950"/>
          </a:xfrm>
          <a:prstGeom prst="rect">
            <a:avLst/>
          </a:prstGeom>
          <a:noFill/>
          <a:ln/>
        </p:spPr>
        <p:txBody>
          <a:bodyPr wrap="square" lIns="25400" tIns="25400" rIns="25400" bIns="25400" rtlCol="0" anchor="t">
            <a:normAutofit/>
          </a:bodyPr>
          <a:lstStyle/>
          <a:p>
            <a:pPr marL="0" indent="0" algn="l">
              <a:lnSpc>
                <a:spcPct val="98182"/>
              </a:lnSpc>
              <a:buNone/>
            </a:pPr>
            <a:r>
              <a:rPr lang="en-US" sz="4050" b="1" i="1" dirty="0">
                <a:solidFill>
                  <a:srgbClr val="FFFFFF"/>
                </a:solidFill>
                <a:latin typeface="Palatino Linotype" pitchFamily="34" charset="0"/>
                <a:ea typeface="Palatino Linotype" pitchFamily="34" charset="-122"/>
                <a:cs typeface="Palatino Linotype" pitchFamily="34" charset="-120"/>
              </a:rPr>
              <a:t>A cold email offering a relevant deal opportunity, not a pitch, was politely declined. A simple follow-up offering to connect led the recipient to reply immediately with a meeting time.</a:t>
            </a:r>
            <a:endParaRPr lang="en-US" sz="4050" dirty="0"/>
          </a:p>
        </p:txBody>
      </p:sp>
      <p:sp>
        <p:nvSpPr>
          <p:cNvPr id="8" name="Text 6" descr="" title=""/>
          <p:cNvSpPr/>
          <p:nvPr/>
        </p:nvSpPr>
        <p:spPr>
          <a:xfrm>
            <a:off x="1238250" y="6045994"/>
            <a:ext cx="15540228" cy="423863"/>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A9814B"/>
                </a:solidFill>
                <a:latin typeface="Palatino Linotype" pitchFamily="34" charset="0"/>
                <a:ea typeface="Palatino Linotype" pitchFamily="34" charset="-122"/>
                <a:cs typeface="Palatino Linotype" pitchFamily="34" charset="-120"/>
              </a:rPr>
              <a:t>The Power of the Second Touch</a:t>
            </a:r>
            <a:endParaRPr lang="en-US" sz="2250" dirty="0"/>
          </a:p>
        </p:txBody>
      </p:sp>
      <p:sp>
        <p:nvSpPr>
          <p:cNvPr id="9" name="Shape 7" descr="" title=""/>
          <p:cNvSpPr/>
          <p:nvPr/>
        </p:nvSpPr>
        <p:spPr>
          <a:xfrm>
            <a:off x="1238250" y="6724650"/>
            <a:ext cx="15773400" cy="2400300"/>
          </a:xfrm>
          <a:prstGeom prst="roundRect">
            <a:avLst>
              <a:gd name="adj" fmla="val 6349"/>
            </a:avLst>
          </a:prstGeom>
          <a:solidFill>
            <a:srgbClr val="111C30"/>
          </a:solidFill>
          <a:ln/>
        </p:spPr>
      </p:sp>
      <p:sp>
        <p:nvSpPr>
          <p:cNvPr id="10" name="Text 8" descr="" title=""/>
          <p:cNvSpPr/>
          <p:nvPr/>
        </p:nvSpPr>
        <p:spPr>
          <a:xfrm>
            <a:off x="1581150" y="6924675"/>
            <a:ext cx="15540228" cy="1079302"/>
          </a:xfrm>
          <a:prstGeom prst="rect">
            <a:avLst/>
          </a:prstGeom>
          <a:noFill/>
          <a:ln/>
        </p:spPr>
        <p:txBody>
          <a:bodyPr wrap="square" lIns="25400" tIns="25400" rIns="25400" bIns="25400" rtlCol="0" anchor="t">
            <a:normAutofit/>
          </a:bodyPr>
          <a:lstStyle/>
          <a:p>
            <a:pPr marL="0" indent="0" algn="l">
              <a:lnSpc>
                <a:spcPct val="98182"/>
              </a:lnSpc>
              <a:buNone/>
            </a:pPr>
            <a:r>
              <a:rPr lang="en-US" sz="2025" dirty="0">
                <a:solidFill>
                  <a:srgbClr val="F5F5F4"/>
                </a:solidFill>
                <a:latin typeface="Palatino Linotype" pitchFamily="34" charset="0"/>
                <a:ea typeface="Palatino Linotype" pitchFamily="34" charset="-122"/>
                <a:cs typeface="Palatino Linotype" pitchFamily="34" charset="-120"/>
              </a:rPr>
              <a:t>One seller from a law firm reached out to a managing partner at a private-equity firm, leading with value rather than a pitch. The exchange produced a high-quality pitch meeting with a major prospective client, demonstrating prospecting through value-first framing and confident, artful persistence.</a:t>
            </a:r>
            <a:endParaRPr lang="en-US" sz="202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16</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96868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3 · PROSPECTING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Common Violation: Seeking Permission</a:t>
            </a:r>
            <a:endParaRPr lang="en-US" sz="4500" dirty="0"/>
          </a:p>
        </p:txBody>
      </p:sp>
      <p:sp>
        <p:nvSpPr>
          <p:cNvPr id="5" name="Shape 3" descr="" title=""/>
          <p:cNvSpPr/>
          <p:nvPr/>
        </p:nvSpPr>
        <p:spPr>
          <a:xfrm>
            <a:off x="752475" y="2743200"/>
            <a:ext cx="8115300" cy="5419725"/>
          </a:xfrm>
          <a:prstGeom prst="roundRect">
            <a:avLst>
              <a:gd name="adj" fmla="val 2812"/>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8C2F2F"/>
                </a:solidFill>
                <a:latin typeface="Palatino Linotype" pitchFamily="34" charset="0"/>
                <a:ea typeface="Palatino Linotype" pitchFamily="34" charset="-122"/>
                <a:cs typeface="Palatino Linotype" pitchFamily="34" charset="-120"/>
              </a:rPr>
              <a:t>✕ Weak (Permission-Seeking)</a:t>
            </a:r>
            <a:endParaRPr lang="en-US" sz="2700" dirty="0"/>
          </a:p>
        </p:txBody>
      </p:sp>
      <p:sp>
        <p:nvSpPr>
          <p:cNvPr id="7" name="Text 5" descr="" title=""/>
          <p:cNvSpPr/>
          <p:nvPr/>
        </p:nvSpPr>
        <p:spPr>
          <a:xfrm>
            <a:off x="1162050" y="4495800"/>
            <a:ext cx="381000" cy="981075"/>
          </a:xfrm>
          <a:prstGeom prst="rect">
            <a:avLst/>
          </a:prstGeom>
          <a:noFill/>
          <a:ln/>
        </p:spPr>
        <p:txBody>
          <a:bodyPr wrap="square" lIns="25400" tIns="25400" rIns="25400" bIns="25400" rtlCol="0" anchor="t">
            <a:normAutofit/>
          </a:bodyPr>
          <a:lstStyle/>
          <a:p>
            <a:pPr marL="0" indent="0" algn="l">
              <a:lnSpc>
                <a:spcPct val="110000"/>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8" name="Text 6" descr="" title=""/>
          <p:cNvSpPr/>
          <p:nvPr/>
        </p:nvSpPr>
        <p:spPr>
          <a:xfrm>
            <a:off x="1619250" y="4495800"/>
            <a:ext cx="7034308" cy="981075"/>
          </a:xfrm>
          <a:prstGeom prst="rect">
            <a:avLst/>
          </a:prstGeom>
          <a:noFill/>
          <a:ln/>
        </p:spPr>
        <p:txBody>
          <a:bodyPr wrap="square" lIns="25400" tIns="25400" rIns="25400" bIns="25400" rtlCol="0" anchor="t">
            <a:normAutofit/>
          </a:bodyPr>
          <a:lstStyle/>
          <a:p>
            <a:pPr marL="0" indent="0" algn="l">
              <a:lnSpc>
                <a:spcPct val="109091"/>
              </a:lnSpc>
              <a:buNone/>
            </a:pPr>
            <a:r>
              <a:rPr lang="en-US" sz="2475" dirty="0">
                <a:solidFill>
                  <a:srgbClr val="0A0A0A"/>
                </a:solidFill>
                <a:latin typeface="Palatino Linotype" pitchFamily="34" charset="0"/>
                <a:ea typeface="Palatino Linotype" pitchFamily="34" charset="-122"/>
                <a:cs typeface="Palatino Linotype" pitchFamily="34" charset="-120"/>
              </a:rPr>
              <a:t>"Would you like me to send you some information?"</a:t>
            </a:r>
            <a:endParaRPr lang="en-US" sz="2475" dirty="0"/>
          </a:p>
        </p:txBody>
      </p:sp>
      <p:sp>
        <p:nvSpPr>
          <p:cNvPr id="9" name="Text 7" descr="" title=""/>
          <p:cNvSpPr/>
          <p:nvPr/>
        </p:nvSpPr>
        <p:spPr>
          <a:xfrm>
            <a:off x="1162050" y="5743575"/>
            <a:ext cx="381000" cy="509587"/>
          </a:xfrm>
          <a:prstGeom prst="rect">
            <a:avLst/>
          </a:prstGeom>
          <a:noFill/>
          <a:ln/>
        </p:spPr>
        <p:txBody>
          <a:bodyPr wrap="square" lIns="25400" tIns="25400" rIns="25400" bIns="25400" rtlCol="0" anchor="t">
            <a:normAutofit/>
          </a:bodyPr>
          <a:lstStyle/>
          <a:p>
            <a:pPr marL="0" indent="0" algn="l">
              <a:lnSpc>
                <a:spcPct val="110000"/>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0" name="Text 8" descr="" title=""/>
          <p:cNvSpPr/>
          <p:nvPr/>
        </p:nvSpPr>
        <p:spPr>
          <a:xfrm>
            <a:off x="1619250" y="5743575"/>
            <a:ext cx="7034308" cy="509587"/>
          </a:xfrm>
          <a:prstGeom prst="rect">
            <a:avLst/>
          </a:prstGeom>
          <a:noFill/>
          <a:ln/>
        </p:spPr>
        <p:txBody>
          <a:bodyPr wrap="square" lIns="25400" tIns="25400" rIns="25400" bIns="25400" rtlCol="0" anchor="t">
            <a:normAutofit/>
          </a:bodyPr>
          <a:lstStyle/>
          <a:p>
            <a:pPr marL="0" indent="0" algn="l">
              <a:lnSpc>
                <a:spcPct val="109091"/>
              </a:lnSpc>
              <a:buNone/>
            </a:pPr>
            <a:r>
              <a:rPr lang="en-US" sz="2475" dirty="0">
                <a:solidFill>
                  <a:srgbClr val="0A0A0A"/>
                </a:solidFill>
                <a:latin typeface="Palatino Linotype" pitchFamily="34" charset="0"/>
                <a:ea typeface="Palatino Linotype" pitchFamily="34" charset="-122"/>
                <a:cs typeface="Palatino Linotype" pitchFamily="34" charset="-120"/>
              </a:rPr>
              <a:t>"Is now a good time to meet?"</a:t>
            </a:r>
            <a:endParaRPr lang="en-US" sz="2475" dirty="0"/>
          </a:p>
        </p:txBody>
      </p:sp>
      <p:sp>
        <p:nvSpPr>
          <p:cNvPr id="11" name="Text 9" descr="" title=""/>
          <p:cNvSpPr/>
          <p:nvPr/>
        </p:nvSpPr>
        <p:spPr>
          <a:xfrm>
            <a:off x="1162050" y="6519863"/>
            <a:ext cx="381000" cy="509587"/>
          </a:xfrm>
          <a:prstGeom prst="rect">
            <a:avLst/>
          </a:prstGeom>
          <a:noFill/>
          <a:ln/>
        </p:spPr>
        <p:txBody>
          <a:bodyPr wrap="square" lIns="25400" tIns="25400" rIns="25400" bIns="25400" rtlCol="0" anchor="t">
            <a:normAutofit/>
          </a:bodyPr>
          <a:lstStyle/>
          <a:p>
            <a:pPr marL="0" indent="0" algn="l">
              <a:lnSpc>
                <a:spcPct val="110000"/>
              </a:lnSpc>
              <a:buNone/>
            </a:pPr>
            <a:r>
              <a:rPr lang="en-US" sz="2475" dirty="0">
                <a:solidFill>
                  <a:srgbClr val="0A0A0A"/>
                </a:solidFill>
                <a:latin typeface="Palatino Linotype" pitchFamily="34" charset="0"/>
                <a:ea typeface="Palatino Linotype" pitchFamily="34" charset="-122"/>
                <a:cs typeface="Palatino Linotype" pitchFamily="34" charset="-120"/>
              </a:rPr>
              <a:t>•</a:t>
            </a:r>
            <a:endParaRPr lang="en-US" sz="2475" dirty="0"/>
          </a:p>
        </p:txBody>
      </p:sp>
      <p:sp>
        <p:nvSpPr>
          <p:cNvPr id="12" name="Text 10" descr="" title=""/>
          <p:cNvSpPr/>
          <p:nvPr/>
        </p:nvSpPr>
        <p:spPr>
          <a:xfrm>
            <a:off x="1619250" y="6519863"/>
            <a:ext cx="7034308" cy="509587"/>
          </a:xfrm>
          <a:prstGeom prst="rect">
            <a:avLst/>
          </a:prstGeom>
          <a:noFill/>
          <a:ln/>
        </p:spPr>
        <p:txBody>
          <a:bodyPr wrap="square" lIns="25400" tIns="25400" rIns="25400" bIns="25400" rtlCol="0" anchor="t">
            <a:normAutofit/>
          </a:bodyPr>
          <a:lstStyle/>
          <a:p>
            <a:pPr marL="0" indent="0" algn="l">
              <a:lnSpc>
                <a:spcPct val="109091"/>
              </a:lnSpc>
              <a:buNone/>
            </a:pPr>
            <a:r>
              <a:rPr lang="en-US" sz="2475" dirty="0">
                <a:solidFill>
                  <a:srgbClr val="0A0A0A"/>
                </a:solidFill>
                <a:latin typeface="Palatino Linotype" pitchFamily="34" charset="0"/>
                <a:ea typeface="Palatino Linotype" pitchFamily="34" charset="-122"/>
                <a:cs typeface="Palatino Linotype" pitchFamily="34" charset="-120"/>
              </a:rPr>
              <a:t>"Would you be open to a quick call?"</a:t>
            </a:r>
            <a:endParaRPr lang="en-US" sz="2475" dirty="0"/>
          </a:p>
        </p:txBody>
      </p:sp>
      <p:sp>
        <p:nvSpPr>
          <p:cNvPr id="13" name="Shape 11" descr="" title=""/>
          <p:cNvSpPr/>
          <p:nvPr/>
        </p:nvSpPr>
        <p:spPr>
          <a:xfrm>
            <a:off x="9420225" y="2743200"/>
            <a:ext cx="8115300" cy="5419725"/>
          </a:xfrm>
          <a:prstGeom prst="roundRect">
            <a:avLst>
              <a:gd name="adj" fmla="val 2812"/>
            </a:avLst>
          </a:prstGeom>
          <a:solidFill>
            <a:srgbClr val="1B2A47"/>
          </a:solidFill>
          <a:ln/>
        </p:spPr>
      </p:sp>
      <p:sp>
        <p:nvSpPr>
          <p:cNvPr id="14" name="Text 12"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D9C79E"/>
                </a:solidFill>
                <a:latin typeface="Palatino Linotype" pitchFamily="34" charset="0"/>
                <a:ea typeface="Palatino Linotype" pitchFamily="34" charset="-122"/>
                <a:cs typeface="Palatino Linotype" pitchFamily="34" charset="-120"/>
              </a:rPr>
              <a:t>✓ Corrected (Confident Statement)</a:t>
            </a:r>
            <a:endParaRPr lang="en-US" sz="2700" dirty="0"/>
          </a:p>
        </p:txBody>
      </p:sp>
      <p:sp>
        <p:nvSpPr>
          <p:cNvPr id="15" name="Text 13" descr="" title=""/>
          <p:cNvSpPr/>
          <p:nvPr/>
        </p:nvSpPr>
        <p:spPr>
          <a:xfrm>
            <a:off x="9829800" y="4412456"/>
            <a:ext cx="381000" cy="1452563"/>
          </a:xfrm>
          <a:prstGeom prst="rect">
            <a:avLst/>
          </a:prstGeom>
          <a:noFill/>
          <a:ln/>
        </p:spPr>
        <p:txBody>
          <a:bodyPr wrap="square" lIns="25400" tIns="25400" rIns="25400" bIns="25400" rtlCol="0" anchor="t">
            <a:normAutofit/>
          </a:bodyPr>
          <a:lstStyle/>
          <a:p>
            <a:pPr marL="0" indent="0" algn="l">
              <a:lnSpc>
                <a:spcPct val="110000"/>
              </a:lnSpc>
              <a:buNone/>
            </a:pPr>
            <a:r>
              <a:rPr lang="en-US" sz="2475" dirty="0">
                <a:solidFill>
                  <a:srgbClr val="FFFFFF"/>
                </a:solidFill>
                <a:latin typeface="Palatino Linotype" pitchFamily="34" charset="0"/>
                <a:ea typeface="Palatino Linotype" pitchFamily="34" charset="-122"/>
                <a:cs typeface="Palatino Linotype" pitchFamily="34" charset="-120"/>
              </a:rPr>
              <a:t>•</a:t>
            </a:r>
            <a:endParaRPr lang="en-US" sz="2475" dirty="0"/>
          </a:p>
        </p:txBody>
      </p:sp>
      <p:sp>
        <p:nvSpPr>
          <p:cNvPr id="16" name="Text 14" descr="" title=""/>
          <p:cNvSpPr/>
          <p:nvPr/>
        </p:nvSpPr>
        <p:spPr>
          <a:xfrm>
            <a:off x="10287000" y="4412456"/>
            <a:ext cx="7034308" cy="1452563"/>
          </a:xfrm>
          <a:prstGeom prst="rect">
            <a:avLst/>
          </a:prstGeom>
          <a:noFill/>
          <a:ln/>
        </p:spPr>
        <p:txBody>
          <a:bodyPr wrap="square" lIns="25400" tIns="25400" rIns="25400" bIns="25400" rtlCol="0" anchor="t">
            <a:normAutofit/>
          </a:bodyPr>
          <a:lstStyle/>
          <a:p>
            <a:pPr marL="0" indent="0" algn="l">
              <a:lnSpc>
                <a:spcPct val="109091"/>
              </a:lnSpc>
              <a:buNone/>
            </a:pPr>
            <a:r>
              <a:rPr lang="en-US" sz="2475" dirty="0">
                <a:solidFill>
                  <a:srgbClr val="FFFFFF"/>
                </a:solidFill>
                <a:latin typeface="Palatino Linotype" pitchFamily="34" charset="0"/>
                <a:ea typeface="Palatino Linotype" pitchFamily="34" charset="-122"/>
                <a:cs typeface="Palatino Linotype" pitchFamily="34" charset="-120"/>
              </a:rPr>
              <a:t>"I'll send over a brief summary of how we helped [similar client] — you'll find it directly relevant."</a:t>
            </a:r>
            <a:endParaRPr lang="en-US" sz="2475" dirty="0"/>
          </a:p>
        </p:txBody>
      </p:sp>
      <p:sp>
        <p:nvSpPr>
          <p:cNvPr id="17" name="Text 15" descr="" title=""/>
          <p:cNvSpPr/>
          <p:nvPr/>
        </p:nvSpPr>
        <p:spPr>
          <a:xfrm>
            <a:off x="9829800" y="6131719"/>
            <a:ext cx="381000" cy="981075"/>
          </a:xfrm>
          <a:prstGeom prst="rect">
            <a:avLst/>
          </a:prstGeom>
          <a:noFill/>
          <a:ln/>
        </p:spPr>
        <p:txBody>
          <a:bodyPr wrap="square" lIns="25400" tIns="25400" rIns="25400" bIns="25400" rtlCol="0" anchor="t">
            <a:normAutofit/>
          </a:bodyPr>
          <a:lstStyle/>
          <a:p>
            <a:pPr marL="0" indent="0" algn="l">
              <a:lnSpc>
                <a:spcPct val="110000"/>
              </a:lnSpc>
              <a:buNone/>
            </a:pPr>
            <a:r>
              <a:rPr lang="en-US" sz="2475" dirty="0">
                <a:solidFill>
                  <a:srgbClr val="FFFFFF"/>
                </a:solidFill>
                <a:latin typeface="Palatino Linotype" pitchFamily="34" charset="0"/>
                <a:ea typeface="Palatino Linotype" pitchFamily="34" charset="-122"/>
                <a:cs typeface="Palatino Linotype" pitchFamily="34" charset="-120"/>
              </a:rPr>
              <a:t>•</a:t>
            </a:r>
            <a:endParaRPr lang="en-US" sz="2475" dirty="0"/>
          </a:p>
        </p:txBody>
      </p:sp>
      <p:sp>
        <p:nvSpPr>
          <p:cNvPr id="18" name="Text 16" descr="" title=""/>
          <p:cNvSpPr/>
          <p:nvPr/>
        </p:nvSpPr>
        <p:spPr>
          <a:xfrm>
            <a:off x="10287000" y="6131719"/>
            <a:ext cx="7034308" cy="981075"/>
          </a:xfrm>
          <a:prstGeom prst="rect">
            <a:avLst/>
          </a:prstGeom>
          <a:noFill/>
          <a:ln/>
        </p:spPr>
        <p:txBody>
          <a:bodyPr wrap="square" lIns="25400" tIns="25400" rIns="25400" bIns="25400" rtlCol="0" anchor="t">
            <a:normAutofit/>
          </a:bodyPr>
          <a:lstStyle/>
          <a:p>
            <a:pPr marL="0" indent="0" algn="l">
              <a:lnSpc>
                <a:spcPct val="109091"/>
              </a:lnSpc>
              <a:buNone/>
            </a:pPr>
            <a:r>
              <a:rPr lang="en-US" sz="2475" dirty="0">
                <a:solidFill>
                  <a:srgbClr val="FFFFFF"/>
                </a:solidFill>
                <a:latin typeface="Palatino Linotype" pitchFamily="34" charset="0"/>
                <a:ea typeface="Palatino Linotype" pitchFamily="34" charset="-122"/>
                <a:cs typeface="Palatino Linotype" pitchFamily="34" charset="-120"/>
              </a:rPr>
              <a:t>"I'll reach out to coordinate time to discuss how this could apply to your business."</a:t>
            </a:r>
            <a:endParaRPr lang="en-US" sz="2475" dirty="0"/>
          </a:p>
        </p:txBody>
      </p:sp>
      <p:sp>
        <p:nvSpPr>
          <p:cNvPr id="19" name="Shape 17" descr="" title=""/>
          <p:cNvSpPr/>
          <p:nvPr/>
        </p:nvSpPr>
        <p:spPr>
          <a:xfrm>
            <a:off x="752475" y="8362950"/>
            <a:ext cx="16773525" cy="1095375"/>
          </a:xfrm>
          <a:prstGeom prst="roundRect">
            <a:avLst>
              <a:gd name="adj" fmla="val 13913"/>
            </a:avLst>
          </a:prstGeom>
          <a:solidFill>
            <a:srgbClr val="F5F5F4"/>
          </a:solidFill>
          <a:ln/>
        </p:spPr>
      </p:sp>
      <p:sp>
        <p:nvSpPr>
          <p:cNvPr id="20" name="Text 18" descr="" title=""/>
          <p:cNvSpPr/>
          <p:nvPr/>
        </p:nvSpPr>
        <p:spPr>
          <a:xfrm>
            <a:off x="1162050" y="8563570"/>
            <a:ext cx="16433006" cy="732234"/>
          </a:xfrm>
          <a:prstGeom prst="rect">
            <a:avLst/>
          </a:prstGeom>
          <a:noFill/>
          <a:ln/>
        </p:spPr>
        <p:txBody>
          <a:bodyPr wrap="square" lIns="25400" tIns="25400" rIns="25400" bIns="25400" rtlCol="0" anchor="t">
            <a:normAutofit/>
          </a:bodyPr>
          <a:lstStyle/>
          <a:p>
            <a:pPr marL="0" indent="0" algn="l">
              <a:lnSpc>
                <a:spcPct val="98182"/>
              </a:lnSpc>
              <a:buNone/>
            </a:pPr>
            <a:r>
              <a:rPr lang="en-US" sz="2025" b="1" i="1" dirty="0">
                <a:solidFill>
                  <a:srgbClr val="1B2A47"/>
                </a:solidFill>
                <a:latin typeface="Palatino Linotype" pitchFamily="34" charset="0"/>
                <a:ea typeface="Palatino Linotype" pitchFamily="34" charset="-122"/>
                <a:cs typeface="Palatino Linotype" pitchFamily="34" charset="-120"/>
              </a:rPr>
              <a:t>AI diagnostic rule: Flag any outbound sentence ending in a question mark unless it requests factual clarification (e.g., "What is your preferred email?").</a:t>
            </a:r>
            <a:endParaRPr lang="en-US" sz="2025" dirty="0"/>
          </a:p>
        </p:txBody>
      </p:sp>
      <p:sp>
        <p:nvSpPr>
          <p:cNvPr id="21" name="Text 1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2" name="Text 2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3" name="Text 2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17</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3</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3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Correct this outreach line: "Could we possibly grab 15 minutes sometime next week if you're free?"</a:t>
            </a:r>
            <a:endParaRPr lang="en-US" sz="2850" dirty="0"/>
          </a:p>
        </p:txBody>
      </p:sp>
      <p:sp>
        <p:nvSpPr>
          <p:cNvPr id="6" name="Shape 4" descr="" title=""/>
          <p:cNvSpPr/>
          <p:nvPr/>
        </p:nvSpPr>
        <p:spPr>
          <a:xfrm>
            <a:off x="752475" y="3810000"/>
            <a:ext cx="16773525" cy="1428750"/>
          </a:xfrm>
          <a:prstGeom prst="roundRect">
            <a:avLst>
              <a:gd name="adj" fmla="val 10667"/>
            </a:avLst>
          </a:prstGeom>
          <a:solidFill>
            <a:srgbClr val="FFFFFF"/>
          </a:solidFill>
          <a:ln/>
        </p:spPr>
      </p:sp>
      <p:sp>
        <p:nvSpPr>
          <p:cNvPr id="7" name="Text 5" descr="" title=""/>
          <p:cNvSpPr/>
          <p:nvPr/>
        </p:nvSpPr>
        <p:spPr>
          <a:xfrm>
            <a:off x="1143000" y="4317653"/>
            <a:ext cx="16501682" cy="451396"/>
          </a:xfrm>
          <a:prstGeom prst="rect">
            <a:avLst/>
          </a:prstGeom>
          <a:noFill/>
          <a:ln/>
        </p:spPr>
        <p:txBody>
          <a:bodyPr wrap="square" lIns="25400" tIns="25400" rIns="25400" bIns="25400" rtlCol="0" anchor="t">
            <a:normAutofit/>
          </a:bodyPr>
          <a:lstStyle/>
          <a:p>
            <a:pPr marL="0" indent="0" algn="l">
              <a:lnSpc>
                <a:spcPct val="101818"/>
              </a:lnSpc>
              <a:buNone/>
            </a:pPr>
            <a:r>
              <a:rPr lang="en-US" sz="2325" b="1" dirty="0">
                <a:solidFill>
                  <a:srgbClr val="0A0A0A"/>
                </a:solidFill>
                <a:latin typeface="Palatino Linotype" pitchFamily="34" charset="0"/>
                <a:ea typeface="Palatino Linotype" pitchFamily="34" charset="-122"/>
                <a:cs typeface="Palatino Linotype" pitchFamily="34" charset="-120"/>
              </a:rPr>
              <a:t>What is wrong with it, and how would you rewrite it using the Five-Sentence Script principles?</a:t>
            </a:r>
            <a:endParaRPr lang="en-US" sz="2325" dirty="0"/>
          </a:p>
        </p:txBody>
      </p:sp>
      <p:sp>
        <p:nvSpPr>
          <p:cNvPr id="8" name="Shape 6" descr="" title=""/>
          <p:cNvSpPr/>
          <p:nvPr/>
        </p:nvSpPr>
        <p:spPr>
          <a:xfrm>
            <a:off x="752475" y="5810250"/>
            <a:ext cx="16773525" cy="2667000"/>
          </a:xfrm>
          <a:prstGeom prst="roundRect">
            <a:avLst>
              <a:gd name="adj" fmla="val 5714"/>
            </a:avLst>
          </a:prstGeom>
          <a:solidFill>
            <a:srgbClr val="1B2A47"/>
          </a:solidFill>
          <a:ln/>
        </p:spPr>
      </p:sp>
      <p:sp>
        <p:nvSpPr>
          <p:cNvPr id="9" name="Text 7" descr="" title=""/>
          <p:cNvSpPr/>
          <p:nvPr/>
        </p:nvSpPr>
        <p:spPr>
          <a:xfrm>
            <a:off x="1162050" y="6132016"/>
            <a:ext cx="8656707" cy="381000"/>
          </a:xfrm>
          <a:prstGeom prst="rect">
            <a:avLst/>
          </a:prstGeom>
          <a:noFill/>
          <a:ln/>
        </p:spPr>
        <p:txBody>
          <a:bodyPr wrap="square" lIns="25400" tIns="25400" rIns="25400" bIns="25400" rtlCol="0" anchor="t">
            <a:normAutofit/>
          </a:bodyPr>
          <a:lstStyle/>
          <a:p>
            <a:pPr marL="0" indent="0" algn="l">
              <a:lnSpc>
                <a:spcPct val="101250"/>
              </a:lnSpc>
              <a:buNone/>
            </a:pPr>
            <a:r>
              <a:rPr lang="en-US" sz="2025" b="1" kern="0" spc="150" dirty="0">
                <a:solidFill>
                  <a:srgbClr val="A9814B"/>
                </a:solidFill>
                <a:latin typeface="Palatino Linotype" pitchFamily="34" charset="0"/>
                <a:ea typeface="Palatino Linotype" pitchFamily="34" charset="-122"/>
                <a:cs typeface="Palatino Linotype" pitchFamily="34" charset="-120"/>
              </a:rPr>
              <a:t>ANSWER · The question mark signals permission-seeking</a:t>
            </a:r>
            <a:endParaRPr lang="en-US" sz="2025" dirty="0"/>
          </a:p>
        </p:txBody>
      </p:sp>
      <p:sp>
        <p:nvSpPr>
          <p:cNvPr id="10" name="Text 8" descr="" title=""/>
          <p:cNvSpPr/>
          <p:nvPr/>
        </p:nvSpPr>
        <p:spPr>
          <a:xfrm>
            <a:off x="1162050" y="6667500"/>
            <a:ext cx="16433006" cy="864691"/>
          </a:xfrm>
          <a:prstGeom prst="rect">
            <a:avLst/>
          </a:prstGeom>
          <a:noFill/>
          <a:ln/>
        </p:spPr>
        <p:txBody>
          <a:bodyPr wrap="square" lIns="25400" tIns="25400" rIns="25400" bIns="25400" rtlCol="0" anchor="t">
            <a:normAutofit/>
          </a:bodyPr>
          <a:lstStyle/>
          <a:p>
            <a:pPr marL="0" indent="0" algn="l">
              <a:lnSpc>
                <a:spcPct val="101818"/>
              </a:lnSpc>
              <a:buNone/>
            </a:pPr>
            <a:r>
              <a:rPr lang="en-US" sz="2325" b="1" dirty="0">
                <a:solidFill>
                  <a:srgbClr val="FFFFFF"/>
                </a:solidFill>
                <a:latin typeface="Palatino Linotype" pitchFamily="34" charset="0"/>
                <a:ea typeface="Palatino Linotype" pitchFamily="34" charset="-122"/>
                <a:cs typeface="Palatino Linotype" pitchFamily="34" charset="-120"/>
              </a:rPr>
              <a:t>It casts the seller as an applicant asking approval, not a peer offering value. Corrected: "I'm confident this is worth 15 minutes of your time. Let me know if Tuesday at 9am or Wednesday at 2pm works."</a:t>
            </a:r>
            <a:endParaRPr lang="en-US" sz="232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18</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732383"/>
          </a:xfrm>
          <a:prstGeom prst="rect">
            <a:avLst/>
          </a:prstGeom>
          <a:noFill/>
          <a:ln/>
        </p:spPr>
        <p:txBody>
          <a:bodyPr wrap="square" lIns="25400" tIns="25400" rIns="25400" bIns="25400" rtlCol="0" anchor="t">
            <a:normAutofit/>
          </a:bodyPr>
          <a:lstStyle/>
          <a:p>
            <a:pPr marL="0" indent="0" algn="l">
              <a:lnSpc>
                <a:spcPct val="98182"/>
              </a:lnSpc>
              <a:buNone/>
            </a:pPr>
            <a:r>
              <a:rPr lang="en-US" sz="4050" b="1" dirty="0">
                <a:solidFill>
                  <a:srgbClr val="1B2A47"/>
                </a:solidFill>
                <a:latin typeface="Palatino Linotype" pitchFamily="34" charset="0"/>
                <a:ea typeface="Palatino Linotype" pitchFamily="34" charset="-122"/>
                <a:cs typeface="Palatino Linotype" pitchFamily="34" charset="-120"/>
              </a:rPr>
              <a:t>The Qualified Pitch Meeting: Purpose and Definition</a:t>
            </a:r>
            <a:endParaRPr lang="en-US" sz="4050" dirty="0"/>
          </a:p>
        </p:txBody>
      </p:sp>
      <p:sp>
        <p:nvSpPr>
          <p:cNvPr id="5" name="Text 3" descr="" title=""/>
          <p:cNvSpPr/>
          <p:nvPr/>
        </p:nvSpPr>
        <p:spPr>
          <a:xfrm>
            <a:off x="819150" y="2743200"/>
            <a:ext cx="17139380" cy="886718"/>
          </a:xfrm>
          <a:prstGeom prst="rect">
            <a:avLst/>
          </a:prstGeom>
          <a:noFill/>
          <a:ln/>
        </p:spPr>
        <p:txBody>
          <a:bodyPr wrap="square" lIns="25400" tIns="25400" rIns="25400" bIns="25400" rtlCol="0" anchor="t">
            <a:normAutofit/>
          </a:bodyPr>
          <a:lstStyle/>
          <a:p>
            <a:pPr marL="0" indent="0" algn="l">
              <a:lnSpc>
                <a:spcPct val="98182"/>
              </a:lnSpc>
              <a:buNone/>
            </a:pPr>
            <a:r>
              <a:rPr lang="en-US" sz="2475" b="1" dirty="0">
                <a:solidFill>
                  <a:srgbClr val="1B2A47"/>
                </a:solidFill>
                <a:latin typeface="Palatino Linotype" pitchFamily="34" charset="0"/>
                <a:ea typeface="Palatino Linotype" pitchFamily="34" charset="-122"/>
                <a:cs typeface="Palatino Linotype" pitchFamily="34" charset="-120"/>
              </a:rPr>
              <a:t>An Easy to Buy pitch meeting establishes dialogue, allows the seller to act as a guide, and lets the seller determine fit. It is not a performance; it is a dialogue between peers deciding whether to collaborate. A meeting qualifies when:</a:t>
            </a:r>
            <a:endParaRPr lang="en-US" sz="2475" dirty="0"/>
          </a:p>
        </p:txBody>
      </p:sp>
      <p:sp>
        <p:nvSpPr>
          <p:cNvPr id="6" name="Text 4" descr="" title=""/>
          <p:cNvSpPr/>
          <p:nvPr/>
        </p:nvSpPr>
        <p:spPr>
          <a:xfrm>
            <a:off x="819150" y="5082034"/>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7" name="Text 5" descr="" title=""/>
          <p:cNvSpPr/>
          <p:nvPr/>
        </p:nvSpPr>
        <p:spPr>
          <a:xfrm>
            <a:off x="1276350" y="5082034"/>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dirty="0">
                <a:solidFill>
                  <a:srgbClr val="0A0A0A"/>
                </a:solidFill>
                <a:latin typeface="Palatino Linotype" pitchFamily="34" charset="0"/>
                <a:ea typeface="Palatino Linotype" pitchFamily="34" charset="-122"/>
                <a:cs typeface="Palatino Linotype" pitchFamily="34" charset="-120"/>
              </a:rPr>
              <a:t>The buyer expects a business discussion.</a:t>
            </a:r>
            <a:endParaRPr lang="en-US" sz="2550" dirty="0"/>
          </a:p>
        </p:txBody>
      </p:sp>
      <p:sp>
        <p:nvSpPr>
          <p:cNvPr id="8" name="Text 6" descr="" title=""/>
          <p:cNvSpPr/>
          <p:nvPr/>
        </p:nvSpPr>
        <p:spPr>
          <a:xfrm>
            <a:off x="819150" y="5856387"/>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9" name="Text 7" descr="" title=""/>
          <p:cNvSpPr/>
          <p:nvPr/>
        </p:nvSpPr>
        <p:spPr>
          <a:xfrm>
            <a:off x="1276350" y="5856387"/>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dirty="0">
                <a:solidFill>
                  <a:srgbClr val="0A0A0A"/>
                </a:solidFill>
                <a:latin typeface="Palatino Linotype" pitchFamily="34" charset="0"/>
                <a:ea typeface="Palatino Linotype" pitchFamily="34" charset="-122"/>
                <a:cs typeface="Palatino Linotype" pitchFamily="34" charset="-120"/>
              </a:rPr>
              <a:t>The buyer has authority or influence to act.</a:t>
            </a:r>
            <a:endParaRPr lang="en-US" sz="2550" dirty="0"/>
          </a:p>
        </p:txBody>
      </p:sp>
      <p:sp>
        <p:nvSpPr>
          <p:cNvPr id="10" name="Text 8" descr="" title=""/>
          <p:cNvSpPr/>
          <p:nvPr/>
        </p:nvSpPr>
        <p:spPr>
          <a:xfrm>
            <a:off x="819150" y="6630739"/>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1" name="Text 9" descr="" title=""/>
          <p:cNvSpPr/>
          <p:nvPr/>
        </p:nvSpPr>
        <p:spPr>
          <a:xfrm>
            <a:off x="1276350" y="6630739"/>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dirty="0">
                <a:solidFill>
                  <a:srgbClr val="0A0A0A"/>
                </a:solidFill>
                <a:latin typeface="Palatino Linotype" pitchFamily="34" charset="0"/>
                <a:ea typeface="Palatino Linotype" pitchFamily="34" charset="-122"/>
                <a:cs typeface="Palatino Linotype" pitchFamily="34" charset="-120"/>
              </a:rPr>
              <a:t>The seller has earned the meeting through preparation and relevance.</a:t>
            </a:r>
            <a:endParaRPr lang="en-US" sz="2550" dirty="0"/>
          </a:p>
        </p:txBody>
      </p:sp>
      <p:sp>
        <p:nvSpPr>
          <p:cNvPr id="12" name="Shape 10" descr="" title=""/>
          <p:cNvSpPr/>
          <p:nvPr/>
        </p:nvSpPr>
        <p:spPr>
          <a:xfrm>
            <a:off x="752475" y="8296275"/>
            <a:ext cx="16773525" cy="1162050"/>
          </a:xfrm>
          <a:prstGeom prst="roundRect">
            <a:avLst>
              <a:gd name="adj" fmla="val 13115"/>
            </a:avLst>
          </a:prstGeom>
          <a:solidFill>
            <a:srgbClr val="F5F5F4"/>
          </a:solidFill>
          <a:ln/>
        </p:spPr>
      </p:sp>
      <p:sp>
        <p:nvSpPr>
          <p:cNvPr id="13" name="Text 11" descr="" title=""/>
          <p:cNvSpPr/>
          <p:nvPr/>
        </p:nvSpPr>
        <p:spPr>
          <a:xfrm>
            <a:off x="1162050" y="8697218"/>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1B2A47"/>
                </a:solidFill>
                <a:latin typeface="Palatino Linotype" pitchFamily="34" charset="0"/>
                <a:ea typeface="Palatino Linotype" pitchFamily="34" charset="-122"/>
                <a:cs typeface="Palatino Linotype" pitchFamily="34" charset="-120"/>
              </a:rPr>
              <a:t>Qualification is mutual: the buyer qualifies the seller's competence; the seller qualifies the buyer's readiness and fit.</a:t>
            </a:r>
            <a:endParaRPr lang="en-US" sz="2100" dirty="0"/>
          </a:p>
        </p:txBody>
      </p:sp>
      <p:sp>
        <p:nvSpPr>
          <p:cNvPr id="14" name="Text 12"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5" name="Text 13"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6" name="Text 14"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19</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Meeting Structure Overview</a:t>
            </a:r>
            <a:endParaRPr lang="en-US" sz="4500" dirty="0"/>
          </a:p>
        </p:txBody>
      </p:sp>
      <p:sp>
        <p:nvSpPr>
          <p:cNvPr id="5" name="Text 3" descr="" title=""/>
          <p:cNvSpPr/>
          <p:nvPr/>
        </p:nvSpPr>
        <p:spPr>
          <a:xfrm>
            <a:off x="819150" y="2700338"/>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5B6472"/>
                </a:solidFill>
                <a:latin typeface="Palatino Linotype" pitchFamily="34" charset="0"/>
                <a:ea typeface="Palatino Linotype" pitchFamily="34" charset="-122"/>
                <a:cs typeface="Palatino Linotype" pitchFamily="34" charset="-120"/>
              </a:rPr>
              <a:t>The focusing question opens the meeting: "Would it be okay if I lead us off?" or "Would it be helpful if I give you a brief overview of myself and my firm?"</a:t>
            </a:r>
            <a:endParaRPr lang="en-US" sz="2250" dirty="0"/>
          </a:p>
        </p:txBody>
      </p:sp>
      <p:sp>
        <p:nvSpPr>
          <p:cNvPr id="6" name="Shape 4" descr="" title=""/>
          <p:cNvSpPr/>
          <p:nvPr/>
        </p:nvSpPr>
        <p:spPr>
          <a:xfrm>
            <a:off x="752475" y="3562350"/>
            <a:ext cx="5314950" cy="5962650"/>
          </a:xfrm>
          <a:prstGeom prst="roundRect">
            <a:avLst>
              <a:gd name="adj" fmla="val 2867"/>
            </a:avLst>
          </a:prstGeom>
          <a:solidFill>
            <a:srgbClr val="F5F5F4"/>
          </a:solidFill>
          <a:ln/>
        </p:spPr>
      </p:sp>
      <p:sp>
        <p:nvSpPr>
          <p:cNvPr id="7" name="Shape 5" descr="" title=""/>
          <p:cNvSpPr/>
          <p:nvPr/>
        </p:nvSpPr>
        <p:spPr>
          <a:xfrm>
            <a:off x="2514600" y="3752850"/>
            <a:ext cx="1809750" cy="1809750"/>
          </a:xfrm>
          <a:prstGeom prst="ellipse">
            <a:avLst/>
          </a:prstGeom>
          <a:solidFill>
            <a:srgbClr val="1B2A47"/>
          </a:solidFill>
          <a:ln/>
        </p:spPr>
      </p:sp>
      <p:sp>
        <p:nvSpPr>
          <p:cNvPr id="8" name="Text 6" descr="" title=""/>
          <p:cNvSpPr/>
          <p:nvPr/>
        </p:nvSpPr>
        <p:spPr>
          <a:xfrm>
            <a:off x="2476500" y="4130576"/>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1</a:t>
            </a:r>
            <a:endParaRPr lang="en-US" sz="6150" dirty="0"/>
          </a:p>
        </p:txBody>
      </p:sp>
      <p:sp>
        <p:nvSpPr>
          <p:cNvPr id="9" name="Text 7" descr="" title=""/>
          <p:cNvSpPr/>
          <p:nvPr/>
        </p:nvSpPr>
        <p:spPr>
          <a:xfrm>
            <a:off x="930890" y="6799957"/>
            <a:ext cx="4967645"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Seller's Opening Monologue</a:t>
            </a:r>
            <a:endParaRPr lang="en-US" sz="2700" dirty="0"/>
          </a:p>
        </p:txBody>
      </p:sp>
      <p:sp>
        <p:nvSpPr>
          <p:cNvPr id="10" name="Text 8" descr="" title=""/>
          <p:cNvSpPr/>
          <p:nvPr/>
        </p:nvSpPr>
        <p:spPr>
          <a:xfrm>
            <a:off x="957120" y="7439918"/>
            <a:ext cx="4915186" cy="866775"/>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Establishes clarity, credibility, and tone.</a:t>
            </a:r>
            <a:endParaRPr lang="en-US" sz="2250" dirty="0"/>
          </a:p>
        </p:txBody>
      </p:sp>
      <p:sp>
        <p:nvSpPr>
          <p:cNvPr id="11" name="Shape 9" descr="" title=""/>
          <p:cNvSpPr/>
          <p:nvPr/>
        </p:nvSpPr>
        <p:spPr>
          <a:xfrm>
            <a:off x="6486525" y="3562350"/>
            <a:ext cx="5314950" cy="5962650"/>
          </a:xfrm>
          <a:prstGeom prst="roundRect">
            <a:avLst>
              <a:gd name="adj" fmla="val 2867"/>
            </a:avLst>
          </a:prstGeom>
          <a:solidFill>
            <a:srgbClr val="F5F5F4"/>
          </a:solidFill>
          <a:ln/>
        </p:spPr>
      </p:sp>
      <p:sp>
        <p:nvSpPr>
          <p:cNvPr id="12" name="Shape 10" descr="" title=""/>
          <p:cNvSpPr/>
          <p:nvPr/>
        </p:nvSpPr>
        <p:spPr>
          <a:xfrm>
            <a:off x="8239125" y="3752850"/>
            <a:ext cx="1809750" cy="1809750"/>
          </a:xfrm>
          <a:prstGeom prst="ellipse">
            <a:avLst/>
          </a:prstGeom>
          <a:solidFill>
            <a:srgbClr val="1B2A47"/>
          </a:solidFill>
          <a:ln/>
        </p:spPr>
      </p:sp>
      <p:sp>
        <p:nvSpPr>
          <p:cNvPr id="13" name="Text 11" descr="" title=""/>
          <p:cNvSpPr/>
          <p:nvPr/>
        </p:nvSpPr>
        <p:spPr>
          <a:xfrm>
            <a:off x="8201025" y="4130576"/>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2</a:t>
            </a:r>
            <a:endParaRPr lang="en-US" sz="6150" dirty="0"/>
          </a:p>
        </p:txBody>
      </p:sp>
      <p:sp>
        <p:nvSpPr>
          <p:cNvPr id="14" name="Text 12" descr="" title=""/>
          <p:cNvSpPr/>
          <p:nvPr/>
        </p:nvSpPr>
        <p:spPr>
          <a:xfrm>
            <a:off x="7460717" y="6799957"/>
            <a:ext cx="3356893"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Buyer's Monologue</a:t>
            </a:r>
            <a:endParaRPr lang="en-US" sz="2700" dirty="0"/>
          </a:p>
        </p:txBody>
      </p:sp>
      <p:sp>
        <p:nvSpPr>
          <p:cNvPr id="15" name="Text 13" descr="" title=""/>
          <p:cNvSpPr/>
          <p:nvPr/>
        </p:nvSpPr>
        <p:spPr>
          <a:xfrm>
            <a:off x="6681645" y="7439918"/>
            <a:ext cx="4915186" cy="866775"/>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Invites the buyer's perspective, priorities, and goals.</a:t>
            </a:r>
            <a:endParaRPr lang="en-US" sz="2250" dirty="0"/>
          </a:p>
        </p:txBody>
      </p:sp>
      <p:sp>
        <p:nvSpPr>
          <p:cNvPr id="16" name="Shape 14" descr="" title=""/>
          <p:cNvSpPr/>
          <p:nvPr/>
        </p:nvSpPr>
        <p:spPr>
          <a:xfrm>
            <a:off x="12211050" y="3562350"/>
            <a:ext cx="5314950" cy="5962650"/>
          </a:xfrm>
          <a:prstGeom prst="roundRect">
            <a:avLst>
              <a:gd name="adj" fmla="val 2867"/>
            </a:avLst>
          </a:prstGeom>
          <a:solidFill>
            <a:srgbClr val="F5F5F4"/>
          </a:solidFill>
          <a:ln/>
        </p:spPr>
      </p:sp>
      <p:sp>
        <p:nvSpPr>
          <p:cNvPr id="17" name="Shape 15" descr="" title=""/>
          <p:cNvSpPr/>
          <p:nvPr/>
        </p:nvSpPr>
        <p:spPr>
          <a:xfrm>
            <a:off x="13973175" y="3752850"/>
            <a:ext cx="1809750" cy="1809750"/>
          </a:xfrm>
          <a:prstGeom prst="ellipse">
            <a:avLst/>
          </a:prstGeom>
          <a:solidFill>
            <a:srgbClr val="1B2A47"/>
          </a:solidFill>
          <a:ln/>
        </p:spPr>
      </p:sp>
      <p:sp>
        <p:nvSpPr>
          <p:cNvPr id="18" name="Text 16" descr="" title=""/>
          <p:cNvSpPr/>
          <p:nvPr/>
        </p:nvSpPr>
        <p:spPr>
          <a:xfrm>
            <a:off x="13935075" y="4130576"/>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3</a:t>
            </a:r>
            <a:endParaRPr lang="en-US" sz="6150" dirty="0"/>
          </a:p>
        </p:txBody>
      </p:sp>
      <p:sp>
        <p:nvSpPr>
          <p:cNvPr id="19" name="Text 17" descr="" title=""/>
          <p:cNvSpPr/>
          <p:nvPr/>
        </p:nvSpPr>
        <p:spPr>
          <a:xfrm>
            <a:off x="13370429" y="6799957"/>
            <a:ext cx="3005569"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Guided Dialogue</a:t>
            </a:r>
            <a:endParaRPr lang="en-US" sz="2700" dirty="0"/>
          </a:p>
        </p:txBody>
      </p:sp>
      <p:sp>
        <p:nvSpPr>
          <p:cNvPr id="20" name="Text 18" descr="" title=""/>
          <p:cNvSpPr/>
          <p:nvPr/>
        </p:nvSpPr>
        <p:spPr>
          <a:xfrm>
            <a:off x="12415695" y="7439918"/>
            <a:ext cx="4915186" cy="866775"/>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Transforms understanding into alignment and next steps.</a:t>
            </a:r>
            <a:endParaRPr lang="en-US" sz="2250" dirty="0"/>
          </a:p>
        </p:txBody>
      </p:sp>
      <p:sp>
        <p:nvSpPr>
          <p:cNvPr id="21" name="Text 1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2" name="Text 2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3" name="Text 2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20</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Opening Monologue: The Hinge Moment</a:t>
            </a:r>
            <a:endParaRPr lang="en-US" sz="4500" dirty="0"/>
          </a:p>
        </p:txBody>
      </p:sp>
      <p:sp>
        <p:nvSpPr>
          <p:cNvPr id="5" name="Text 3" descr="" title=""/>
          <p:cNvSpPr/>
          <p:nvPr/>
        </p:nvSpPr>
        <p:spPr>
          <a:xfrm>
            <a:off x="819150" y="4303961"/>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95400" y="4303961"/>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About three minutes total:</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Roughly one minute on your firm, one minute on yourself, one minute on your value proposition.</a:t>
            </a:r>
            <a:endParaRPr lang="en-US" sz="1200" dirty="0"/>
          </a:p>
        </p:txBody>
      </p:sp>
      <p:sp>
        <p:nvSpPr>
          <p:cNvPr id="7" name="Text 5" descr="" title=""/>
          <p:cNvSpPr/>
          <p:nvPr/>
        </p:nvSpPr>
        <p:spPr>
          <a:xfrm>
            <a:off x="819150" y="5040213"/>
            <a:ext cx="40005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95400" y="5040213"/>
            <a:ext cx="16648843"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Purpose:</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Remove ambiguity, establish credibility, and set a professional frame.</a:t>
            </a:r>
            <a:endParaRPr lang="en-US" sz="1200" dirty="0"/>
          </a:p>
        </p:txBody>
      </p:sp>
      <p:sp>
        <p:nvSpPr>
          <p:cNvPr id="9" name="Text 7" descr="" title=""/>
          <p:cNvSpPr/>
          <p:nvPr/>
        </p:nvSpPr>
        <p:spPr>
          <a:xfrm>
            <a:off x="819150" y="5776466"/>
            <a:ext cx="40005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95400" y="5776466"/>
            <a:ext cx="16648843"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It eliminates the "non-sequitur" question: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If a buyer later asks "wait, are you hoping we'll hire you?," the monologue failed its job.</a:t>
            </a:r>
            <a:endParaRPr lang="en-US" sz="1200" dirty="0"/>
          </a:p>
        </p:txBody>
      </p:sp>
      <p:sp>
        <p:nvSpPr>
          <p:cNvPr id="11" name="Text 9" descr="" title=""/>
          <p:cNvSpPr/>
          <p:nvPr/>
        </p:nvSpPr>
        <p:spPr>
          <a:xfrm>
            <a:off x="819150" y="6913215"/>
            <a:ext cx="40005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2" name="Text 10" descr="" title=""/>
          <p:cNvSpPr/>
          <p:nvPr/>
        </p:nvSpPr>
        <p:spPr>
          <a:xfrm>
            <a:off x="1295400" y="6913215"/>
            <a:ext cx="16648843"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Psychological function: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It steadies the seller, channeling nervous energy into composure, and resets the dynamic so the buyer sees a peer, not a petitioner.</a:t>
            </a:r>
            <a:endParaRPr lang="en-US" sz="1200" dirty="0"/>
          </a:p>
        </p:txBody>
      </p:sp>
      <p:sp>
        <p:nvSpPr>
          <p:cNvPr id="13" name="Text 1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4" name="Text 1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5" name="Text 1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21</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Buyer's Monologue</a:t>
            </a:r>
            <a:endParaRPr lang="en-US" sz="4500" dirty="0"/>
          </a:p>
        </p:txBody>
      </p:sp>
      <p:sp>
        <p:nvSpPr>
          <p:cNvPr id="5" name="Text 3" descr="" title=""/>
          <p:cNvSpPr/>
          <p:nvPr/>
        </p:nvSpPr>
        <p:spPr>
          <a:xfrm>
            <a:off x="819150" y="3143250"/>
            <a:ext cx="17139380" cy="504825"/>
          </a:xfrm>
          <a:prstGeom prst="rect">
            <a:avLst/>
          </a:prstGeom>
          <a:noFill/>
          <a:ln/>
        </p:spPr>
        <p:txBody>
          <a:bodyPr wrap="square" lIns="25400" tIns="25400" rIns="25400" bIns="25400" rtlCol="0" anchor="t">
            <a:normAutofit/>
          </a:bodyPr>
          <a:lstStyle/>
          <a:p>
            <a:pPr marL="0" indent="0" algn="l">
              <a:lnSpc>
                <a:spcPct val="101818"/>
              </a:lnSpc>
              <a:buNone/>
            </a:pPr>
            <a:r>
              <a:rPr lang="en-US" sz="2625" b="1" dirty="0">
                <a:solidFill>
                  <a:srgbClr val="1B2A47"/>
                </a:solidFill>
                <a:latin typeface="Palatino Linotype" pitchFamily="34" charset="0"/>
                <a:ea typeface="Palatino Linotype" pitchFamily="34" charset="-122"/>
                <a:cs typeface="Palatino Linotype" pitchFamily="34" charset="-120"/>
              </a:rPr>
              <a:t>Invite the buyer to share their story, goals, and current challenges.</a:t>
            </a:r>
            <a:endParaRPr lang="en-US" sz="2625" dirty="0"/>
          </a:p>
        </p:txBody>
      </p:sp>
      <p:sp>
        <p:nvSpPr>
          <p:cNvPr id="6" name="Text 4" descr="" title=""/>
          <p:cNvSpPr/>
          <p:nvPr/>
        </p:nvSpPr>
        <p:spPr>
          <a:xfrm>
            <a:off x="819150" y="5243513"/>
            <a:ext cx="400050" cy="538163"/>
          </a:xfrm>
          <a:prstGeom prst="rect">
            <a:avLst/>
          </a:prstGeom>
          <a:noFill/>
          <a:ln/>
        </p:spPr>
        <p:txBody>
          <a:bodyPr wrap="square" lIns="25400" tIns="25400" rIns="25400" bIns="25400" rtlCol="0" anchor="t">
            <a:normAutofit/>
          </a:bodyPr>
          <a:lstStyle/>
          <a:p>
            <a:pPr marL="0" indent="0" algn="l">
              <a:lnSpc>
                <a:spcPct val="11170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7" name="Text 5" descr="" title=""/>
          <p:cNvSpPr/>
          <p:nvPr/>
        </p:nvSpPr>
        <p:spPr>
          <a:xfrm>
            <a:off x="1295400" y="5243513"/>
            <a:ext cx="16648843" cy="538163"/>
          </a:xfrm>
          <a:prstGeom prst="rect">
            <a:avLst/>
          </a:prstGeom>
          <a:noFill/>
          <a:ln/>
        </p:spPr>
        <p:txBody>
          <a:bodyPr wrap="square" lIns="25400" tIns="25400" rIns="25400" bIns="25400" rtlCol="0" anchor="t">
            <a:normAutofit/>
          </a:bodyPr>
          <a:lstStyle/>
          <a:p>
            <a:pPr marL="0" indent="0" algn="l">
              <a:lnSpc>
                <a:spcPct val="109091"/>
              </a:lnSpc>
              <a:buNone/>
            </a:pPr>
            <a:r>
              <a:rPr lang="en-US" sz="2625" dirty="0">
                <a:solidFill>
                  <a:srgbClr val="0A0A0A"/>
                </a:solidFill>
                <a:latin typeface="Palatino Linotype" pitchFamily="34" charset="0"/>
                <a:ea typeface="Palatino Linotype" pitchFamily="34" charset="-122"/>
                <a:cs typeface="Palatino Linotype" pitchFamily="34" charset="-120"/>
              </a:rPr>
              <a:t>This short exchange establishes balance and earns trust.</a:t>
            </a:r>
            <a:endParaRPr lang="en-US" sz="2625" dirty="0"/>
          </a:p>
        </p:txBody>
      </p:sp>
      <p:sp>
        <p:nvSpPr>
          <p:cNvPr id="8" name="Text 6" descr="" title=""/>
          <p:cNvSpPr/>
          <p:nvPr/>
        </p:nvSpPr>
        <p:spPr>
          <a:xfrm>
            <a:off x="819150" y="6086475"/>
            <a:ext cx="400050" cy="1038225"/>
          </a:xfrm>
          <a:prstGeom prst="rect">
            <a:avLst/>
          </a:prstGeom>
          <a:noFill/>
          <a:ln/>
        </p:spPr>
        <p:txBody>
          <a:bodyPr wrap="square" lIns="25400" tIns="25400" rIns="25400" bIns="25400" rtlCol="0" anchor="t">
            <a:normAutofit/>
          </a:bodyPr>
          <a:lstStyle/>
          <a:p>
            <a:pPr marL="0" indent="0" algn="l">
              <a:lnSpc>
                <a:spcPct val="11170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9" name="Text 7" descr="" title=""/>
          <p:cNvSpPr/>
          <p:nvPr/>
        </p:nvSpPr>
        <p:spPr>
          <a:xfrm>
            <a:off x="1295400" y="6086475"/>
            <a:ext cx="16648843" cy="1038225"/>
          </a:xfrm>
          <a:prstGeom prst="rect">
            <a:avLst/>
          </a:prstGeom>
          <a:noFill/>
          <a:ln/>
        </p:spPr>
        <p:txBody>
          <a:bodyPr wrap="square" lIns="25400" tIns="25400" rIns="25400" bIns="25400" rtlCol="0" anchor="t">
            <a:normAutofit/>
          </a:bodyPr>
          <a:lstStyle/>
          <a:p>
            <a:pPr marL="0" indent="0" algn="l">
              <a:lnSpc>
                <a:spcPct val="109091"/>
              </a:lnSpc>
              <a:buNone/>
            </a:pPr>
            <a:r>
              <a:rPr lang="en-US" sz="2625" dirty="0">
                <a:solidFill>
                  <a:srgbClr val="0A0A0A"/>
                </a:solidFill>
                <a:latin typeface="Palatino Linotype" pitchFamily="34" charset="0"/>
                <a:ea typeface="Palatino Linotype" pitchFamily="34" charset="-122"/>
                <a:cs typeface="Palatino Linotype" pitchFamily="34" charset="-120"/>
              </a:rPr>
              <a:t>The more the seller listens, the more the buyer feels understood, and the more persuasive the seller becomes without speaking.</a:t>
            </a:r>
            <a:endParaRPr lang="en-US" sz="2625" dirty="0"/>
          </a:p>
        </p:txBody>
      </p:sp>
      <p:sp>
        <p:nvSpPr>
          <p:cNvPr id="10" name="Text 8" descr="" title=""/>
          <p:cNvSpPr/>
          <p:nvPr/>
        </p:nvSpPr>
        <p:spPr>
          <a:xfrm>
            <a:off x="819150" y="7429500"/>
            <a:ext cx="400050" cy="966788"/>
          </a:xfrm>
          <a:prstGeom prst="rect">
            <a:avLst/>
          </a:prstGeom>
          <a:noFill/>
          <a:ln/>
        </p:spPr>
        <p:txBody>
          <a:bodyPr wrap="square" lIns="25400" tIns="25400" rIns="25400" bIns="25400" rtlCol="0" anchor="t">
            <a:normAutofit/>
          </a:bodyPr>
          <a:lstStyle/>
          <a:p>
            <a:pPr marL="0" indent="0" algn="l">
              <a:lnSpc>
                <a:spcPct val="111702"/>
              </a:lnSpc>
              <a:buNone/>
            </a:pPr>
            <a:r>
              <a:rPr lang="en-US" sz="2625" dirty="0">
                <a:solidFill>
                  <a:srgbClr val="1B2A47"/>
                </a:solidFill>
                <a:latin typeface="Palatino Linotype" pitchFamily="34" charset="0"/>
                <a:ea typeface="Palatino Linotype" pitchFamily="34" charset="-122"/>
                <a:cs typeface="Palatino Linotype" pitchFamily="34" charset="-120"/>
              </a:rPr>
              <a:t>•</a:t>
            </a:r>
            <a:endParaRPr lang="en-US" sz="2625" dirty="0"/>
          </a:p>
        </p:txBody>
      </p:sp>
      <p:sp>
        <p:nvSpPr>
          <p:cNvPr id="11" name="Text 9" descr="" title=""/>
          <p:cNvSpPr/>
          <p:nvPr/>
        </p:nvSpPr>
        <p:spPr>
          <a:xfrm>
            <a:off x="1295400" y="7429500"/>
            <a:ext cx="16648843" cy="966788"/>
          </a:xfrm>
          <a:prstGeom prst="rect">
            <a:avLst/>
          </a:prstGeom>
          <a:noFill/>
          <a:ln/>
        </p:spPr>
        <p:txBody>
          <a:bodyPr wrap="square" lIns="25400" tIns="25400" rIns="25400" bIns="25400" rtlCol="0" anchor="t">
            <a:normAutofit/>
          </a:bodyPr>
          <a:lstStyle/>
          <a:p>
            <a:pPr marL="0" indent="0" algn="l">
              <a:lnSpc>
                <a:spcPct val="109091"/>
              </a:lnSpc>
              <a:buNone/>
            </a:pPr>
            <a:r>
              <a:rPr lang="en-US" sz="2625" b="1" dirty="0">
                <a:solidFill>
                  <a:srgbClr val="1B2A47"/>
                </a:solidFill>
                <a:latin typeface="Palatino Linotype" pitchFamily="34" charset="0"/>
                <a:ea typeface="Palatino Linotype" pitchFamily="34" charset="-122"/>
                <a:cs typeface="Palatino Linotype" pitchFamily="34" charset="-120"/>
              </a:rPr>
              <a:t>Prompt with open invitations: </a:t>
            </a:r>
            <a:pPr marL="0" indent="0" algn="l">
              <a:lnSpc>
                <a:spcPct val="109091"/>
              </a:lnSpc>
              <a:buNone/>
            </a:pPr>
            <a:r>
              <a:rPr lang="en-US" sz="2250" dirty="0">
                <a:solidFill>
                  <a:srgbClr val="5B6472"/>
                </a:solidFill>
                <a:latin typeface="Palatino Linotype" pitchFamily="34" charset="0"/>
                <a:ea typeface="Palatino Linotype" pitchFamily="34" charset="-122"/>
                <a:cs typeface="Palatino Linotype" pitchFamily="34" charset="-120"/>
              </a:rPr>
              <a:t>"I'd love to hear how your team approaches [topic]." · "What goals are you focused on for this quarter?"</a:t>
            </a:r>
            <a:endParaRPr lang="en-US" sz="1200" dirty="0"/>
          </a:p>
        </p:txBody>
      </p:sp>
      <p:sp>
        <p:nvSpPr>
          <p:cNvPr id="12" name="Text 10"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3" name="Text 11"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4" name="Text 12"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22</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Guided Dialogue</a:t>
            </a:r>
            <a:endParaRPr lang="en-US" sz="4500" dirty="0"/>
          </a:p>
        </p:txBody>
      </p:sp>
      <p:sp>
        <p:nvSpPr>
          <p:cNvPr id="5" name="Text 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6" name="Text 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7" name="Text 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23</a:t>
            </a:r>
            <a:endParaRPr lang="en-US" sz="1350" dirty="0"/>
          </a:p>
        </p:txBody>
      </p:sp>
      <p:sp>
        <p:nvSpPr>
          <p:cNvPr id="8" name="Shape 6" descr="" title=""/>
          <p:cNvSpPr/>
          <p:nvPr/>
        </p:nvSpPr>
        <p:spPr>
          <a:xfrm>
            <a:off x="757238" y="2747963"/>
            <a:ext cx="1850975" cy="1695450"/>
          </a:xfrm>
          <a:prstGeom prst="rect">
            <a:avLst/>
          </a:prstGeom>
          <a:solidFill>
            <a:srgbClr val="1B2A47"/>
          </a:solidFill>
          <a:ln w="9525">
            <a:solidFill>
              <a:srgbClr val="D8DCE1"/>
            </a:solidFill>
            <a:prstDash val="solid"/>
          </a:ln>
        </p:spPr>
      </p:sp>
      <p:sp>
        <p:nvSpPr>
          <p:cNvPr id="9" name="Text 7" descr="" title=""/>
          <p:cNvSpPr/>
          <p:nvPr/>
        </p:nvSpPr>
        <p:spPr>
          <a:xfrm>
            <a:off x="957263" y="2871788"/>
            <a:ext cx="1527125" cy="1485900"/>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Category</a:t>
            </a:r>
            <a:endParaRPr lang="en-US" sz="2100" dirty="0"/>
          </a:p>
        </p:txBody>
      </p:sp>
      <p:sp>
        <p:nvSpPr>
          <p:cNvPr id="10" name="Shape 8" descr="" title=""/>
          <p:cNvSpPr/>
          <p:nvPr/>
        </p:nvSpPr>
        <p:spPr>
          <a:xfrm>
            <a:off x="2608213" y="2747963"/>
            <a:ext cx="3350419" cy="1695450"/>
          </a:xfrm>
          <a:prstGeom prst="rect">
            <a:avLst/>
          </a:prstGeom>
          <a:solidFill>
            <a:srgbClr val="1B2A47"/>
          </a:solidFill>
          <a:ln w="9525">
            <a:solidFill>
              <a:srgbClr val="D8DCE1"/>
            </a:solidFill>
            <a:prstDash val="solid"/>
          </a:ln>
        </p:spPr>
      </p:sp>
      <p:sp>
        <p:nvSpPr>
          <p:cNvPr id="11" name="Text 9" descr="" title=""/>
          <p:cNvSpPr/>
          <p:nvPr/>
        </p:nvSpPr>
        <p:spPr>
          <a:xfrm>
            <a:off x="2808238" y="2871788"/>
            <a:ext cx="3050881" cy="1485900"/>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Focus</a:t>
            </a:r>
            <a:endParaRPr lang="en-US" sz="2100" dirty="0"/>
          </a:p>
        </p:txBody>
      </p:sp>
      <p:sp>
        <p:nvSpPr>
          <p:cNvPr id="12" name="Shape 10" descr="" title=""/>
          <p:cNvSpPr/>
          <p:nvPr/>
        </p:nvSpPr>
        <p:spPr>
          <a:xfrm>
            <a:off x="5958632" y="2747963"/>
            <a:ext cx="11562606" cy="1695450"/>
          </a:xfrm>
          <a:prstGeom prst="rect">
            <a:avLst/>
          </a:prstGeom>
          <a:solidFill>
            <a:srgbClr val="1B2A47"/>
          </a:solidFill>
          <a:ln w="9525">
            <a:solidFill>
              <a:srgbClr val="D8DCE1"/>
            </a:solidFill>
            <a:prstDash val="solid"/>
          </a:ln>
        </p:spPr>
      </p:sp>
      <p:sp>
        <p:nvSpPr>
          <p:cNvPr id="13" name="Text 11" descr="" title=""/>
          <p:cNvSpPr/>
          <p:nvPr/>
        </p:nvSpPr>
        <p:spPr>
          <a:xfrm>
            <a:off x="6158657" y="2871788"/>
            <a:ext cx="11509434" cy="1485900"/>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Example</a:t>
            </a:r>
            <a:endParaRPr lang="en-US" sz="2100" dirty="0"/>
          </a:p>
        </p:txBody>
      </p:sp>
      <p:sp>
        <p:nvSpPr>
          <p:cNvPr id="14" name="Shape 12" descr="" title=""/>
          <p:cNvSpPr/>
          <p:nvPr/>
        </p:nvSpPr>
        <p:spPr>
          <a:xfrm>
            <a:off x="757238" y="4443413"/>
            <a:ext cx="1850975" cy="1695450"/>
          </a:xfrm>
          <a:prstGeom prst="rect">
            <a:avLst/>
          </a:prstGeom>
          <a:solidFill>
            <a:srgbClr val="FFFFFF"/>
          </a:solidFill>
          <a:ln w="9525">
            <a:solidFill>
              <a:srgbClr val="D8DCE1"/>
            </a:solidFill>
            <a:prstDash val="solid"/>
          </a:ln>
        </p:spPr>
      </p:sp>
      <p:sp>
        <p:nvSpPr>
          <p:cNvPr id="15" name="Text 13" descr="" title=""/>
          <p:cNvSpPr/>
          <p:nvPr/>
        </p:nvSpPr>
        <p:spPr>
          <a:xfrm>
            <a:off x="957263" y="4567238"/>
            <a:ext cx="1527125"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Discovery</a:t>
            </a:r>
            <a:endParaRPr lang="en-US" sz="1950" dirty="0"/>
          </a:p>
        </p:txBody>
      </p:sp>
      <p:sp>
        <p:nvSpPr>
          <p:cNvPr id="16" name="Shape 14" descr="" title=""/>
          <p:cNvSpPr/>
          <p:nvPr/>
        </p:nvSpPr>
        <p:spPr>
          <a:xfrm>
            <a:off x="2608213" y="4443413"/>
            <a:ext cx="3350419" cy="1695450"/>
          </a:xfrm>
          <a:prstGeom prst="rect">
            <a:avLst/>
          </a:prstGeom>
          <a:solidFill>
            <a:srgbClr val="FFFFFF"/>
          </a:solidFill>
          <a:ln w="9525">
            <a:solidFill>
              <a:srgbClr val="D8DCE1"/>
            </a:solidFill>
            <a:prstDash val="solid"/>
          </a:ln>
        </p:spPr>
      </p:sp>
      <p:sp>
        <p:nvSpPr>
          <p:cNvPr id="17" name="Text 15" descr="" title=""/>
          <p:cNvSpPr/>
          <p:nvPr/>
        </p:nvSpPr>
        <p:spPr>
          <a:xfrm>
            <a:off x="2808238" y="4567238"/>
            <a:ext cx="3050881"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Rapport, story, motivation</a:t>
            </a:r>
            <a:endParaRPr lang="en-US" sz="1950" dirty="0"/>
          </a:p>
        </p:txBody>
      </p:sp>
      <p:sp>
        <p:nvSpPr>
          <p:cNvPr id="18" name="Shape 16" descr="" title=""/>
          <p:cNvSpPr/>
          <p:nvPr/>
        </p:nvSpPr>
        <p:spPr>
          <a:xfrm>
            <a:off x="5958632" y="4443413"/>
            <a:ext cx="11562606" cy="1695450"/>
          </a:xfrm>
          <a:prstGeom prst="rect">
            <a:avLst/>
          </a:prstGeom>
          <a:solidFill>
            <a:srgbClr val="FFFFFF"/>
          </a:solidFill>
          <a:ln w="9525">
            <a:solidFill>
              <a:srgbClr val="D8DCE1"/>
            </a:solidFill>
            <a:prstDash val="solid"/>
          </a:ln>
        </p:spPr>
      </p:sp>
      <p:sp>
        <p:nvSpPr>
          <p:cNvPr id="19" name="Text 17" descr="" title=""/>
          <p:cNvSpPr/>
          <p:nvPr/>
        </p:nvSpPr>
        <p:spPr>
          <a:xfrm>
            <a:off x="6158657" y="4567238"/>
            <a:ext cx="11509434"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"That's an amazing journey — you built this from scratch."</a:t>
            </a:r>
            <a:endParaRPr lang="en-US" sz="1950" dirty="0"/>
          </a:p>
        </p:txBody>
      </p:sp>
      <p:sp>
        <p:nvSpPr>
          <p:cNvPr id="20" name="Shape 18" descr="" title=""/>
          <p:cNvSpPr/>
          <p:nvPr/>
        </p:nvSpPr>
        <p:spPr>
          <a:xfrm>
            <a:off x="757238" y="6138863"/>
            <a:ext cx="1850975" cy="1695450"/>
          </a:xfrm>
          <a:prstGeom prst="rect">
            <a:avLst/>
          </a:prstGeom>
          <a:solidFill>
            <a:srgbClr val="FFFFFF"/>
          </a:solidFill>
          <a:ln w="9525">
            <a:solidFill>
              <a:srgbClr val="D8DCE1"/>
            </a:solidFill>
            <a:prstDash val="solid"/>
          </a:ln>
        </p:spPr>
      </p:sp>
      <p:sp>
        <p:nvSpPr>
          <p:cNvPr id="21" name="Text 19" descr="" title=""/>
          <p:cNvSpPr/>
          <p:nvPr/>
        </p:nvSpPr>
        <p:spPr>
          <a:xfrm>
            <a:off x="957263" y="6262688"/>
            <a:ext cx="1527125"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Qualification</a:t>
            </a:r>
            <a:endParaRPr lang="en-US" sz="1950" dirty="0"/>
          </a:p>
        </p:txBody>
      </p:sp>
      <p:sp>
        <p:nvSpPr>
          <p:cNvPr id="22" name="Shape 20" descr="" title=""/>
          <p:cNvSpPr/>
          <p:nvPr/>
        </p:nvSpPr>
        <p:spPr>
          <a:xfrm>
            <a:off x="2608213" y="6138863"/>
            <a:ext cx="3350419" cy="1695450"/>
          </a:xfrm>
          <a:prstGeom prst="rect">
            <a:avLst/>
          </a:prstGeom>
          <a:solidFill>
            <a:srgbClr val="FFFFFF"/>
          </a:solidFill>
          <a:ln w="9525">
            <a:solidFill>
              <a:srgbClr val="D8DCE1"/>
            </a:solidFill>
            <a:prstDash val="solid"/>
          </a:ln>
        </p:spPr>
      </p:sp>
      <p:sp>
        <p:nvSpPr>
          <p:cNvPr id="23" name="Text 21" descr="" title=""/>
          <p:cNvSpPr/>
          <p:nvPr/>
        </p:nvSpPr>
        <p:spPr>
          <a:xfrm>
            <a:off x="2808238" y="6262688"/>
            <a:ext cx="3050881"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Needs, structure, timing</a:t>
            </a:r>
            <a:endParaRPr lang="en-US" sz="1950" dirty="0"/>
          </a:p>
        </p:txBody>
      </p:sp>
      <p:sp>
        <p:nvSpPr>
          <p:cNvPr id="24" name="Shape 22" descr="" title=""/>
          <p:cNvSpPr/>
          <p:nvPr/>
        </p:nvSpPr>
        <p:spPr>
          <a:xfrm>
            <a:off x="5958632" y="6138863"/>
            <a:ext cx="11562606" cy="1695450"/>
          </a:xfrm>
          <a:prstGeom prst="rect">
            <a:avLst/>
          </a:prstGeom>
          <a:solidFill>
            <a:srgbClr val="FFFFFF"/>
          </a:solidFill>
          <a:ln w="9525">
            <a:solidFill>
              <a:srgbClr val="D8DCE1"/>
            </a:solidFill>
            <a:prstDash val="solid"/>
          </a:ln>
        </p:spPr>
      </p:sp>
      <p:sp>
        <p:nvSpPr>
          <p:cNvPr id="25" name="Text 23" descr="" title=""/>
          <p:cNvSpPr/>
          <p:nvPr/>
        </p:nvSpPr>
        <p:spPr>
          <a:xfrm>
            <a:off x="6158657" y="6262688"/>
            <a:ext cx="11509434"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"You're weighing whether to sell 100% or retain equity for a second bite."</a:t>
            </a:r>
            <a:endParaRPr lang="en-US" sz="1950" dirty="0"/>
          </a:p>
        </p:txBody>
      </p:sp>
      <p:sp>
        <p:nvSpPr>
          <p:cNvPr id="26" name="Shape 24" descr="" title=""/>
          <p:cNvSpPr/>
          <p:nvPr/>
        </p:nvSpPr>
        <p:spPr>
          <a:xfrm>
            <a:off x="757238" y="7834313"/>
            <a:ext cx="1850975" cy="1695450"/>
          </a:xfrm>
          <a:prstGeom prst="rect">
            <a:avLst/>
          </a:prstGeom>
          <a:solidFill>
            <a:srgbClr val="FFFFFF"/>
          </a:solidFill>
          <a:ln w="9525">
            <a:solidFill>
              <a:srgbClr val="D8DCE1"/>
            </a:solidFill>
            <a:prstDash val="solid"/>
          </a:ln>
        </p:spPr>
      </p:sp>
      <p:sp>
        <p:nvSpPr>
          <p:cNvPr id="27" name="Text 25" descr="" title=""/>
          <p:cNvSpPr/>
          <p:nvPr/>
        </p:nvSpPr>
        <p:spPr>
          <a:xfrm>
            <a:off x="957263" y="7958138"/>
            <a:ext cx="1527125"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Decision</a:t>
            </a:r>
            <a:endParaRPr lang="en-US" sz="1950" dirty="0"/>
          </a:p>
        </p:txBody>
      </p:sp>
      <p:sp>
        <p:nvSpPr>
          <p:cNvPr id="28" name="Shape 26" descr="" title=""/>
          <p:cNvSpPr/>
          <p:nvPr/>
        </p:nvSpPr>
        <p:spPr>
          <a:xfrm>
            <a:off x="2608213" y="7834313"/>
            <a:ext cx="3350419" cy="1695450"/>
          </a:xfrm>
          <a:prstGeom prst="rect">
            <a:avLst/>
          </a:prstGeom>
          <a:solidFill>
            <a:srgbClr val="FFFFFF"/>
          </a:solidFill>
          <a:ln w="9525">
            <a:solidFill>
              <a:srgbClr val="D8DCE1"/>
            </a:solidFill>
            <a:prstDash val="solid"/>
          </a:ln>
        </p:spPr>
      </p:sp>
      <p:sp>
        <p:nvSpPr>
          <p:cNvPr id="29" name="Text 27" descr="" title=""/>
          <p:cNvSpPr/>
          <p:nvPr/>
        </p:nvSpPr>
        <p:spPr>
          <a:xfrm>
            <a:off x="2808238" y="7958138"/>
            <a:ext cx="3050881"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Commitment readiness</a:t>
            </a:r>
            <a:endParaRPr lang="en-US" sz="1950" dirty="0"/>
          </a:p>
        </p:txBody>
      </p:sp>
      <p:sp>
        <p:nvSpPr>
          <p:cNvPr id="30" name="Shape 28" descr="" title=""/>
          <p:cNvSpPr/>
          <p:nvPr/>
        </p:nvSpPr>
        <p:spPr>
          <a:xfrm>
            <a:off x="5958632" y="7834313"/>
            <a:ext cx="11562606" cy="1695450"/>
          </a:xfrm>
          <a:prstGeom prst="rect">
            <a:avLst/>
          </a:prstGeom>
          <a:solidFill>
            <a:srgbClr val="FFFFFF"/>
          </a:solidFill>
          <a:ln w="9525">
            <a:solidFill>
              <a:srgbClr val="D8DCE1"/>
            </a:solidFill>
            <a:prstDash val="solid"/>
          </a:ln>
        </p:spPr>
      </p:sp>
      <p:sp>
        <p:nvSpPr>
          <p:cNvPr id="31" name="Text 29" descr="" title=""/>
          <p:cNvSpPr/>
          <p:nvPr/>
        </p:nvSpPr>
        <p:spPr>
          <a:xfrm>
            <a:off x="6158657" y="7958138"/>
            <a:ext cx="11509434" cy="1485900"/>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"You've already described what a no-brainer looks like for you — let's create that outcome together."</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Questions: Context and Function</a:t>
            </a:r>
            <a:endParaRPr lang="en-US" sz="4500" dirty="0"/>
          </a:p>
        </p:txBody>
      </p:sp>
      <p:sp>
        <p:nvSpPr>
          <p:cNvPr id="5" name="Text 3" descr="" title=""/>
          <p:cNvSpPr/>
          <p:nvPr/>
        </p:nvSpPr>
        <p:spPr>
          <a:xfrm>
            <a:off x="819150" y="3526631"/>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95400" y="3526631"/>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In writing: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The "convert questions to statements" rule applies primarily to written prospecting communication, where question marks signal permission-seeking.</a:t>
            </a:r>
            <a:endParaRPr lang="en-US" sz="1200" dirty="0"/>
          </a:p>
        </p:txBody>
      </p:sp>
      <p:sp>
        <p:nvSpPr>
          <p:cNvPr id="7" name="Text 5" descr="" title=""/>
          <p:cNvSpPr/>
          <p:nvPr/>
        </p:nvSpPr>
        <p:spPr>
          <a:xfrm>
            <a:off x="819150" y="4731544"/>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95400" y="4731544"/>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In live conversation: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Questions are essential tools that signal engagement, invite collaboration, and build progressive commitment.</a:t>
            </a:r>
            <a:endParaRPr lang="en-US" sz="1200" dirty="0"/>
          </a:p>
        </p:txBody>
      </p:sp>
      <p:sp>
        <p:nvSpPr>
          <p:cNvPr id="9" name="Text 7" descr="" title=""/>
          <p:cNvSpPr/>
          <p:nvPr/>
        </p:nvSpPr>
        <p:spPr>
          <a:xfrm>
            <a:off x="819150" y="5936456"/>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95400" y="5936456"/>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Dual function of live questions: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They signal deference to the buyer's authority, and they give the seller diagnostic power — the depth of an answer reveals the buyer's true level of interest.</a:t>
            </a:r>
            <a:endParaRPr lang="en-US" sz="1200" dirty="0"/>
          </a:p>
        </p:txBody>
      </p:sp>
      <p:sp>
        <p:nvSpPr>
          <p:cNvPr id="11" name="Shape 9" descr="" title=""/>
          <p:cNvSpPr/>
          <p:nvPr/>
        </p:nvSpPr>
        <p:spPr>
          <a:xfrm>
            <a:off x="752475" y="8096250"/>
            <a:ext cx="16773525" cy="1238250"/>
          </a:xfrm>
          <a:prstGeom prst="roundRect">
            <a:avLst>
              <a:gd name="adj" fmla="val 12308"/>
            </a:avLst>
          </a:prstGeom>
          <a:solidFill>
            <a:srgbClr val="F5F5F4"/>
          </a:solidFill>
          <a:ln/>
        </p:spPr>
      </p:sp>
      <p:sp>
        <p:nvSpPr>
          <p:cNvPr id="12" name="Text 10" descr="" title=""/>
          <p:cNvSpPr/>
          <p:nvPr/>
        </p:nvSpPr>
        <p:spPr>
          <a:xfrm>
            <a:off x="1162050" y="8522047"/>
            <a:ext cx="16433006" cy="424755"/>
          </a:xfrm>
          <a:prstGeom prst="rect">
            <a:avLst/>
          </a:prstGeom>
          <a:noFill/>
          <a:ln/>
        </p:spPr>
        <p:txBody>
          <a:bodyPr wrap="square" lIns="25400" tIns="25400" rIns="25400" bIns="25400" rtlCol="0" anchor="t">
            <a:normAutofit/>
          </a:bodyPr>
          <a:lstStyle/>
          <a:p>
            <a:pPr marL="0" indent="0" algn="l">
              <a:lnSpc>
                <a:spcPct val="101818"/>
              </a:lnSpc>
              <a:buNone/>
            </a:pPr>
            <a:r>
              <a:rPr lang="en-US" sz="2175" b="1" i="1" dirty="0">
                <a:solidFill>
                  <a:srgbClr val="1B2A47"/>
                </a:solidFill>
                <a:latin typeface="Palatino Linotype" pitchFamily="34" charset="0"/>
                <a:ea typeface="Palatino Linotype" pitchFamily="34" charset="-122"/>
                <a:cs typeface="Palatino Linotype" pitchFamily="34" charset="-120"/>
              </a:rPr>
              <a:t>This is one of the most commonly misapplied rules in Easy to Buy — know which context you're in.</a:t>
            </a:r>
            <a:endParaRPr lang="en-US" sz="2175" dirty="0"/>
          </a:p>
        </p:txBody>
      </p:sp>
      <p:sp>
        <p:nvSpPr>
          <p:cNvPr id="13" name="Text 1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4" name="Text 1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5" name="Text 1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24</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Hill Climbing Technique</a:t>
            </a:r>
            <a:endParaRPr lang="en-US" sz="4500" dirty="0"/>
          </a:p>
        </p:txBody>
      </p:sp>
      <p:sp>
        <p:nvSpPr>
          <p:cNvPr id="5" name="Text 3" descr="" title=""/>
          <p:cNvSpPr/>
          <p:nvPr/>
        </p:nvSpPr>
        <p:spPr>
          <a:xfrm>
            <a:off x="819150" y="4341019"/>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95400" y="4341019"/>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Bottom of the Hill — Discovery Questions: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"What does a typical deal look like for you?" · "Walk me through your last transaction — what went well?"</a:t>
            </a:r>
            <a:endParaRPr lang="en-US" sz="1200" dirty="0"/>
          </a:p>
        </p:txBody>
      </p:sp>
      <p:sp>
        <p:nvSpPr>
          <p:cNvPr id="7" name="Text 5" descr="" title=""/>
          <p:cNvSpPr/>
          <p:nvPr/>
        </p:nvSpPr>
        <p:spPr>
          <a:xfrm>
            <a:off x="819150" y="5564981"/>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95400" y="5564981"/>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Middle of the Hill — Qualification Questions: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"What matters most when you're deciding whether to engage a firm?" · "What's worked well with previous counsel?"</a:t>
            </a:r>
            <a:endParaRPr lang="en-US" sz="1200" dirty="0"/>
          </a:p>
        </p:txBody>
      </p:sp>
      <p:sp>
        <p:nvSpPr>
          <p:cNvPr id="9" name="Text 7" descr="" title=""/>
          <p:cNvSpPr/>
          <p:nvPr/>
        </p:nvSpPr>
        <p:spPr>
          <a:xfrm>
            <a:off x="819150" y="6788944"/>
            <a:ext cx="400050" cy="938213"/>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95400" y="6788944"/>
            <a:ext cx="16648843" cy="938213"/>
          </a:xfrm>
          <a:prstGeom prst="rect">
            <a:avLst/>
          </a:prstGeom>
          <a:noFill/>
          <a:ln/>
        </p:spPr>
        <p:txBody>
          <a:bodyPr wrap="square" lIns="25400" tIns="25400" rIns="25400" bIns="25400" rtlCol="0" anchor="t">
            <a:normAutofit/>
          </a:bodyPr>
          <a:lstStyle/>
          <a:p>
            <a:pPr marL="0" indent="0" algn="l">
              <a:lnSpc>
                <a:spcPct val="109091"/>
              </a:lnSpc>
              <a:buNone/>
            </a:pPr>
            <a:r>
              <a:rPr lang="en-US" sz="2550" b="1" dirty="0">
                <a:solidFill>
                  <a:srgbClr val="1B2A47"/>
                </a:solidFill>
                <a:latin typeface="Palatino Linotype" pitchFamily="34" charset="0"/>
                <a:ea typeface="Palatino Linotype" pitchFamily="34" charset="-122"/>
                <a:cs typeface="Palatino Linotype" pitchFamily="34" charset="-120"/>
              </a:rPr>
              <a:t>Top of the Hill — The Ask: </a:t>
            </a:r>
            <a:pPr marL="0" indent="0" algn="l">
              <a:lnSpc>
                <a:spcPct val="109091"/>
              </a:lnSpc>
              <a:buNone/>
            </a:pPr>
            <a:r>
              <a:rPr lang="en-US" sz="2175" dirty="0">
                <a:solidFill>
                  <a:srgbClr val="5B6472"/>
                </a:solidFill>
                <a:latin typeface="Palatino Linotype" pitchFamily="34" charset="0"/>
                <a:ea typeface="Palatino Linotype" pitchFamily="34" charset="-122"/>
                <a:cs typeface="Palatino Linotype" pitchFamily="34" charset="-120"/>
              </a:rPr>
              <a:t>"Does it make sense to move forward together on this?" · "What would need to be true for you to feel comfortable engaging us?"</a:t>
            </a:r>
            <a:endParaRPr lang="en-US" sz="12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25</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4</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4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Sequence these questions from bottom of the hill to the top.</a:t>
            </a:r>
            <a:endParaRPr lang="en-US" sz="2850" dirty="0"/>
          </a:p>
        </p:txBody>
      </p:sp>
      <p:sp>
        <p:nvSpPr>
          <p:cNvPr id="6" name="Shape 4" descr="" title=""/>
          <p:cNvSpPr/>
          <p:nvPr/>
        </p:nvSpPr>
        <p:spPr>
          <a:xfrm>
            <a:off x="752475" y="3019425"/>
            <a:ext cx="16773525" cy="1190625"/>
          </a:xfrm>
          <a:prstGeom prst="roundRect">
            <a:avLst>
              <a:gd name="adj" fmla="val 12800"/>
            </a:avLst>
          </a:prstGeom>
          <a:solidFill>
            <a:srgbClr val="FFFFFF"/>
          </a:solidFill>
          <a:ln/>
        </p:spPr>
      </p:sp>
      <p:sp>
        <p:nvSpPr>
          <p:cNvPr id="7" name="Text 5" descr="" title=""/>
          <p:cNvSpPr/>
          <p:nvPr/>
        </p:nvSpPr>
        <p:spPr>
          <a:xfrm>
            <a:off x="1143000" y="3434655"/>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A. "What's the story behind how your company got started?"</a:t>
            </a:r>
            <a:endParaRPr lang="en-US" sz="2100" dirty="0"/>
          </a:p>
        </p:txBody>
      </p:sp>
      <p:sp>
        <p:nvSpPr>
          <p:cNvPr id="8" name="Shape 6" descr="" title=""/>
          <p:cNvSpPr/>
          <p:nvPr/>
        </p:nvSpPr>
        <p:spPr>
          <a:xfrm>
            <a:off x="752475" y="4410075"/>
            <a:ext cx="16773525" cy="1190625"/>
          </a:xfrm>
          <a:prstGeom prst="roundRect">
            <a:avLst>
              <a:gd name="adj" fmla="val 12800"/>
            </a:avLst>
          </a:prstGeom>
          <a:solidFill>
            <a:srgbClr val="FFFFFF"/>
          </a:solidFill>
          <a:ln/>
        </p:spPr>
      </p:sp>
      <p:sp>
        <p:nvSpPr>
          <p:cNvPr id="9" name="Text 7" descr="" title=""/>
          <p:cNvSpPr/>
          <p:nvPr/>
        </p:nvSpPr>
        <p:spPr>
          <a:xfrm>
            <a:off x="1143000" y="4825305"/>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B. "What would it take for us to be your first call the next time you're evaluating counsel?"</a:t>
            </a:r>
            <a:endParaRPr lang="en-US" sz="2100" dirty="0"/>
          </a:p>
        </p:txBody>
      </p:sp>
      <p:sp>
        <p:nvSpPr>
          <p:cNvPr id="10" name="Shape 8" descr="" title=""/>
          <p:cNvSpPr/>
          <p:nvPr/>
        </p:nvSpPr>
        <p:spPr>
          <a:xfrm>
            <a:off x="752475" y="5810250"/>
            <a:ext cx="16773525" cy="1190625"/>
          </a:xfrm>
          <a:prstGeom prst="roundRect">
            <a:avLst>
              <a:gd name="adj" fmla="val 12800"/>
            </a:avLst>
          </a:prstGeom>
          <a:solidFill>
            <a:srgbClr val="FFFFFF"/>
          </a:solidFill>
          <a:ln/>
        </p:spPr>
      </p:sp>
      <p:sp>
        <p:nvSpPr>
          <p:cNvPr id="11" name="Text 9" descr="" title=""/>
          <p:cNvSpPr/>
          <p:nvPr/>
        </p:nvSpPr>
        <p:spPr>
          <a:xfrm>
            <a:off x="1143000" y="6225480"/>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C. "How does your team typically decide between competing firms?"</a:t>
            </a:r>
            <a:endParaRPr lang="en-US" sz="2100" dirty="0"/>
          </a:p>
        </p:txBody>
      </p:sp>
      <p:sp>
        <p:nvSpPr>
          <p:cNvPr id="12" name="Shape 10" descr="" title=""/>
          <p:cNvSpPr/>
          <p:nvPr/>
        </p:nvSpPr>
        <p:spPr>
          <a:xfrm>
            <a:off x="752475" y="7334250"/>
            <a:ext cx="16773525" cy="2057400"/>
          </a:xfrm>
          <a:prstGeom prst="roundRect">
            <a:avLst>
              <a:gd name="adj" fmla="val 7407"/>
            </a:avLst>
          </a:prstGeom>
          <a:solidFill>
            <a:srgbClr val="1B2A47"/>
          </a:solidFill>
          <a:ln/>
        </p:spPr>
      </p:sp>
      <p:sp>
        <p:nvSpPr>
          <p:cNvPr id="13" name="Text 11" descr="" title=""/>
          <p:cNvSpPr/>
          <p:nvPr/>
        </p:nvSpPr>
        <p:spPr>
          <a:xfrm>
            <a:off x="1162050" y="7621191"/>
            <a:ext cx="5130046" cy="352425"/>
          </a:xfrm>
          <a:prstGeom prst="rect">
            <a:avLst/>
          </a:prstGeom>
          <a:noFill/>
          <a:ln/>
        </p:spPr>
        <p:txBody>
          <a:bodyPr wrap="square" lIns="25400" tIns="25400" rIns="25400" bIns="25400" rtlCol="0" anchor="t">
            <a:normAutofit/>
          </a:bodyPr>
          <a:lstStyle/>
          <a:p>
            <a:pPr marL="0" indent="0" algn="l">
              <a:lnSpc>
                <a:spcPct val="102273"/>
              </a:lnSpc>
              <a:buNone/>
            </a:pPr>
            <a:r>
              <a:rPr lang="en-US" sz="1875" b="1" kern="0" spc="150" dirty="0">
                <a:solidFill>
                  <a:srgbClr val="A9814B"/>
                </a:solidFill>
                <a:latin typeface="Palatino Linotype" pitchFamily="34" charset="0"/>
                <a:ea typeface="Palatino Linotype" pitchFamily="34" charset="-122"/>
                <a:cs typeface="Palatino Linotype" pitchFamily="34" charset="-120"/>
              </a:rPr>
              <a:t>ANSWER · Correct order: A → C → B</a:t>
            </a:r>
            <a:endParaRPr lang="en-US" sz="1875" dirty="0"/>
          </a:p>
        </p:txBody>
      </p:sp>
      <p:sp>
        <p:nvSpPr>
          <p:cNvPr id="14" name="Text 12" descr="" title=""/>
          <p:cNvSpPr/>
          <p:nvPr/>
        </p:nvSpPr>
        <p:spPr>
          <a:xfrm>
            <a:off x="1162050" y="8048625"/>
            <a:ext cx="16433006" cy="758130"/>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FFFFFF"/>
                </a:solidFill>
                <a:latin typeface="Palatino Linotype" pitchFamily="34" charset="0"/>
                <a:ea typeface="Palatino Linotype" pitchFamily="34" charset="-122"/>
                <a:cs typeface="Palatino Linotype" pitchFamily="34" charset="-120"/>
              </a:rPr>
              <a:t>A (bottom) is easy, non-threatening discovery. C (middle) surfaces decision criteria. B (top) is the direct ask, only earned after climbing the first two steps together.</a:t>
            </a:r>
            <a:endParaRPr lang="en-US" sz="2100" dirty="0"/>
          </a:p>
        </p:txBody>
      </p:sp>
      <p:sp>
        <p:nvSpPr>
          <p:cNvPr id="15" name="Text 1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6" name="Text 1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7" name="Text 1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26</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Asking vs. Seeking Permission</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In a Meeting — Appropriate</a:t>
            </a:r>
            <a:endParaRPr lang="en-US" sz="2700" dirty="0"/>
          </a:p>
        </p:txBody>
      </p:sp>
      <p:sp>
        <p:nvSpPr>
          <p:cNvPr id="7" name="Text 5" descr="" title=""/>
          <p:cNvSpPr/>
          <p:nvPr/>
        </p:nvSpPr>
        <p:spPr>
          <a:xfrm>
            <a:off x="1162050" y="5548313"/>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5548313"/>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"Would you be open to giving us a shot on your next deal?"</a:t>
            </a:r>
            <a:endParaRPr lang="en-US" sz="2550" dirty="0"/>
          </a:p>
        </p:txBody>
      </p:sp>
      <p:sp>
        <p:nvSpPr>
          <p:cNvPr id="9" name="Text 7" descr="" title=""/>
          <p:cNvSpPr/>
          <p:nvPr/>
        </p:nvSpPr>
        <p:spPr>
          <a:xfrm>
            <a:off x="1162050" y="6824663"/>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6824663"/>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A direct, earned ask after building rapport.</a:t>
            </a:r>
            <a:endParaRPr lang="en-US" sz="2550" dirty="0"/>
          </a:p>
        </p:txBody>
      </p:sp>
      <p:sp>
        <p:nvSpPr>
          <p:cNvPr id="11" name="Shape 9" descr="" title=""/>
          <p:cNvSpPr/>
          <p:nvPr/>
        </p:nvSpPr>
        <p:spPr>
          <a:xfrm>
            <a:off x="9420225" y="2743200"/>
            <a:ext cx="8115300" cy="6791325"/>
          </a:xfrm>
          <a:prstGeom prst="roundRect">
            <a:avLst>
              <a:gd name="adj" fmla="val 2244"/>
            </a:avLst>
          </a:prstGeom>
          <a:solidFill>
            <a:srgbClr val="1B2A47"/>
          </a:solidFill>
          <a:ln/>
        </p:spPr>
      </p:sp>
      <p:sp>
        <p:nvSpPr>
          <p:cNvPr id="12" name="Text 10"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FFFFFF"/>
                </a:solidFill>
                <a:latin typeface="Palatino Linotype" pitchFamily="34" charset="0"/>
                <a:ea typeface="Palatino Linotype" pitchFamily="34" charset="-122"/>
                <a:cs typeface="Palatino Linotype" pitchFamily="34" charset="-120"/>
              </a:rPr>
              <a:t>In an Email — Inappropriate</a:t>
            </a:r>
            <a:endParaRPr lang="en-US" sz="2700" dirty="0"/>
          </a:p>
        </p:txBody>
      </p:sp>
      <p:sp>
        <p:nvSpPr>
          <p:cNvPr id="13" name="Text 11" descr="" title=""/>
          <p:cNvSpPr/>
          <p:nvPr/>
        </p:nvSpPr>
        <p:spPr>
          <a:xfrm>
            <a:off x="9829800" y="5548313"/>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4" name="Text 12" descr="" title=""/>
          <p:cNvSpPr/>
          <p:nvPr/>
        </p:nvSpPr>
        <p:spPr>
          <a:xfrm>
            <a:off x="10287000" y="5548313"/>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"Would you be open to a quick call to discuss how we might help?"</a:t>
            </a:r>
            <a:endParaRPr lang="en-US" sz="2550" dirty="0"/>
          </a:p>
        </p:txBody>
      </p:sp>
      <p:sp>
        <p:nvSpPr>
          <p:cNvPr id="15" name="Text 13" descr="" title=""/>
          <p:cNvSpPr/>
          <p:nvPr/>
        </p:nvSpPr>
        <p:spPr>
          <a:xfrm>
            <a:off x="9829800" y="6824663"/>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6" name="Text 14" descr="" title=""/>
          <p:cNvSpPr/>
          <p:nvPr/>
        </p:nvSpPr>
        <p:spPr>
          <a:xfrm>
            <a:off x="10287000" y="6824663"/>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Permission-seeking, subordinate framing.</a:t>
            </a:r>
            <a:endParaRPr lang="en-US" sz="255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27</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Common Errors in Pitching</a:t>
            </a:r>
            <a:endParaRPr lang="en-US" sz="4500" dirty="0"/>
          </a:p>
        </p:txBody>
      </p:sp>
      <p:sp>
        <p:nvSpPr>
          <p:cNvPr id="5" name="Text 3" descr="" title=""/>
          <p:cNvSpPr/>
          <p:nvPr/>
        </p:nvSpPr>
        <p:spPr>
          <a:xfrm>
            <a:off x="819150" y="2952750"/>
            <a:ext cx="381000" cy="488156"/>
          </a:xfrm>
          <a:prstGeom prst="rect">
            <a:avLst/>
          </a:prstGeom>
          <a:noFill/>
          <a:ln/>
        </p:spPr>
        <p:txBody>
          <a:bodyPr wrap="square" lIns="25400" tIns="25400" rIns="25400" bIns="25400" rtlCol="0" anchor="t">
            <a:normAutofit/>
          </a:bodyPr>
          <a:lstStyle/>
          <a:p>
            <a:pPr marL="0" indent="0" algn="l">
              <a:lnSpc>
                <a:spcPct val="10053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6" name="Text 4" descr="" title=""/>
          <p:cNvSpPr/>
          <p:nvPr/>
        </p:nvSpPr>
        <p:spPr>
          <a:xfrm>
            <a:off x="1238250" y="2952750"/>
            <a:ext cx="16707707" cy="488156"/>
          </a:xfrm>
          <a:prstGeom prst="rect">
            <a:avLst/>
          </a:prstGeom>
          <a:noFill/>
          <a:ln/>
        </p:spPr>
        <p:txBody>
          <a:bodyPr wrap="square" lIns="25400" tIns="25400" rIns="25400" bIns="25400" rtlCol="0" anchor="t">
            <a:normAutofit/>
          </a:bodyPr>
          <a:lstStyle/>
          <a:p>
            <a:pPr marL="0" indent="0" algn="l">
              <a:lnSpc>
                <a:spcPct val="98182"/>
              </a:lnSpc>
              <a:buNone/>
            </a:pPr>
            <a:r>
              <a:rPr lang="en-US" sz="2625" dirty="0">
                <a:solidFill>
                  <a:srgbClr val="0A0A0A"/>
                </a:solidFill>
                <a:latin typeface="Palatino Linotype" pitchFamily="34" charset="0"/>
                <a:ea typeface="Palatino Linotype" pitchFamily="34" charset="-122"/>
                <a:cs typeface="Palatino Linotype" pitchFamily="34" charset="-120"/>
              </a:rPr>
              <a:t>Starting without context: Jumping into detail before establishing the frame.</a:t>
            </a:r>
            <a:endParaRPr lang="en-US" sz="2625" dirty="0"/>
          </a:p>
        </p:txBody>
      </p:sp>
      <p:sp>
        <p:nvSpPr>
          <p:cNvPr id="7" name="Text 5" descr="" title=""/>
          <p:cNvSpPr/>
          <p:nvPr/>
        </p:nvSpPr>
        <p:spPr>
          <a:xfrm>
            <a:off x="819150" y="3745706"/>
            <a:ext cx="381000" cy="488156"/>
          </a:xfrm>
          <a:prstGeom prst="rect">
            <a:avLst/>
          </a:prstGeom>
          <a:noFill/>
          <a:ln/>
        </p:spPr>
        <p:txBody>
          <a:bodyPr wrap="square" lIns="25400" tIns="25400" rIns="25400" bIns="25400" rtlCol="0" anchor="t">
            <a:normAutofit/>
          </a:bodyPr>
          <a:lstStyle/>
          <a:p>
            <a:pPr marL="0" indent="0" algn="l">
              <a:lnSpc>
                <a:spcPct val="10053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8" name="Text 6" descr="" title=""/>
          <p:cNvSpPr/>
          <p:nvPr/>
        </p:nvSpPr>
        <p:spPr>
          <a:xfrm>
            <a:off x="1238250" y="3745706"/>
            <a:ext cx="16707707" cy="488156"/>
          </a:xfrm>
          <a:prstGeom prst="rect">
            <a:avLst/>
          </a:prstGeom>
          <a:noFill/>
          <a:ln/>
        </p:spPr>
        <p:txBody>
          <a:bodyPr wrap="square" lIns="25400" tIns="25400" rIns="25400" bIns="25400" rtlCol="0" anchor="t">
            <a:normAutofit/>
          </a:bodyPr>
          <a:lstStyle/>
          <a:p>
            <a:pPr marL="0" indent="0" algn="l">
              <a:lnSpc>
                <a:spcPct val="98182"/>
              </a:lnSpc>
              <a:buNone/>
            </a:pPr>
            <a:r>
              <a:rPr lang="en-US" sz="2625" dirty="0">
                <a:solidFill>
                  <a:srgbClr val="0A0A0A"/>
                </a:solidFill>
                <a:latin typeface="Palatino Linotype" pitchFamily="34" charset="0"/>
                <a:ea typeface="Palatino Linotype" pitchFamily="34" charset="-122"/>
                <a:cs typeface="Palatino Linotype" pitchFamily="34" charset="-120"/>
              </a:rPr>
              <a:t>Over-educating: Explaining methodology before building rapport.</a:t>
            </a:r>
            <a:endParaRPr lang="en-US" sz="2625" dirty="0"/>
          </a:p>
        </p:txBody>
      </p:sp>
      <p:sp>
        <p:nvSpPr>
          <p:cNvPr id="9" name="Text 7" descr="" title=""/>
          <p:cNvSpPr/>
          <p:nvPr/>
        </p:nvSpPr>
        <p:spPr>
          <a:xfrm>
            <a:off x="819150" y="4538663"/>
            <a:ext cx="381000" cy="488156"/>
          </a:xfrm>
          <a:prstGeom prst="rect">
            <a:avLst/>
          </a:prstGeom>
          <a:noFill/>
          <a:ln/>
        </p:spPr>
        <p:txBody>
          <a:bodyPr wrap="square" lIns="25400" tIns="25400" rIns="25400" bIns="25400" rtlCol="0" anchor="t">
            <a:normAutofit/>
          </a:bodyPr>
          <a:lstStyle/>
          <a:p>
            <a:pPr marL="0" indent="0" algn="l">
              <a:lnSpc>
                <a:spcPct val="10053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0" name="Text 8" descr="" title=""/>
          <p:cNvSpPr/>
          <p:nvPr/>
        </p:nvSpPr>
        <p:spPr>
          <a:xfrm>
            <a:off x="1238250" y="4538663"/>
            <a:ext cx="16707707" cy="488156"/>
          </a:xfrm>
          <a:prstGeom prst="rect">
            <a:avLst/>
          </a:prstGeom>
          <a:noFill/>
          <a:ln/>
        </p:spPr>
        <p:txBody>
          <a:bodyPr wrap="square" lIns="25400" tIns="25400" rIns="25400" bIns="25400" rtlCol="0" anchor="t">
            <a:normAutofit/>
          </a:bodyPr>
          <a:lstStyle/>
          <a:p>
            <a:pPr marL="0" indent="0" algn="l">
              <a:lnSpc>
                <a:spcPct val="98182"/>
              </a:lnSpc>
              <a:buNone/>
            </a:pPr>
            <a:r>
              <a:rPr lang="en-US" sz="2625" dirty="0">
                <a:solidFill>
                  <a:srgbClr val="0A0A0A"/>
                </a:solidFill>
                <a:latin typeface="Palatino Linotype" pitchFamily="34" charset="0"/>
                <a:ea typeface="Palatino Linotype" pitchFamily="34" charset="-122"/>
                <a:cs typeface="Palatino Linotype" pitchFamily="34" charset="-120"/>
              </a:rPr>
              <a:t>Burying the lead: Forgetting to articulate what you actually want.</a:t>
            </a:r>
            <a:endParaRPr lang="en-US" sz="2625" dirty="0"/>
          </a:p>
        </p:txBody>
      </p:sp>
      <p:sp>
        <p:nvSpPr>
          <p:cNvPr id="11" name="Text 9" descr="" title=""/>
          <p:cNvSpPr/>
          <p:nvPr/>
        </p:nvSpPr>
        <p:spPr>
          <a:xfrm>
            <a:off x="819150" y="5331619"/>
            <a:ext cx="381000" cy="488156"/>
          </a:xfrm>
          <a:prstGeom prst="rect">
            <a:avLst/>
          </a:prstGeom>
          <a:noFill/>
          <a:ln/>
        </p:spPr>
        <p:txBody>
          <a:bodyPr wrap="square" lIns="25400" tIns="25400" rIns="25400" bIns="25400" rtlCol="0" anchor="t">
            <a:normAutofit/>
          </a:bodyPr>
          <a:lstStyle/>
          <a:p>
            <a:pPr marL="0" indent="0" algn="l">
              <a:lnSpc>
                <a:spcPct val="100532"/>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2" name="Text 10" descr="" title=""/>
          <p:cNvSpPr/>
          <p:nvPr/>
        </p:nvSpPr>
        <p:spPr>
          <a:xfrm>
            <a:off x="1238250" y="5331619"/>
            <a:ext cx="16707707" cy="488156"/>
          </a:xfrm>
          <a:prstGeom prst="rect">
            <a:avLst/>
          </a:prstGeom>
          <a:noFill/>
          <a:ln/>
        </p:spPr>
        <p:txBody>
          <a:bodyPr wrap="square" lIns="25400" tIns="25400" rIns="25400" bIns="25400" rtlCol="0" anchor="t">
            <a:normAutofit/>
          </a:bodyPr>
          <a:lstStyle/>
          <a:p>
            <a:pPr marL="0" indent="0" algn="l">
              <a:lnSpc>
                <a:spcPct val="98182"/>
              </a:lnSpc>
              <a:buNone/>
            </a:pPr>
            <a:r>
              <a:rPr lang="en-US" sz="2625" dirty="0">
                <a:solidFill>
                  <a:srgbClr val="0A0A0A"/>
                </a:solidFill>
                <a:latin typeface="Palatino Linotype" pitchFamily="34" charset="0"/>
                <a:ea typeface="Palatino Linotype" pitchFamily="34" charset="-122"/>
                <a:cs typeface="Palatino Linotype" pitchFamily="34" charset="-120"/>
              </a:rPr>
              <a:t>Ending vaguely: Leaving the buyer unsure of next steps.</a:t>
            </a:r>
            <a:endParaRPr lang="en-US" sz="2625" dirty="0"/>
          </a:p>
        </p:txBody>
      </p:sp>
      <p:sp>
        <p:nvSpPr>
          <p:cNvPr id="13" name="Shape 11" descr="" title=""/>
          <p:cNvSpPr/>
          <p:nvPr/>
        </p:nvSpPr>
        <p:spPr>
          <a:xfrm>
            <a:off x="752475" y="6286500"/>
            <a:ext cx="16773525" cy="1162050"/>
          </a:xfrm>
          <a:prstGeom prst="roundRect">
            <a:avLst>
              <a:gd name="adj" fmla="val 13115"/>
            </a:avLst>
          </a:prstGeom>
          <a:solidFill>
            <a:srgbClr val="F5F5F4"/>
          </a:solidFill>
          <a:ln/>
        </p:spPr>
      </p:sp>
      <p:sp>
        <p:nvSpPr>
          <p:cNvPr id="14" name="Text 12" descr="" title=""/>
          <p:cNvSpPr/>
          <p:nvPr/>
        </p:nvSpPr>
        <p:spPr>
          <a:xfrm>
            <a:off x="1162050" y="6687443"/>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1B2A47"/>
                </a:solidFill>
                <a:latin typeface="Palatino Linotype" pitchFamily="34" charset="0"/>
                <a:ea typeface="Palatino Linotype" pitchFamily="34" charset="-122"/>
                <a:cs typeface="Palatino Linotype" pitchFamily="34" charset="-120"/>
              </a:rPr>
              <a:t>Correction: Lead with clarity, balance expertise with empathy, and end with confident direction.</a:t>
            </a:r>
            <a:endParaRPr lang="en-US" sz="2100" dirty="0"/>
          </a:p>
        </p:txBody>
      </p:sp>
      <p:sp>
        <p:nvSpPr>
          <p:cNvPr id="15" name="Text 1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6" name="Text 1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7" name="Text 1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28</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352145"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D9C79E"/>
                </a:solidFill>
                <a:latin typeface="Palatino Linotype" pitchFamily="34" charset="0"/>
                <a:ea typeface="Palatino Linotype" pitchFamily="34" charset="-122"/>
                <a:cs typeface="Palatino Linotype" pitchFamily="34" charset="-120"/>
              </a:rPr>
              <a:t>MODULE 4 · PITCHING</a:t>
            </a:r>
            <a:endParaRPr lang="en-US" sz="1800" dirty="0"/>
          </a:p>
        </p:txBody>
      </p:sp>
      <p:sp>
        <p:nvSpPr>
          <p:cNvPr id="4" name="Shape 2" descr="" title=""/>
          <p:cNvSpPr/>
          <p:nvPr/>
        </p:nvSpPr>
        <p:spPr>
          <a:xfrm>
            <a:off x="68580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5" name="Shape 3" descr="" title=""/>
          <p:cNvSpPr/>
          <p:nvPr/>
        </p:nvSpPr>
        <p:spPr>
          <a:xfrm>
            <a:off x="123825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6" name="Text 4" descr="" title=""/>
          <p:cNvSpPr/>
          <p:nvPr/>
        </p:nvSpPr>
        <p:spPr>
          <a:xfrm>
            <a:off x="1238250" y="2166491"/>
            <a:ext cx="3353619" cy="371475"/>
          </a:xfrm>
          <a:prstGeom prst="rect">
            <a:avLst/>
          </a:prstGeom>
          <a:noFill/>
          <a:ln/>
        </p:spPr>
        <p:txBody>
          <a:bodyPr wrap="square" lIns="25400" tIns="25400" rIns="25400" bIns="25400" rtlCol="0" anchor="t">
            <a:normAutofit/>
          </a:bodyPr>
          <a:lstStyle/>
          <a:p>
            <a:pPr marL="0" indent="0" algn="l">
              <a:lnSpc>
                <a:spcPct val="100286"/>
              </a:lnSpc>
              <a:buNone/>
            </a:pPr>
            <a:r>
              <a:rPr lang="en-US" sz="1950" b="1" kern="0" spc="300" dirty="0">
                <a:solidFill>
                  <a:srgbClr val="D9C79E"/>
                </a:solidFill>
                <a:latin typeface="Palatino Linotype" pitchFamily="34" charset="0"/>
                <a:ea typeface="Palatino Linotype" pitchFamily="34" charset="-122"/>
                <a:cs typeface="Palatino Linotype" pitchFamily="34" charset="-120"/>
              </a:rPr>
              <a:t>SUCCESS MEASURE</a:t>
            </a:r>
            <a:endParaRPr lang="en-US" sz="1950" dirty="0"/>
          </a:p>
        </p:txBody>
      </p:sp>
      <p:sp>
        <p:nvSpPr>
          <p:cNvPr id="7" name="Text 5" descr="" title=""/>
          <p:cNvSpPr/>
          <p:nvPr/>
        </p:nvSpPr>
        <p:spPr>
          <a:xfrm>
            <a:off x="1238250" y="3832920"/>
            <a:ext cx="16109252" cy="811411"/>
          </a:xfrm>
          <a:prstGeom prst="rect">
            <a:avLst/>
          </a:prstGeom>
          <a:noFill/>
          <a:ln/>
        </p:spPr>
        <p:txBody>
          <a:bodyPr wrap="square" lIns="25400" tIns="25400" rIns="25400" bIns="25400" rtlCol="0" anchor="t">
            <a:normAutofit/>
          </a:bodyPr>
          <a:lstStyle/>
          <a:p>
            <a:pPr marL="0" indent="0" algn="l">
              <a:lnSpc>
                <a:spcPct val="105455"/>
              </a:lnSpc>
              <a:buNone/>
            </a:pPr>
            <a:r>
              <a:rPr lang="en-US" sz="4200" b="1" i="1" dirty="0">
                <a:solidFill>
                  <a:srgbClr val="FFFFFF"/>
                </a:solidFill>
                <a:latin typeface="Palatino Linotype" pitchFamily="34" charset="0"/>
                <a:ea typeface="Palatino Linotype" pitchFamily="34" charset="-122"/>
                <a:cs typeface="Palatino Linotype" pitchFamily="34" charset="-120"/>
              </a:rPr>
              <a:t>This person understands me, and I trust them.</a:t>
            </a:r>
            <a:endParaRPr lang="en-US" sz="4200" dirty="0"/>
          </a:p>
        </p:txBody>
      </p:sp>
      <p:sp>
        <p:nvSpPr>
          <p:cNvPr id="8" name="Text 6" descr="" title=""/>
          <p:cNvSpPr/>
          <p:nvPr/>
        </p:nvSpPr>
        <p:spPr>
          <a:xfrm>
            <a:off x="1238250" y="6179344"/>
            <a:ext cx="15540228" cy="423863"/>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A9814B"/>
                </a:solidFill>
                <a:latin typeface="Palatino Linotype" pitchFamily="34" charset="0"/>
                <a:ea typeface="Palatino Linotype" pitchFamily="34" charset="-122"/>
                <a:cs typeface="Palatino Linotype" pitchFamily="34" charset="-120"/>
              </a:rPr>
              <a:t>The Real Measure of a Good Pitch</a:t>
            </a:r>
            <a:endParaRPr lang="en-US" sz="2250" dirty="0"/>
          </a:p>
        </p:txBody>
      </p:sp>
      <p:sp>
        <p:nvSpPr>
          <p:cNvPr id="9" name="Shape 7" descr="" title=""/>
          <p:cNvSpPr/>
          <p:nvPr/>
        </p:nvSpPr>
        <p:spPr>
          <a:xfrm>
            <a:off x="1238250" y="6877050"/>
            <a:ext cx="15773400" cy="2400300"/>
          </a:xfrm>
          <a:prstGeom prst="roundRect">
            <a:avLst>
              <a:gd name="adj" fmla="val 6349"/>
            </a:avLst>
          </a:prstGeom>
          <a:solidFill>
            <a:srgbClr val="111C30"/>
          </a:solidFill>
          <a:ln/>
        </p:spPr>
      </p:sp>
      <p:sp>
        <p:nvSpPr>
          <p:cNvPr id="10" name="Text 8" descr="" title=""/>
          <p:cNvSpPr/>
          <p:nvPr/>
        </p:nvSpPr>
        <p:spPr>
          <a:xfrm>
            <a:off x="1581150" y="7676704"/>
            <a:ext cx="15540228" cy="839093"/>
          </a:xfrm>
          <a:prstGeom prst="rect">
            <a:avLst/>
          </a:prstGeom>
          <a:noFill/>
          <a:ln/>
        </p:spPr>
        <p:txBody>
          <a:bodyPr wrap="square" lIns="25400" tIns="25400" rIns="25400" bIns="25400" rtlCol="0" anchor="t">
            <a:normAutofit/>
          </a:bodyPr>
          <a:lstStyle/>
          <a:p>
            <a:pPr marL="0" indent="0" algn="l">
              <a:lnSpc>
                <a:spcPct val="105455"/>
              </a:lnSpc>
              <a:buNone/>
            </a:pPr>
            <a:r>
              <a:rPr lang="en-US" sz="2175" dirty="0">
                <a:solidFill>
                  <a:srgbClr val="F5F5F4"/>
                </a:solidFill>
                <a:latin typeface="Palatino Linotype" pitchFamily="34" charset="0"/>
                <a:ea typeface="Palatino Linotype" pitchFamily="34" charset="-122"/>
                <a:cs typeface="Palatino Linotype" pitchFamily="34" charset="-120"/>
              </a:rPr>
              <a:t>The success of a pitch is not measured by an immediate "yes," but by whether the buyer leaves believing this. When that belief takes root, the next yes becomes inevitable.</a:t>
            </a:r>
            <a:endParaRPr lang="en-US" sz="217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29</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Closing Discipline</a:t>
            </a:r>
            <a:endParaRPr lang="en-US" sz="4500" dirty="0"/>
          </a:p>
        </p:txBody>
      </p:sp>
      <p:sp>
        <p:nvSpPr>
          <p:cNvPr id="5" name="Shape 3" descr="" title=""/>
          <p:cNvSpPr/>
          <p:nvPr/>
        </p:nvSpPr>
        <p:spPr>
          <a:xfrm>
            <a:off x="752475" y="2743200"/>
            <a:ext cx="5314950" cy="6791325"/>
          </a:xfrm>
          <a:prstGeom prst="roundRect">
            <a:avLst>
              <a:gd name="adj" fmla="val 2867"/>
            </a:avLst>
          </a:prstGeom>
          <a:solidFill>
            <a:srgbClr val="F5F5F4"/>
          </a:solidFill>
          <a:ln/>
        </p:spPr>
      </p:sp>
      <p:sp>
        <p:nvSpPr>
          <p:cNvPr id="6" name="Shape 4" descr="" title=""/>
          <p:cNvSpPr/>
          <p:nvPr/>
        </p:nvSpPr>
        <p:spPr>
          <a:xfrm>
            <a:off x="2514600" y="2924175"/>
            <a:ext cx="1809750" cy="1809750"/>
          </a:xfrm>
          <a:prstGeom prst="ellipse">
            <a:avLst/>
          </a:prstGeom>
          <a:solidFill>
            <a:srgbClr val="1B2A47"/>
          </a:solidFill>
          <a:ln/>
        </p:spPr>
      </p:sp>
      <p:sp>
        <p:nvSpPr>
          <p:cNvPr id="7" name="Text 5" descr="" title=""/>
          <p:cNvSpPr/>
          <p:nvPr/>
        </p:nvSpPr>
        <p:spPr>
          <a:xfrm>
            <a:off x="2476500" y="3301901"/>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1</a:t>
            </a:r>
            <a:endParaRPr lang="en-US" sz="6150" dirty="0"/>
          </a:p>
        </p:txBody>
      </p:sp>
      <p:sp>
        <p:nvSpPr>
          <p:cNvPr id="8" name="Text 6" descr="" title=""/>
          <p:cNvSpPr/>
          <p:nvPr/>
        </p:nvSpPr>
        <p:spPr>
          <a:xfrm>
            <a:off x="2580114" y="5749826"/>
            <a:ext cx="1669197"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Objective</a:t>
            </a:r>
            <a:endParaRPr lang="en-US" sz="2700" dirty="0"/>
          </a:p>
        </p:txBody>
      </p:sp>
      <p:sp>
        <p:nvSpPr>
          <p:cNvPr id="9" name="Text 7" descr="" title=""/>
          <p:cNvSpPr/>
          <p:nvPr/>
        </p:nvSpPr>
        <p:spPr>
          <a:xfrm>
            <a:off x="957120" y="6389787"/>
            <a:ext cx="4915186" cy="2109788"/>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Maintain disciplined, thoughtful contact after the pitch. The goal is not pressure — it is to stay present, relevant, and helpful until timing aligns.</a:t>
            </a:r>
            <a:endParaRPr lang="en-US" sz="2250" dirty="0"/>
          </a:p>
        </p:txBody>
      </p:sp>
      <p:sp>
        <p:nvSpPr>
          <p:cNvPr id="10" name="Shape 8" descr="" title=""/>
          <p:cNvSpPr/>
          <p:nvPr/>
        </p:nvSpPr>
        <p:spPr>
          <a:xfrm>
            <a:off x="6486525" y="2743200"/>
            <a:ext cx="5314950" cy="6791325"/>
          </a:xfrm>
          <a:prstGeom prst="roundRect">
            <a:avLst>
              <a:gd name="adj" fmla="val 2867"/>
            </a:avLst>
          </a:prstGeom>
          <a:solidFill>
            <a:srgbClr val="F5F5F4"/>
          </a:solidFill>
          <a:ln/>
        </p:spPr>
      </p:sp>
      <p:sp>
        <p:nvSpPr>
          <p:cNvPr id="11" name="Shape 9" descr="" title=""/>
          <p:cNvSpPr/>
          <p:nvPr/>
        </p:nvSpPr>
        <p:spPr>
          <a:xfrm>
            <a:off x="8239125" y="2924175"/>
            <a:ext cx="1809750" cy="1809750"/>
          </a:xfrm>
          <a:prstGeom prst="ellipse">
            <a:avLst/>
          </a:prstGeom>
          <a:solidFill>
            <a:srgbClr val="1B2A47"/>
          </a:solidFill>
          <a:ln/>
        </p:spPr>
      </p:sp>
      <p:sp>
        <p:nvSpPr>
          <p:cNvPr id="12" name="Text 10" descr="" title=""/>
          <p:cNvSpPr/>
          <p:nvPr/>
        </p:nvSpPr>
        <p:spPr>
          <a:xfrm>
            <a:off x="8201025" y="3301901"/>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2</a:t>
            </a:r>
            <a:endParaRPr lang="en-US" sz="6150" dirty="0"/>
          </a:p>
        </p:txBody>
      </p:sp>
      <p:sp>
        <p:nvSpPr>
          <p:cNvPr id="13" name="Text 11" descr="" title=""/>
          <p:cNvSpPr/>
          <p:nvPr/>
        </p:nvSpPr>
        <p:spPr>
          <a:xfrm>
            <a:off x="7732477" y="5956995"/>
            <a:ext cx="2813372"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CRM Discipline</a:t>
            </a:r>
            <a:endParaRPr lang="en-US" sz="2700" dirty="0"/>
          </a:p>
        </p:txBody>
      </p:sp>
      <p:sp>
        <p:nvSpPr>
          <p:cNvPr id="14" name="Text 12" descr="" title=""/>
          <p:cNvSpPr/>
          <p:nvPr/>
        </p:nvSpPr>
        <p:spPr>
          <a:xfrm>
            <a:off x="6681645" y="6596955"/>
            <a:ext cx="4915186" cy="1695450"/>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Maintain an active prospects list in your client relationship management (CRM) system, and track every outreach, touch, and response.</a:t>
            </a:r>
            <a:endParaRPr lang="en-US" sz="2250" dirty="0"/>
          </a:p>
        </p:txBody>
      </p:sp>
      <p:sp>
        <p:nvSpPr>
          <p:cNvPr id="15" name="Shape 13" descr="" title=""/>
          <p:cNvSpPr/>
          <p:nvPr/>
        </p:nvSpPr>
        <p:spPr>
          <a:xfrm>
            <a:off x="12211050" y="2743200"/>
            <a:ext cx="5314950" cy="6791325"/>
          </a:xfrm>
          <a:prstGeom prst="roundRect">
            <a:avLst>
              <a:gd name="adj" fmla="val 2867"/>
            </a:avLst>
          </a:prstGeom>
          <a:solidFill>
            <a:srgbClr val="F5F5F4"/>
          </a:solidFill>
          <a:ln/>
        </p:spPr>
      </p:sp>
      <p:sp>
        <p:nvSpPr>
          <p:cNvPr id="16" name="Shape 14" descr="" title=""/>
          <p:cNvSpPr/>
          <p:nvPr/>
        </p:nvSpPr>
        <p:spPr>
          <a:xfrm>
            <a:off x="13973175" y="2924175"/>
            <a:ext cx="1809750" cy="1809750"/>
          </a:xfrm>
          <a:prstGeom prst="ellipse">
            <a:avLst/>
          </a:prstGeom>
          <a:solidFill>
            <a:srgbClr val="1B2A47"/>
          </a:solidFill>
          <a:ln/>
        </p:spPr>
      </p:sp>
      <p:sp>
        <p:nvSpPr>
          <p:cNvPr id="17" name="Text 15" descr="" title=""/>
          <p:cNvSpPr/>
          <p:nvPr/>
        </p:nvSpPr>
        <p:spPr>
          <a:xfrm>
            <a:off x="13935075" y="3301901"/>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3</a:t>
            </a:r>
            <a:endParaRPr lang="en-US" sz="6150" dirty="0"/>
          </a:p>
        </p:txBody>
      </p:sp>
      <p:sp>
        <p:nvSpPr>
          <p:cNvPr id="18" name="Text 16" descr="" title=""/>
          <p:cNvSpPr/>
          <p:nvPr/>
        </p:nvSpPr>
        <p:spPr>
          <a:xfrm>
            <a:off x="12757324" y="5749826"/>
            <a:ext cx="4231928" cy="449461"/>
          </a:xfrm>
          <a:prstGeom prst="rect">
            <a:avLst/>
          </a:prstGeom>
          <a:noFill/>
          <a:ln/>
        </p:spPr>
        <p:txBody>
          <a:bodyPr wrap="square" lIns="25400" tIns="25400" rIns="25400" bIns="25400" rtlCol="0" anchor="t">
            <a:normAutofit/>
          </a:bodyPr>
          <a:lstStyle/>
          <a:p>
            <a:pPr marL="0" indent="0" algn="ctr">
              <a:lnSpc>
                <a:spcPct val="88163"/>
              </a:lnSpc>
              <a:buNone/>
            </a:pPr>
            <a:r>
              <a:rPr lang="en-US" sz="2700" b="1" dirty="0">
                <a:solidFill>
                  <a:srgbClr val="1B2A47"/>
                </a:solidFill>
                <a:latin typeface="Palatino Linotype" pitchFamily="34" charset="0"/>
                <a:ea typeface="Palatino Linotype" pitchFamily="34" charset="-122"/>
                <a:cs typeface="Palatino Linotype" pitchFamily="34" charset="-120"/>
              </a:rPr>
              <a:t>Requalify or Walk Away</a:t>
            </a:r>
            <a:endParaRPr lang="en-US" sz="2700" dirty="0"/>
          </a:p>
        </p:txBody>
      </p:sp>
      <p:sp>
        <p:nvSpPr>
          <p:cNvPr id="19" name="Text 17" descr="" title=""/>
          <p:cNvSpPr/>
          <p:nvPr/>
        </p:nvSpPr>
        <p:spPr>
          <a:xfrm>
            <a:off x="12415695" y="6389787"/>
            <a:ext cx="4915186" cy="2109788"/>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Requalify every 10 to 12 weeks: Is this still a live opportunity? Has the buyer shown any behavioral signal of interest or fit? If not, disengage gracefully.</a:t>
            </a:r>
            <a:endParaRPr lang="en-US" sz="2250" dirty="0"/>
          </a:p>
        </p:txBody>
      </p:sp>
      <p:sp>
        <p:nvSpPr>
          <p:cNvPr id="20" name="Text 18"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1" name="Text 19"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2" name="Text 20"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30</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Whales and Minnows</a:t>
            </a:r>
            <a:endParaRPr lang="en-US" sz="4500" dirty="0"/>
          </a:p>
        </p:txBody>
      </p:sp>
      <p:sp>
        <p:nvSpPr>
          <p:cNvPr id="5" name="Shape 3" descr="" title=""/>
          <p:cNvSpPr/>
          <p:nvPr/>
        </p:nvSpPr>
        <p:spPr>
          <a:xfrm>
            <a:off x="752475" y="2743200"/>
            <a:ext cx="8115300" cy="5419725"/>
          </a:xfrm>
          <a:prstGeom prst="roundRect">
            <a:avLst>
              <a:gd name="adj" fmla="val 2812"/>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Whales</a:t>
            </a:r>
            <a:endParaRPr lang="en-US" sz="2700" dirty="0"/>
          </a:p>
        </p:txBody>
      </p:sp>
      <p:sp>
        <p:nvSpPr>
          <p:cNvPr id="7" name="Text 5" descr="" title=""/>
          <p:cNvSpPr/>
          <p:nvPr/>
        </p:nvSpPr>
        <p:spPr>
          <a:xfrm>
            <a:off x="1162050" y="4133850"/>
            <a:ext cx="381000" cy="149542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4133850"/>
            <a:ext cx="7034308" cy="149542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High lifetime value, repeat potential — institutional investors, independent sponsors, clients with recurring needs.</a:t>
            </a:r>
            <a:endParaRPr lang="en-US" sz="2550" dirty="0"/>
          </a:p>
        </p:txBody>
      </p:sp>
      <p:sp>
        <p:nvSpPr>
          <p:cNvPr id="9" name="Text 7" descr="" title=""/>
          <p:cNvSpPr/>
          <p:nvPr/>
        </p:nvSpPr>
        <p:spPr>
          <a:xfrm>
            <a:off x="1162050" y="5895975"/>
            <a:ext cx="381000" cy="149542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5895975"/>
            <a:ext cx="7034308" cy="149542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Require relationship architecture: deliver value generously, then define reciprocity expectations.</a:t>
            </a:r>
            <a:endParaRPr lang="en-US" sz="2550" dirty="0"/>
          </a:p>
        </p:txBody>
      </p:sp>
      <p:sp>
        <p:nvSpPr>
          <p:cNvPr id="11" name="Shape 9" descr="" title=""/>
          <p:cNvSpPr/>
          <p:nvPr/>
        </p:nvSpPr>
        <p:spPr>
          <a:xfrm>
            <a:off x="9420225" y="2743200"/>
            <a:ext cx="8115300" cy="5419725"/>
          </a:xfrm>
          <a:prstGeom prst="roundRect">
            <a:avLst>
              <a:gd name="adj" fmla="val 2812"/>
            </a:avLst>
          </a:prstGeom>
          <a:solidFill>
            <a:srgbClr val="1B2A47"/>
          </a:solidFill>
          <a:ln/>
        </p:spPr>
      </p:sp>
      <p:sp>
        <p:nvSpPr>
          <p:cNvPr id="12" name="Text 10"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FFFFFF"/>
                </a:solidFill>
                <a:latin typeface="Palatino Linotype" pitchFamily="34" charset="0"/>
                <a:ea typeface="Palatino Linotype" pitchFamily="34" charset="-122"/>
                <a:cs typeface="Palatino Linotype" pitchFamily="34" charset="-120"/>
              </a:rPr>
              <a:t>Minnows</a:t>
            </a:r>
            <a:endParaRPr lang="en-US" sz="2700" dirty="0"/>
          </a:p>
        </p:txBody>
      </p:sp>
      <p:sp>
        <p:nvSpPr>
          <p:cNvPr id="13" name="Text 11" descr="" title=""/>
          <p:cNvSpPr/>
          <p:nvPr/>
        </p:nvSpPr>
        <p:spPr>
          <a:xfrm>
            <a:off x="9829800" y="4619625"/>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4" name="Text 12" descr="" title=""/>
          <p:cNvSpPr/>
          <p:nvPr/>
        </p:nvSpPr>
        <p:spPr>
          <a:xfrm>
            <a:off x="10287000" y="4619625"/>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One-time opportunities with limited expansion potential.</a:t>
            </a:r>
            <a:endParaRPr lang="en-US" sz="2550" dirty="0"/>
          </a:p>
        </p:txBody>
      </p:sp>
      <p:sp>
        <p:nvSpPr>
          <p:cNvPr id="15" name="Text 13" descr="" title=""/>
          <p:cNvSpPr/>
          <p:nvPr/>
        </p:nvSpPr>
        <p:spPr>
          <a:xfrm>
            <a:off x="9829800" y="5895975"/>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6" name="Text 14" descr="" title=""/>
          <p:cNvSpPr/>
          <p:nvPr/>
        </p:nvSpPr>
        <p:spPr>
          <a:xfrm>
            <a:off x="10287000" y="5895975"/>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Warrant efficient execution: deliver value when easy, stay visible, don't overinvest.</a:t>
            </a:r>
            <a:endParaRPr lang="en-US" sz="2550" dirty="0"/>
          </a:p>
        </p:txBody>
      </p:sp>
      <p:sp>
        <p:nvSpPr>
          <p:cNvPr id="17" name="Shape 15" descr="" title=""/>
          <p:cNvSpPr/>
          <p:nvPr/>
        </p:nvSpPr>
        <p:spPr>
          <a:xfrm>
            <a:off x="752475" y="8362950"/>
            <a:ext cx="16773525" cy="1095375"/>
          </a:xfrm>
          <a:prstGeom prst="roundRect">
            <a:avLst>
              <a:gd name="adj" fmla="val 13913"/>
            </a:avLst>
          </a:prstGeom>
          <a:solidFill>
            <a:srgbClr val="F5F5F4"/>
          </a:solidFill>
          <a:ln/>
        </p:spPr>
      </p:sp>
      <p:sp>
        <p:nvSpPr>
          <p:cNvPr id="18" name="Text 16" descr="" title=""/>
          <p:cNvSpPr/>
          <p:nvPr/>
        </p:nvSpPr>
        <p:spPr>
          <a:xfrm>
            <a:off x="1162050" y="8737104"/>
            <a:ext cx="16433006" cy="385167"/>
          </a:xfrm>
          <a:prstGeom prst="rect">
            <a:avLst/>
          </a:prstGeom>
          <a:noFill/>
          <a:ln/>
        </p:spPr>
        <p:txBody>
          <a:bodyPr wrap="square" lIns="25400" tIns="25400" rIns="25400" bIns="25400" rtlCol="0" anchor="t">
            <a:normAutofit/>
          </a:bodyPr>
          <a:lstStyle/>
          <a:p>
            <a:pPr marL="0" indent="0" algn="l">
              <a:lnSpc>
                <a:spcPct val="98182"/>
              </a:lnSpc>
              <a:buNone/>
            </a:pPr>
            <a:r>
              <a:rPr lang="en-US" sz="2025" b="1" i="1" dirty="0">
                <a:solidFill>
                  <a:srgbClr val="1B2A47"/>
                </a:solidFill>
                <a:latin typeface="Palatino Linotype" pitchFamily="34" charset="0"/>
                <a:ea typeface="Palatino Linotype" pitchFamily="34" charset="-122"/>
                <a:cs typeface="Palatino Linotype" pitchFamily="34" charset="-120"/>
              </a:rPr>
              <a:t>"When there's mutual value flow — when you see [specific situation], I'd appreciate an introduction to [specific person]. Make sense?"</a:t>
            </a:r>
            <a:endParaRPr lang="en-US" sz="2025" dirty="0"/>
          </a:p>
        </p:txBody>
      </p:sp>
      <p:sp>
        <p:nvSpPr>
          <p:cNvPr id="19" name="Text 17"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0" name="Text 18"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1" name="Text 19"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31</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Touch Progression</a:t>
            </a:r>
            <a:endParaRPr lang="en-US" sz="4500" dirty="0"/>
          </a:p>
        </p:txBody>
      </p:sp>
      <p:sp>
        <p:nvSpPr>
          <p:cNvPr id="5" name="Text 3" descr="" title=""/>
          <p:cNvSpPr/>
          <p:nvPr/>
        </p:nvSpPr>
        <p:spPr>
          <a:xfrm>
            <a:off x="819150" y="3250406"/>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6" name="Text 4" descr="" title=""/>
          <p:cNvSpPr/>
          <p:nvPr/>
        </p:nvSpPr>
        <p:spPr>
          <a:xfrm>
            <a:off x="1295400" y="3250406"/>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Post-meeting recap with collateral.</a:t>
            </a:r>
            <a:endParaRPr lang="en-US" sz="2625" dirty="0"/>
          </a:p>
        </p:txBody>
      </p:sp>
      <p:sp>
        <p:nvSpPr>
          <p:cNvPr id="7" name="Text 5" descr="" title=""/>
          <p:cNvSpPr/>
          <p:nvPr/>
        </p:nvSpPr>
        <p:spPr>
          <a:xfrm>
            <a:off x="819150" y="4019550"/>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8" name="Text 6" descr="" title=""/>
          <p:cNvSpPr/>
          <p:nvPr/>
        </p:nvSpPr>
        <p:spPr>
          <a:xfrm>
            <a:off x="1295400" y="4019550"/>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Share a business or deal opportunity, or introduce potential investors.</a:t>
            </a:r>
            <a:endParaRPr lang="en-US" sz="2625" dirty="0"/>
          </a:p>
        </p:txBody>
      </p:sp>
      <p:sp>
        <p:nvSpPr>
          <p:cNvPr id="9" name="Text 7" descr="" title=""/>
          <p:cNvSpPr/>
          <p:nvPr/>
        </p:nvSpPr>
        <p:spPr>
          <a:xfrm>
            <a:off x="819150" y="4788694"/>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0" name="Text 8" descr="" title=""/>
          <p:cNvSpPr/>
          <p:nvPr/>
        </p:nvSpPr>
        <p:spPr>
          <a:xfrm>
            <a:off x="1295400" y="4788694"/>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Share a relevant transaction, insight, or success story.</a:t>
            </a:r>
            <a:endParaRPr lang="en-US" sz="2625" dirty="0"/>
          </a:p>
        </p:txBody>
      </p:sp>
      <p:sp>
        <p:nvSpPr>
          <p:cNvPr id="11" name="Text 9" descr="" title=""/>
          <p:cNvSpPr/>
          <p:nvPr/>
        </p:nvSpPr>
        <p:spPr>
          <a:xfrm>
            <a:off x="819150" y="5557838"/>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2" name="Text 10" descr="" title=""/>
          <p:cNvSpPr/>
          <p:nvPr/>
        </p:nvSpPr>
        <p:spPr>
          <a:xfrm>
            <a:off x="1295400" y="5557838"/>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Offer a client or vendor reference.</a:t>
            </a:r>
            <a:endParaRPr lang="en-US" sz="2625" dirty="0"/>
          </a:p>
        </p:txBody>
      </p:sp>
      <p:sp>
        <p:nvSpPr>
          <p:cNvPr id="13" name="Text 11" descr="" title=""/>
          <p:cNvSpPr/>
          <p:nvPr/>
        </p:nvSpPr>
        <p:spPr>
          <a:xfrm>
            <a:off x="819150" y="6326981"/>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4" name="Text 12" descr="" title=""/>
          <p:cNvSpPr/>
          <p:nvPr/>
        </p:nvSpPr>
        <p:spPr>
          <a:xfrm>
            <a:off x="1295400" y="6326981"/>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Invite to a conference or coffee.</a:t>
            </a:r>
            <a:endParaRPr lang="en-US" sz="2625" dirty="0"/>
          </a:p>
        </p:txBody>
      </p:sp>
      <p:sp>
        <p:nvSpPr>
          <p:cNvPr id="15" name="Text 13" descr="" title=""/>
          <p:cNvSpPr/>
          <p:nvPr/>
        </p:nvSpPr>
        <p:spPr>
          <a:xfrm>
            <a:off x="819150" y="7096125"/>
            <a:ext cx="400050" cy="521494"/>
          </a:xfrm>
          <a:prstGeom prst="rect">
            <a:avLst/>
          </a:prstGeom>
          <a:noFill/>
          <a:ln/>
        </p:spPr>
        <p:txBody>
          <a:bodyPr wrap="square" lIns="25400" tIns="25400" rIns="25400" bIns="25400" rtlCol="0" anchor="t">
            <a:normAutofit/>
          </a:bodyPr>
          <a:lstStyle/>
          <a:p>
            <a:pPr marL="0" indent="0" algn="l">
              <a:lnSpc>
                <a:spcPct val="107979"/>
              </a:lnSpc>
              <a:buNone/>
            </a:pPr>
            <a:r>
              <a:rPr lang="en-US" sz="2625" dirty="0">
                <a:solidFill>
                  <a:srgbClr val="0A0A0A"/>
                </a:solidFill>
                <a:latin typeface="Palatino Linotype" pitchFamily="34" charset="0"/>
                <a:ea typeface="Palatino Linotype" pitchFamily="34" charset="-122"/>
                <a:cs typeface="Palatino Linotype" pitchFamily="34" charset="-120"/>
              </a:rPr>
              <a:t>•</a:t>
            </a:r>
            <a:endParaRPr lang="en-US" sz="2625" dirty="0"/>
          </a:p>
        </p:txBody>
      </p:sp>
      <p:sp>
        <p:nvSpPr>
          <p:cNvPr id="16" name="Text 14" descr="" title=""/>
          <p:cNvSpPr/>
          <p:nvPr/>
        </p:nvSpPr>
        <p:spPr>
          <a:xfrm>
            <a:off x="1295400" y="7096125"/>
            <a:ext cx="16648843" cy="521494"/>
          </a:xfrm>
          <a:prstGeom prst="rect">
            <a:avLst/>
          </a:prstGeom>
          <a:noFill/>
          <a:ln/>
        </p:spPr>
        <p:txBody>
          <a:bodyPr wrap="square" lIns="25400" tIns="25400" rIns="25400" bIns="25400" rtlCol="0" anchor="t">
            <a:normAutofit/>
          </a:bodyPr>
          <a:lstStyle/>
          <a:p>
            <a:pPr marL="0" indent="0" algn="l">
              <a:lnSpc>
                <a:spcPct val="105455"/>
              </a:lnSpc>
              <a:buNone/>
            </a:pPr>
            <a:r>
              <a:rPr lang="en-US" sz="2625" dirty="0">
                <a:solidFill>
                  <a:srgbClr val="0A0A0A"/>
                </a:solidFill>
                <a:latin typeface="Palatino Linotype" pitchFamily="34" charset="0"/>
                <a:ea typeface="Palatino Linotype" pitchFamily="34" charset="-122"/>
                <a:cs typeface="Palatino Linotype" pitchFamily="34" charset="-120"/>
              </a:rPr>
              <a:t>Follow up by phone with a fresh reason to reconnect, or share a relevant article or market update.</a:t>
            </a:r>
            <a:endParaRPr lang="en-US" sz="2625" dirty="0"/>
          </a:p>
        </p:txBody>
      </p:sp>
      <p:sp>
        <p:nvSpPr>
          <p:cNvPr id="17" name="Shape 15" descr="" title=""/>
          <p:cNvSpPr/>
          <p:nvPr/>
        </p:nvSpPr>
        <p:spPr>
          <a:xfrm>
            <a:off x="752475" y="8296275"/>
            <a:ext cx="16773525" cy="1162050"/>
          </a:xfrm>
          <a:prstGeom prst="roundRect">
            <a:avLst>
              <a:gd name="adj" fmla="val 13115"/>
            </a:avLst>
          </a:prstGeom>
          <a:solidFill>
            <a:srgbClr val="F5F5F4"/>
          </a:solidFill>
          <a:ln/>
        </p:spPr>
      </p:sp>
      <p:sp>
        <p:nvSpPr>
          <p:cNvPr id="18" name="Text 16" descr="" title=""/>
          <p:cNvSpPr/>
          <p:nvPr/>
        </p:nvSpPr>
        <p:spPr>
          <a:xfrm>
            <a:off x="1162050" y="8697218"/>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1B2A47"/>
                </a:solidFill>
                <a:latin typeface="Palatino Linotype" pitchFamily="34" charset="0"/>
                <a:ea typeface="Palatino Linotype" pitchFamily="34" charset="-122"/>
                <a:cs typeface="Palatino Linotype" pitchFamily="34" charset="-120"/>
              </a:rPr>
              <a:t>Maintain one meaningful touch every one to two weeks.</a:t>
            </a:r>
            <a:endParaRPr lang="en-US" sz="2100" dirty="0"/>
          </a:p>
        </p:txBody>
      </p:sp>
      <p:sp>
        <p:nvSpPr>
          <p:cNvPr id="19" name="Text 17"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0" name="Text 18"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1" name="Text 19"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32</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D9C79E"/>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Shape 2" descr="" title=""/>
          <p:cNvSpPr/>
          <p:nvPr/>
        </p:nvSpPr>
        <p:spPr>
          <a:xfrm>
            <a:off x="68580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5" name="Shape 3" descr="" title=""/>
          <p:cNvSpPr/>
          <p:nvPr/>
        </p:nvSpPr>
        <p:spPr>
          <a:xfrm>
            <a:off x="123825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6" name="Text 4" descr="" title=""/>
          <p:cNvSpPr/>
          <p:nvPr/>
        </p:nvSpPr>
        <p:spPr>
          <a:xfrm>
            <a:off x="1238250" y="2166491"/>
            <a:ext cx="2626906" cy="371475"/>
          </a:xfrm>
          <a:prstGeom prst="rect">
            <a:avLst/>
          </a:prstGeom>
          <a:noFill/>
          <a:ln/>
        </p:spPr>
        <p:txBody>
          <a:bodyPr wrap="square" lIns="25400" tIns="25400" rIns="25400" bIns="25400" rtlCol="0" anchor="t">
            <a:normAutofit/>
          </a:bodyPr>
          <a:lstStyle/>
          <a:p>
            <a:pPr marL="0" indent="0" algn="l">
              <a:lnSpc>
                <a:spcPct val="100286"/>
              </a:lnSpc>
              <a:buNone/>
            </a:pPr>
            <a:r>
              <a:rPr lang="en-US" sz="1950" b="1" kern="0" spc="300" dirty="0">
                <a:solidFill>
                  <a:srgbClr val="D9C79E"/>
                </a:solidFill>
                <a:latin typeface="Palatino Linotype" pitchFamily="34" charset="0"/>
                <a:ea typeface="Palatino Linotype" pitchFamily="34" charset="-122"/>
                <a:cs typeface="Palatino Linotype" pitchFamily="34" charset="-120"/>
              </a:rPr>
              <a:t>ILLUSTRATION</a:t>
            </a:r>
            <a:endParaRPr lang="en-US" sz="1950" dirty="0"/>
          </a:p>
        </p:txBody>
      </p:sp>
      <p:sp>
        <p:nvSpPr>
          <p:cNvPr id="7" name="Text 5" descr="" title=""/>
          <p:cNvSpPr/>
          <p:nvPr/>
        </p:nvSpPr>
        <p:spPr>
          <a:xfrm>
            <a:off x="1238250" y="3832920"/>
            <a:ext cx="16109252" cy="811411"/>
          </a:xfrm>
          <a:prstGeom prst="rect">
            <a:avLst/>
          </a:prstGeom>
          <a:noFill/>
          <a:ln/>
        </p:spPr>
        <p:txBody>
          <a:bodyPr wrap="square" lIns="25400" tIns="25400" rIns="25400" bIns="25400" rtlCol="0" anchor="t">
            <a:normAutofit/>
          </a:bodyPr>
          <a:lstStyle/>
          <a:p>
            <a:pPr marL="0" indent="0" algn="l">
              <a:lnSpc>
                <a:spcPct val="105455"/>
              </a:lnSpc>
              <a:buNone/>
            </a:pPr>
            <a:r>
              <a:rPr lang="en-US" sz="4200" b="1" i="1" dirty="0">
                <a:solidFill>
                  <a:srgbClr val="FFFFFF"/>
                </a:solidFill>
                <a:latin typeface="Palatino Linotype" pitchFamily="34" charset="0"/>
                <a:ea typeface="Palatino Linotype" pitchFamily="34" charset="-122"/>
                <a:cs typeface="Palatino Linotype" pitchFamily="34" charset="-120"/>
              </a:rPr>
              <a:t>The "hang around the hoop" strategy is real.</a:t>
            </a:r>
            <a:endParaRPr lang="en-US" sz="4200" dirty="0"/>
          </a:p>
        </p:txBody>
      </p:sp>
      <p:sp>
        <p:nvSpPr>
          <p:cNvPr id="8" name="Text 6" descr="" title=""/>
          <p:cNvSpPr/>
          <p:nvPr/>
        </p:nvSpPr>
        <p:spPr>
          <a:xfrm>
            <a:off x="1238250" y="6179344"/>
            <a:ext cx="15540228" cy="423863"/>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A9814B"/>
                </a:solidFill>
                <a:latin typeface="Palatino Linotype" pitchFamily="34" charset="0"/>
                <a:ea typeface="Palatino Linotype" pitchFamily="34" charset="-122"/>
                <a:cs typeface="Palatino Linotype" pitchFamily="34" charset="-120"/>
              </a:rPr>
              <a:t>Reciprocity in the Closing Phase</a:t>
            </a:r>
            <a:endParaRPr lang="en-US" sz="2250" dirty="0"/>
          </a:p>
        </p:txBody>
      </p:sp>
      <p:sp>
        <p:nvSpPr>
          <p:cNvPr id="9" name="Shape 7" descr="" title=""/>
          <p:cNvSpPr/>
          <p:nvPr/>
        </p:nvSpPr>
        <p:spPr>
          <a:xfrm>
            <a:off x="1238250" y="6877050"/>
            <a:ext cx="15773400" cy="2247900"/>
          </a:xfrm>
          <a:prstGeom prst="roundRect">
            <a:avLst>
              <a:gd name="adj" fmla="val 6780"/>
            </a:avLst>
          </a:prstGeom>
          <a:solidFill>
            <a:srgbClr val="111C30"/>
          </a:solidFill>
          <a:ln/>
        </p:spPr>
      </p:sp>
      <p:sp>
        <p:nvSpPr>
          <p:cNvPr id="10" name="Text 8" descr="" title=""/>
          <p:cNvSpPr/>
          <p:nvPr/>
        </p:nvSpPr>
        <p:spPr>
          <a:xfrm>
            <a:off x="1581150" y="7167563"/>
            <a:ext cx="15540228" cy="1704975"/>
          </a:xfrm>
          <a:prstGeom prst="rect">
            <a:avLst/>
          </a:prstGeom>
          <a:noFill/>
          <a:ln/>
        </p:spPr>
        <p:txBody>
          <a:bodyPr wrap="square" lIns="25400" tIns="25400" rIns="25400" bIns="25400" rtlCol="0" anchor="t">
            <a:normAutofit/>
          </a:bodyPr>
          <a:lstStyle/>
          <a:p>
            <a:pPr marL="0" indent="0" algn="l">
              <a:lnSpc>
                <a:spcPct val="101818"/>
              </a:lnSpc>
              <a:buNone/>
            </a:pPr>
            <a:r>
              <a:rPr lang="en-US" sz="1875" dirty="0">
                <a:solidFill>
                  <a:srgbClr val="F5F5F4"/>
                </a:solidFill>
                <a:latin typeface="Palatino Linotype" pitchFamily="34" charset="0"/>
                <a:ea typeface="Palatino Linotype" pitchFamily="34" charset="-122"/>
                <a:cs typeface="Palatino Linotype" pitchFamily="34" charset="-120"/>
              </a:rPr>
              <a:t>A managing director maintained a consistent closing cadence with an independent sponsor over six months, with co-investor introductions as the highest-value touches. When the sponsor's live deal was later lost in a competitive auction, he proactively updated the managing director with two new pipeline opportunities; no ask was made, and the prospect converted the relationship himself. Note the mechanic: the check-in was drafted by the business development (BD) professional and routed through the relationship partner for delivery — a tag-team approach that multiplies relationship surface area without doubling effort.</a:t>
            </a:r>
            <a:endParaRPr lang="en-US" sz="187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33</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A Note on Introductions</a:t>
            </a:r>
            <a:endParaRPr lang="en-US" sz="4500" dirty="0"/>
          </a:p>
        </p:txBody>
      </p:sp>
      <p:sp>
        <p:nvSpPr>
          <p:cNvPr id="5" name="Text 3" descr="" title=""/>
          <p:cNvSpPr/>
          <p:nvPr/>
        </p:nvSpPr>
        <p:spPr>
          <a:xfrm>
            <a:off x="819150" y="4685109"/>
            <a:ext cx="381000" cy="977205"/>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76350" y="4685109"/>
            <a:ext cx="16668464" cy="977205"/>
          </a:xfrm>
          <a:prstGeom prst="rect">
            <a:avLst/>
          </a:prstGeom>
          <a:noFill/>
          <a:ln/>
        </p:spPr>
        <p:txBody>
          <a:bodyPr wrap="square" lIns="25400" tIns="25400" rIns="25400" bIns="25400" rtlCol="0" anchor="t">
            <a:normAutofit/>
          </a:bodyPr>
          <a:lstStyle/>
          <a:p>
            <a:pPr marL="0" indent="0" algn="l">
              <a:lnSpc>
                <a:spcPct val="105455"/>
              </a:lnSpc>
              <a:buNone/>
            </a:pPr>
            <a:r>
              <a:rPr lang="en-US" sz="2550" dirty="0">
                <a:solidFill>
                  <a:srgbClr val="0A0A0A"/>
                </a:solidFill>
                <a:latin typeface="Palatino Linotype" pitchFamily="34" charset="0"/>
                <a:ea typeface="Palatino Linotype" pitchFamily="34" charset="-122"/>
                <a:cs typeface="Palatino Linotype" pitchFamily="34" charset="-120"/>
              </a:rPr>
              <a:t>High-quality introductions are the most valuable form of follow-up: they prove credibility, expand the buyer's network, and deliver value with no expectation attached.</a:t>
            </a:r>
            <a:endParaRPr lang="en-US" sz="2550" dirty="0"/>
          </a:p>
        </p:txBody>
      </p:sp>
      <p:sp>
        <p:nvSpPr>
          <p:cNvPr id="7" name="Text 5" descr="" title=""/>
          <p:cNvSpPr/>
          <p:nvPr/>
        </p:nvSpPr>
        <p:spPr>
          <a:xfrm>
            <a:off x="819150" y="5948065"/>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76350" y="5948065"/>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Principle:</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The more tangible the value transfer, the stronger the trust created.</a:t>
            </a:r>
            <a:endParaRPr lang="en-US" sz="1200" dirty="0"/>
          </a:p>
        </p:txBody>
      </p:sp>
      <p:sp>
        <p:nvSpPr>
          <p:cNvPr id="9" name="Text 7" descr="" title=""/>
          <p:cNvSpPr/>
          <p:nvPr/>
        </p:nvSpPr>
        <p:spPr>
          <a:xfrm>
            <a:off x="819150" y="6608118"/>
            <a:ext cx="38100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76350" y="6608118"/>
            <a:ext cx="16668464"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Intro script template: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"[Person 1] — introducing [Person 2], [Title] at [Company] in [City]. [Person 2] — [Person 1] is [Title] at [Company] in [City]. I'm confident you'll both enjoy connecting."</a:t>
            </a:r>
            <a:endParaRPr lang="en-US" sz="12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34</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213973"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5 · CLOSING</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Common Violation: "Just Checking In"</a:t>
            </a:r>
            <a:endParaRPr lang="en-US" sz="4500" dirty="0"/>
          </a:p>
        </p:txBody>
      </p:sp>
      <p:sp>
        <p:nvSpPr>
          <p:cNvPr id="5" name="Shape 3" descr="" title=""/>
          <p:cNvSpPr/>
          <p:nvPr/>
        </p:nvSpPr>
        <p:spPr>
          <a:xfrm>
            <a:off x="752475" y="2743200"/>
            <a:ext cx="8115300" cy="5419725"/>
          </a:xfrm>
          <a:prstGeom prst="roundRect">
            <a:avLst>
              <a:gd name="adj" fmla="val 2812"/>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8C2F2F"/>
                </a:solidFill>
                <a:latin typeface="Palatino Linotype" pitchFamily="34" charset="0"/>
                <a:ea typeface="Palatino Linotype" pitchFamily="34" charset="-122"/>
                <a:cs typeface="Palatino Linotype" pitchFamily="34" charset="-120"/>
              </a:rPr>
              <a:t>✕ Weak (No New Value)</a:t>
            </a:r>
            <a:endParaRPr lang="en-US" sz="2700" dirty="0"/>
          </a:p>
        </p:txBody>
      </p:sp>
      <p:sp>
        <p:nvSpPr>
          <p:cNvPr id="7" name="Text 5" descr="" title=""/>
          <p:cNvSpPr/>
          <p:nvPr/>
        </p:nvSpPr>
        <p:spPr>
          <a:xfrm>
            <a:off x="1162050" y="4862513"/>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4862513"/>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"Just checking in to see if you had a chance to review my note."</a:t>
            </a:r>
            <a:endParaRPr lang="en-US" sz="2550" dirty="0"/>
          </a:p>
        </p:txBody>
      </p:sp>
      <p:sp>
        <p:nvSpPr>
          <p:cNvPr id="9" name="Text 7" descr="" title=""/>
          <p:cNvSpPr/>
          <p:nvPr/>
        </p:nvSpPr>
        <p:spPr>
          <a:xfrm>
            <a:off x="1162050" y="6138863"/>
            <a:ext cx="381000" cy="52387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6138863"/>
            <a:ext cx="7034308" cy="52387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"Wanted to circle back on my previous email."</a:t>
            </a:r>
            <a:endParaRPr lang="en-US" sz="2550" dirty="0"/>
          </a:p>
        </p:txBody>
      </p:sp>
      <p:sp>
        <p:nvSpPr>
          <p:cNvPr id="11" name="Shape 9" descr="" title=""/>
          <p:cNvSpPr/>
          <p:nvPr/>
        </p:nvSpPr>
        <p:spPr>
          <a:xfrm>
            <a:off x="9420225" y="2743200"/>
            <a:ext cx="8115300" cy="5419725"/>
          </a:xfrm>
          <a:prstGeom prst="roundRect">
            <a:avLst>
              <a:gd name="adj" fmla="val 2812"/>
            </a:avLst>
          </a:prstGeom>
          <a:solidFill>
            <a:srgbClr val="1B2A47"/>
          </a:solidFill>
          <a:ln/>
        </p:spPr>
      </p:sp>
      <p:sp>
        <p:nvSpPr>
          <p:cNvPr id="12" name="Text 10"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D9C79E"/>
                </a:solidFill>
                <a:latin typeface="Palatino Linotype" pitchFamily="34" charset="0"/>
                <a:ea typeface="Palatino Linotype" pitchFamily="34" charset="-122"/>
                <a:cs typeface="Palatino Linotype" pitchFamily="34" charset="-120"/>
              </a:rPr>
              <a:t>✓ Corrected (Adds Value)</a:t>
            </a:r>
            <a:endParaRPr lang="en-US" sz="2700" dirty="0"/>
          </a:p>
        </p:txBody>
      </p:sp>
      <p:sp>
        <p:nvSpPr>
          <p:cNvPr id="13" name="Text 11" descr="" title=""/>
          <p:cNvSpPr/>
          <p:nvPr/>
        </p:nvSpPr>
        <p:spPr>
          <a:xfrm>
            <a:off x="9829800" y="4376738"/>
            <a:ext cx="381000" cy="149542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4" name="Text 12" descr="" title=""/>
          <p:cNvSpPr/>
          <p:nvPr/>
        </p:nvSpPr>
        <p:spPr>
          <a:xfrm>
            <a:off x="10287000" y="4376738"/>
            <a:ext cx="7034308" cy="149542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"Wanted to share a relevant transaction that mirrors what you described — the strategic buyer paid a notable premium."</a:t>
            </a:r>
            <a:endParaRPr lang="en-US" sz="2550" dirty="0"/>
          </a:p>
        </p:txBody>
      </p:sp>
      <p:sp>
        <p:nvSpPr>
          <p:cNvPr id="15" name="Text 13" descr="" title=""/>
          <p:cNvSpPr/>
          <p:nvPr/>
        </p:nvSpPr>
        <p:spPr>
          <a:xfrm>
            <a:off x="9829800" y="6138863"/>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6" name="Text 14" descr="" title=""/>
          <p:cNvSpPr/>
          <p:nvPr/>
        </p:nvSpPr>
        <p:spPr>
          <a:xfrm>
            <a:off x="10287000" y="6138863"/>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"Following up with an idea that could accelerate your current initiative."</a:t>
            </a:r>
            <a:endParaRPr lang="en-US" sz="2550" dirty="0"/>
          </a:p>
        </p:txBody>
      </p:sp>
      <p:sp>
        <p:nvSpPr>
          <p:cNvPr id="17" name="Shape 15" descr="" title=""/>
          <p:cNvSpPr/>
          <p:nvPr/>
        </p:nvSpPr>
        <p:spPr>
          <a:xfrm>
            <a:off x="752475" y="8362950"/>
            <a:ext cx="16773525" cy="1095375"/>
          </a:xfrm>
          <a:prstGeom prst="roundRect">
            <a:avLst>
              <a:gd name="adj" fmla="val 13913"/>
            </a:avLst>
          </a:prstGeom>
          <a:solidFill>
            <a:srgbClr val="F5F5F4"/>
          </a:solidFill>
          <a:ln/>
        </p:spPr>
      </p:sp>
      <p:sp>
        <p:nvSpPr>
          <p:cNvPr id="18" name="Text 16" descr="" title=""/>
          <p:cNvSpPr/>
          <p:nvPr/>
        </p:nvSpPr>
        <p:spPr>
          <a:xfrm>
            <a:off x="1162050" y="8390037"/>
            <a:ext cx="16433006" cy="1079302"/>
          </a:xfrm>
          <a:prstGeom prst="rect">
            <a:avLst/>
          </a:prstGeom>
          <a:noFill/>
          <a:ln/>
        </p:spPr>
        <p:txBody>
          <a:bodyPr wrap="square" lIns="25400" tIns="25400" rIns="25400" bIns="25400" rtlCol="0" anchor="t">
            <a:normAutofit/>
          </a:bodyPr>
          <a:lstStyle/>
          <a:p>
            <a:pPr marL="0" indent="0" algn="l">
              <a:lnSpc>
                <a:spcPct val="98182"/>
              </a:lnSpc>
              <a:buNone/>
            </a:pPr>
            <a:r>
              <a:rPr lang="en-US" sz="2025" b="1" i="1" dirty="0">
                <a:solidFill>
                  <a:srgbClr val="1B2A47"/>
                </a:solidFill>
                <a:latin typeface="Palatino Linotype" pitchFamily="34" charset="0"/>
                <a:ea typeface="Palatino Linotype" pitchFamily="34" charset="-122"/>
                <a:cs typeface="Palatino Linotype" pitchFamily="34" charset="-120"/>
              </a:rPr>
              <a:t>The check-in that works: The difference is sequence, not language. A cold check-in with no prior value signals anxiety; the same words after months of high-quality touches signal confidence and continuity. Test: Have prior touches already created genuine reciprocity? If not, send a value-first touch instead.</a:t>
            </a:r>
            <a:endParaRPr lang="en-US" sz="2025" dirty="0"/>
          </a:p>
        </p:txBody>
      </p:sp>
      <p:sp>
        <p:nvSpPr>
          <p:cNvPr id="19" name="Text 17"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0" name="Text 18"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1" name="Text 19"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35</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5</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5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What's missing from this touch? "Hey, following up here — any update on your end?"</a:t>
            </a:r>
            <a:endParaRPr lang="en-US" sz="2850" dirty="0"/>
          </a:p>
        </p:txBody>
      </p:sp>
      <p:sp>
        <p:nvSpPr>
          <p:cNvPr id="6" name="Shape 4" descr="" title=""/>
          <p:cNvSpPr/>
          <p:nvPr/>
        </p:nvSpPr>
        <p:spPr>
          <a:xfrm>
            <a:off x="752475" y="3810000"/>
            <a:ext cx="16773525" cy="1428750"/>
          </a:xfrm>
          <a:prstGeom prst="roundRect">
            <a:avLst>
              <a:gd name="adj" fmla="val 10667"/>
            </a:avLst>
          </a:prstGeom>
          <a:solidFill>
            <a:srgbClr val="FFFFFF"/>
          </a:solidFill>
          <a:ln/>
        </p:spPr>
      </p:sp>
      <p:sp>
        <p:nvSpPr>
          <p:cNvPr id="7" name="Text 5" descr="" title=""/>
          <p:cNvSpPr/>
          <p:nvPr/>
        </p:nvSpPr>
        <p:spPr>
          <a:xfrm>
            <a:off x="1143000" y="4317653"/>
            <a:ext cx="16501682" cy="451396"/>
          </a:xfrm>
          <a:prstGeom prst="rect">
            <a:avLst/>
          </a:prstGeom>
          <a:noFill/>
          <a:ln/>
        </p:spPr>
        <p:txBody>
          <a:bodyPr wrap="square" lIns="25400" tIns="25400" rIns="25400" bIns="25400" rtlCol="0" anchor="t">
            <a:normAutofit/>
          </a:bodyPr>
          <a:lstStyle/>
          <a:p>
            <a:pPr marL="0" indent="0" algn="l">
              <a:lnSpc>
                <a:spcPct val="101818"/>
              </a:lnSpc>
              <a:buNone/>
            </a:pPr>
            <a:r>
              <a:rPr lang="en-US" sz="2325" b="1" dirty="0">
                <a:solidFill>
                  <a:srgbClr val="0A0A0A"/>
                </a:solidFill>
                <a:latin typeface="Palatino Linotype" pitchFamily="34" charset="0"/>
                <a:ea typeface="Palatino Linotype" pitchFamily="34" charset="-122"/>
                <a:cs typeface="Palatino Linotype" pitchFamily="34" charset="-120"/>
              </a:rPr>
              <a:t>Identify what value-add content is missing, and how the sequencing test applies.</a:t>
            </a:r>
            <a:endParaRPr lang="en-US" sz="2325" dirty="0"/>
          </a:p>
        </p:txBody>
      </p:sp>
      <p:sp>
        <p:nvSpPr>
          <p:cNvPr id="8" name="Shape 6" descr="" title=""/>
          <p:cNvSpPr/>
          <p:nvPr/>
        </p:nvSpPr>
        <p:spPr>
          <a:xfrm>
            <a:off x="752475" y="5810250"/>
            <a:ext cx="16773525" cy="2667000"/>
          </a:xfrm>
          <a:prstGeom prst="roundRect">
            <a:avLst>
              <a:gd name="adj" fmla="val 5714"/>
            </a:avLst>
          </a:prstGeom>
          <a:solidFill>
            <a:srgbClr val="1B2A47"/>
          </a:solidFill>
          <a:ln/>
        </p:spPr>
      </p:sp>
      <p:sp>
        <p:nvSpPr>
          <p:cNvPr id="9" name="Text 7" descr="" title=""/>
          <p:cNvSpPr/>
          <p:nvPr/>
        </p:nvSpPr>
        <p:spPr>
          <a:xfrm>
            <a:off x="1162050" y="6132016"/>
            <a:ext cx="5575340" cy="381000"/>
          </a:xfrm>
          <a:prstGeom prst="rect">
            <a:avLst/>
          </a:prstGeom>
          <a:noFill/>
          <a:ln/>
        </p:spPr>
        <p:txBody>
          <a:bodyPr wrap="square" lIns="25400" tIns="25400" rIns="25400" bIns="25400" rtlCol="0" anchor="t">
            <a:normAutofit/>
          </a:bodyPr>
          <a:lstStyle/>
          <a:p>
            <a:pPr marL="0" indent="0" algn="l">
              <a:lnSpc>
                <a:spcPct val="101250"/>
              </a:lnSpc>
              <a:buNone/>
            </a:pPr>
            <a:r>
              <a:rPr lang="en-US" sz="2025" b="1" kern="0" spc="150" dirty="0">
                <a:solidFill>
                  <a:srgbClr val="A9814B"/>
                </a:solidFill>
                <a:latin typeface="Palatino Linotype" pitchFamily="34" charset="0"/>
                <a:ea typeface="Palatino Linotype" pitchFamily="34" charset="-122"/>
                <a:cs typeface="Palatino Linotype" pitchFamily="34" charset="-120"/>
              </a:rPr>
              <a:t>ANSWER · No new value is delivered</a:t>
            </a:r>
            <a:endParaRPr lang="en-US" sz="2025" dirty="0"/>
          </a:p>
        </p:txBody>
      </p:sp>
      <p:sp>
        <p:nvSpPr>
          <p:cNvPr id="10" name="Text 8" descr="" title=""/>
          <p:cNvSpPr/>
          <p:nvPr/>
        </p:nvSpPr>
        <p:spPr>
          <a:xfrm>
            <a:off x="1162050" y="6667500"/>
            <a:ext cx="16433006" cy="1277987"/>
          </a:xfrm>
          <a:prstGeom prst="rect">
            <a:avLst/>
          </a:prstGeom>
          <a:noFill/>
          <a:ln/>
        </p:spPr>
        <p:txBody>
          <a:bodyPr wrap="square" lIns="25400" tIns="25400" rIns="25400" bIns="25400" rtlCol="0" anchor="t">
            <a:normAutofit/>
          </a:bodyPr>
          <a:lstStyle/>
          <a:p>
            <a:pPr marL="0" indent="0" algn="l">
              <a:lnSpc>
                <a:spcPct val="101818"/>
              </a:lnSpc>
              <a:buNone/>
            </a:pPr>
            <a:r>
              <a:rPr lang="en-US" sz="2325" b="1" dirty="0">
                <a:solidFill>
                  <a:srgbClr val="FFFFFF"/>
                </a:solidFill>
                <a:latin typeface="Palatino Linotype" pitchFamily="34" charset="0"/>
                <a:ea typeface="Palatino Linotype" pitchFamily="34" charset="-122"/>
                <a:cs typeface="Palatino Linotype" pitchFamily="34" charset="-120"/>
              </a:rPr>
              <a:t>The message only communicates that the seller wants something, not that they bring something. Sequencing test: Have prior touches already created genuine reciprocity? If not, replace this message with a value-first touch before checking in.</a:t>
            </a:r>
            <a:endParaRPr lang="en-US" sz="232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36</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Role of the Sender Matters</a:t>
            </a:r>
            <a:endParaRPr lang="en-US" sz="4500" dirty="0"/>
          </a:p>
        </p:txBody>
      </p:sp>
      <p:sp>
        <p:nvSpPr>
          <p:cNvPr id="5" name="Shape 3" descr="" title=""/>
          <p:cNvSpPr/>
          <p:nvPr/>
        </p:nvSpPr>
        <p:spPr>
          <a:xfrm>
            <a:off x="752475" y="8362950"/>
            <a:ext cx="16773525" cy="1095375"/>
          </a:xfrm>
          <a:prstGeom prst="roundRect">
            <a:avLst>
              <a:gd name="adj" fmla="val 13913"/>
            </a:avLst>
          </a:prstGeom>
          <a:solidFill>
            <a:srgbClr val="F5F5F4"/>
          </a:solidFill>
          <a:ln/>
        </p:spPr>
      </p:sp>
      <p:sp>
        <p:nvSpPr>
          <p:cNvPr id="6" name="Text 4" descr="" title=""/>
          <p:cNvSpPr/>
          <p:nvPr/>
        </p:nvSpPr>
        <p:spPr>
          <a:xfrm>
            <a:off x="1162050" y="8563570"/>
            <a:ext cx="16433006" cy="732234"/>
          </a:xfrm>
          <a:prstGeom prst="rect">
            <a:avLst/>
          </a:prstGeom>
          <a:noFill/>
          <a:ln/>
        </p:spPr>
        <p:txBody>
          <a:bodyPr wrap="square" lIns="25400" tIns="25400" rIns="25400" bIns="25400" rtlCol="0" anchor="t">
            <a:normAutofit/>
          </a:bodyPr>
          <a:lstStyle/>
          <a:p>
            <a:pPr marL="0" indent="0" algn="l">
              <a:lnSpc>
                <a:spcPct val="98182"/>
              </a:lnSpc>
              <a:buNone/>
            </a:pPr>
            <a:r>
              <a:rPr lang="en-US" sz="2025" b="1" i="1" dirty="0">
                <a:solidFill>
                  <a:srgbClr val="1B2A47"/>
                </a:solidFill>
                <a:latin typeface="Palatino Linotype" pitchFamily="34" charset="0"/>
                <a:ea typeface="Palatino Linotype" pitchFamily="34" charset="-122"/>
                <a:cs typeface="Palatino Linotype" pitchFamily="34" charset="-120"/>
              </a:rPr>
              <a:t>Artfulness is the practiced judgment required to balance peer-level confidence with appropriate professional respect. The litmus test: Does the sender have standing to say "we could help you" in their own voice, or only "someone here can help you, and I can get you to them"?</a:t>
            </a:r>
            <a:endParaRPr lang="en-US" sz="2025" dirty="0"/>
          </a:p>
        </p:txBody>
      </p:sp>
      <p:sp>
        <p:nvSpPr>
          <p:cNvPr id="7" name="Text 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8" name="Text 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9" name="Text 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37</a:t>
            </a:r>
            <a:endParaRPr lang="en-US" sz="1350" dirty="0"/>
          </a:p>
        </p:txBody>
      </p:sp>
      <p:sp>
        <p:nvSpPr>
          <p:cNvPr id="10" name="Shape 8" descr="" title=""/>
          <p:cNvSpPr/>
          <p:nvPr/>
        </p:nvSpPr>
        <p:spPr>
          <a:xfrm>
            <a:off x="757238" y="3500438"/>
            <a:ext cx="3739604" cy="1078706"/>
          </a:xfrm>
          <a:prstGeom prst="rect">
            <a:avLst/>
          </a:prstGeom>
          <a:solidFill>
            <a:srgbClr val="1B2A47"/>
          </a:solidFill>
          <a:ln w="9525">
            <a:solidFill>
              <a:srgbClr val="D8DCE1"/>
            </a:solidFill>
            <a:prstDash val="solid"/>
          </a:ln>
        </p:spPr>
      </p:sp>
      <p:sp>
        <p:nvSpPr>
          <p:cNvPr id="11" name="Text 9" descr="" title=""/>
          <p:cNvSpPr/>
          <p:nvPr/>
        </p:nvSpPr>
        <p:spPr>
          <a:xfrm>
            <a:off x="957263" y="3624263"/>
            <a:ext cx="3451742" cy="869156"/>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Attorney Outreach</a:t>
            </a:r>
            <a:endParaRPr lang="en-US" sz="2100" dirty="0"/>
          </a:p>
        </p:txBody>
      </p:sp>
      <p:sp>
        <p:nvSpPr>
          <p:cNvPr id="12" name="Shape 10" descr="" title=""/>
          <p:cNvSpPr/>
          <p:nvPr/>
        </p:nvSpPr>
        <p:spPr>
          <a:xfrm>
            <a:off x="4496842" y="3500438"/>
            <a:ext cx="5897761" cy="1078706"/>
          </a:xfrm>
          <a:prstGeom prst="rect">
            <a:avLst/>
          </a:prstGeom>
          <a:solidFill>
            <a:srgbClr val="1B2A47"/>
          </a:solidFill>
          <a:ln w="9525">
            <a:solidFill>
              <a:srgbClr val="D8DCE1"/>
            </a:solidFill>
            <a:prstDash val="solid"/>
          </a:ln>
        </p:spPr>
      </p:sp>
      <p:sp>
        <p:nvSpPr>
          <p:cNvPr id="13" name="Text 11" descr="" title=""/>
          <p:cNvSpPr/>
          <p:nvPr/>
        </p:nvSpPr>
        <p:spPr>
          <a:xfrm>
            <a:off x="4696867" y="3624263"/>
            <a:ext cx="5674644" cy="869156"/>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BD Principal Outreach</a:t>
            </a:r>
            <a:endParaRPr lang="en-US" sz="2100" dirty="0"/>
          </a:p>
        </p:txBody>
      </p:sp>
      <p:sp>
        <p:nvSpPr>
          <p:cNvPr id="14" name="Shape 12" descr="" title=""/>
          <p:cNvSpPr/>
          <p:nvPr/>
        </p:nvSpPr>
        <p:spPr>
          <a:xfrm>
            <a:off x="10394603" y="3500438"/>
            <a:ext cx="7126635" cy="1078706"/>
          </a:xfrm>
          <a:prstGeom prst="rect">
            <a:avLst/>
          </a:prstGeom>
          <a:solidFill>
            <a:srgbClr val="1B2A47"/>
          </a:solidFill>
          <a:ln w="9525">
            <a:solidFill>
              <a:srgbClr val="D8DCE1"/>
            </a:solidFill>
            <a:prstDash val="solid"/>
          </a:ln>
        </p:spPr>
      </p:sp>
      <p:sp>
        <p:nvSpPr>
          <p:cNvPr id="15" name="Text 13" descr="" title=""/>
          <p:cNvSpPr/>
          <p:nvPr/>
        </p:nvSpPr>
        <p:spPr>
          <a:xfrm>
            <a:off x="10594628" y="3624263"/>
            <a:ext cx="6940384" cy="869156"/>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Administrative/Coordinator Outreach</a:t>
            </a:r>
            <a:endParaRPr lang="en-US" sz="2100" dirty="0"/>
          </a:p>
        </p:txBody>
      </p:sp>
      <p:sp>
        <p:nvSpPr>
          <p:cNvPr id="16" name="Shape 14" descr="" title=""/>
          <p:cNvSpPr/>
          <p:nvPr/>
        </p:nvSpPr>
        <p:spPr>
          <a:xfrm>
            <a:off x="757238" y="4579144"/>
            <a:ext cx="3739604" cy="1078706"/>
          </a:xfrm>
          <a:prstGeom prst="rect">
            <a:avLst/>
          </a:prstGeom>
          <a:solidFill>
            <a:srgbClr val="FFFFFF"/>
          </a:solidFill>
          <a:ln w="9525">
            <a:solidFill>
              <a:srgbClr val="D8DCE1"/>
            </a:solidFill>
            <a:prstDash val="solid"/>
          </a:ln>
        </p:spPr>
      </p:sp>
      <p:sp>
        <p:nvSpPr>
          <p:cNvPr id="17" name="Text 15" descr="" title=""/>
          <p:cNvSpPr/>
          <p:nvPr/>
        </p:nvSpPr>
        <p:spPr>
          <a:xfrm>
            <a:off x="957263" y="4702969"/>
            <a:ext cx="3451742"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"I'd like to schedule"</a:t>
            </a:r>
            <a:endParaRPr lang="en-US" sz="1950" dirty="0"/>
          </a:p>
        </p:txBody>
      </p:sp>
      <p:sp>
        <p:nvSpPr>
          <p:cNvPr id="18" name="Shape 16" descr="" title=""/>
          <p:cNvSpPr/>
          <p:nvPr/>
        </p:nvSpPr>
        <p:spPr>
          <a:xfrm>
            <a:off x="4496842" y="4579144"/>
            <a:ext cx="5897761" cy="1078706"/>
          </a:xfrm>
          <a:prstGeom prst="rect">
            <a:avLst/>
          </a:prstGeom>
          <a:solidFill>
            <a:srgbClr val="FFFFFF"/>
          </a:solidFill>
          <a:ln w="9525">
            <a:solidFill>
              <a:srgbClr val="D8DCE1"/>
            </a:solidFill>
            <a:prstDash val="solid"/>
          </a:ln>
        </p:spPr>
      </p:sp>
      <p:sp>
        <p:nvSpPr>
          <p:cNvPr id="19" name="Text 17" descr="" title=""/>
          <p:cNvSpPr/>
          <p:nvPr/>
        </p:nvSpPr>
        <p:spPr>
          <a:xfrm>
            <a:off x="4696867" y="4702969"/>
            <a:ext cx="567464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"I'm hoping to schedule" or "I'd welcome the opportunity"</a:t>
            </a:r>
            <a:endParaRPr lang="en-US" sz="1950" dirty="0"/>
          </a:p>
        </p:txBody>
      </p:sp>
      <p:sp>
        <p:nvSpPr>
          <p:cNvPr id="20" name="Shape 18" descr="" title=""/>
          <p:cNvSpPr/>
          <p:nvPr/>
        </p:nvSpPr>
        <p:spPr>
          <a:xfrm>
            <a:off x="10394603" y="4579144"/>
            <a:ext cx="7126635" cy="1078706"/>
          </a:xfrm>
          <a:prstGeom prst="rect">
            <a:avLst/>
          </a:prstGeom>
          <a:solidFill>
            <a:srgbClr val="FFFFFF"/>
          </a:solidFill>
          <a:ln w="9525">
            <a:solidFill>
              <a:srgbClr val="D8DCE1"/>
            </a:solidFill>
            <a:prstDash val="solid"/>
          </a:ln>
        </p:spPr>
      </p:sp>
      <p:sp>
        <p:nvSpPr>
          <p:cNvPr id="21" name="Text 19" descr="" title=""/>
          <p:cNvSpPr/>
          <p:nvPr/>
        </p:nvSpPr>
        <p:spPr>
          <a:xfrm>
            <a:off x="10594628" y="4702969"/>
            <a:ext cx="694038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"I'm reaching out because I'd like to schedule a call with [Principal]"</a:t>
            </a:r>
            <a:endParaRPr lang="en-US" sz="1950" dirty="0"/>
          </a:p>
        </p:txBody>
      </p:sp>
      <p:sp>
        <p:nvSpPr>
          <p:cNvPr id="22" name="Shape 20" descr="" title=""/>
          <p:cNvSpPr/>
          <p:nvPr/>
        </p:nvSpPr>
        <p:spPr>
          <a:xfrm>
            <a:off x="757238" y="5657850"/>
            <a:ext cx="3739604" cy="1078706"/>
          </a:xfrm>
          <a:prstGeom prst="rect">
            <a:avLst/>
          </a:prstGeom>
          <a:solidFill>
            <a:srgbClr val="FFFFFF"/>
          </a:solidFill>
          <a:ln w="9525">
            <a:solidFill>
              <a:srgbClr val="D8DCE1"/>
            </a:solidFill>
            <a:prstDash val="solid"/>
          </a:ln>
        </p:spPr>
      </p:sp>
      <p:sp>
        <p:nvSpPr>
          <p:cNvPr id="23" name="Text 21" descr="" title=""/>
          <p:cNvSpPr/>
          <p:nvPr/>
        </p:nvSpPr>
        <p:spPr>
          <a:xfrm>
            <a:off x="957263" y="5781675"/>
            <a:ext cx="3451742"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Lead with own technical expertise.</a:t>
            </a:r>
            <a:endParaRPr lang="en-US" sz="1950" dirty="0"/>
          </a:p>
        </p:txBody>
      </p:sp>
      <p:sp>
        <p:nvSpPr>
          <p:cNvPr id="24" name="Shape 22" descr="" title=""/>
          <p:cNvSpPr/>
          <p:nvPr/>
        </p:nvSpPr>
        <p:spPr>
          <a:xfrm>
            <a:off x="4496842" y="5657850"/>
            <a:ext cx="5897761" cy="1078706"/>
          </a:xfrm>
          <a:prstGeom prst="rect">
            <a:avLst/>
          </a:prstGeom>
          <a:solidFill>
            <a:srgbClr val="FFFFFF"/>
          </a:solidFill>
          <a:ln w="9525">
            <a:solidFill>
              <a:srgbClr val="D8DCE1"/>
            </a:solidFill>
            <a:prstDash val="solid"/>
          </a:ln>
        </p:spPr>
      </p:sp>
      <p:sp>
        <p:nvSpPr>
          <p:cNvPr id="25" name="Text 23" descr="" title=""/>
          <p:cNvSpPr/>
          <p:nvPr/>
        </p:nvSpPr>
        <p:spPr>
          <a:xfrm>
            <a:off x="4696867" y="5781675"/>
            <a:ext cx="567464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Lead with own relationship context and introduction.</a:t>
            </a:r>
            <a:endParaRPr lang="en-US" sz="1950" dirty="0"/>
          </a:p>
        </p:txBody>
      </p:sp>
      <p:sp>
        <p:nvSpPr>
          <p:cNvPr id="26" name="Shape 24" descr="" title=""/>
          <p:cNvSpPr/>
          <p:nvPr/>
        </p:nvSpPr>
        <p:spPr>
          <a:xfrm>
            <a:off x="10394603" y="5657850"/>
            <a:ext cx="7126635" cy="1078706"/>
          </a:xfrm>
          <a:prstGeom prst="rect">
            <a:avLst/>
          </a:prstGeom>
          <a:solidFill>
            <a:srgbClr val="FFFFFF"/>
          </a:solidFill>
          <a:ln w="9525">
            <a:solidFill>
              <a:srgbClr val="D8DCE1"/>
            </a:solidFill>
            <a:prstDash val="solid"/>
          </a:ln>
        </p:spPr>
      </p:sp>
      <p:sp>
        <p:nvSpPr>
          <p:cNvPr id="27" name="Text 25" descr="" title=""/>
          <p:cNvSpPr/>
          <p:nvPr/>
        </p:nvSpPr>
        <p:spPr>
          <a:xfrm>
            <a:off x="10594628" y="5781675"/>
            <a:ext cx="694038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Lead with the principal's credentials, not the sender's.</a:t>
            </a:r>
            <a:endParaRPr lang="en-US" sz="1950" dirty="0"/>
          </a:p>
        </p:txBody>
      </p:sp>
      <p:sp>
        <p:nvSpPr>
          <p:cNvPr id="28" name="Shape 26" descr="" title=""/>
          <p:cNvSpPr/>
          <p:nvPr/>
        </p:nvSpPr>
        <p:spPr>
          <a:xfrm>
            <a:off x="757238" y="6736556"/>
            <a:ext cx="3739604" cy="1078706"/>
          </a:xfrm>
          <a:prstGeom prst="rect">
            <a:avLst/>
          </a:prstGeom>
          <a:solidFill>
            <a:srgbClr val="FFFFFF"/>
          </a:solidFill>
          <a:ln w="9525">
            <a:solidFill>
              <a:srgbClr val="D8DCE1"/>
            </a:solidFill>
            <a:prstDash val="solid"/>
          </a:ln>
        </p:spPr>
      </p:sp>
      <p:sp>
        <p:nvSpPr>
          <p:cNvPr id="29" name="Text 27" descr="" title=""/>
          <p:cNvSpPr/>
          <p:nvPr/>
        </p:nvSpPr>
        <p:spPr>
          <a:xfrm>
            <a:off x="957263" y="6860381"/>
            <a:ext cx="3451742"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Speaks for the firm's capability.</a:t>
            </a:r>
            <a:endParaRPr lang="en-US" sz="1950" dirty="0"/>
          </a:p>
        </p:txBody>
      </p:sp>
      <p:sp>
        <p:nvSpPr>
          <p:cNvPr id="30" name="Shape 28" descr="" title=""/>
          <p:cNvSpPr/>
          <p:nvPr/>
        </p:nvSpPr>
        <p:spPr>
          <a:xfrm>
            <a:off x="4496842" y="6736556"/>
            <a:ext cx="5897761" cy="1078706"/>
          </a:xfrm>
          <a:prstGeom prst="rect">
            <a:avLst/>
          </a:prstGeom>
          <a:solidFill>
            <a:srgbClr val="FFFFFF"/>
          </a:solidFill>
          <a:ln w="9525">
            <a:solidFill>
              <a:srgbClr val="D8DCE1"/>
            </a:solidFill>
            <a:prstDash val="solid"/>
          </a:ln>
        </p:spPr>
      </p:sp>
      <p:sp>
        <p:nvSpPr>
          <p:cNvPr id="31" name="Text 29" descr="" title=""/>
          <p:cNvSpPr/>
          <p:nvPr/>
        </p:nvSpPr>
        <p:spPr>
          <a:xfrm>
            <a:off x="4696867" y="6860381"/>
            <a:ext cx="567464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Speaks for the firm's network and relationship value.</a:t>
            </a:r>
            <a:endParaRPr lang="en-US" sz="1950" dirty="0"/>
          </a:p>
        </p:txBody>
      </p:sp>
      <p:sp>
        <p:nvSpPr>
          <p:cNvPr id="32" name="Shape 30" descr="" title=""/>
          <p:cNvSpPr/>
          <p:nvPr/>
        </p:nvSpPr>
        <p:spPr>
          <a:xfrm>
            <a:off x="10394603" y="6736556"/>
            <a:ext cx="7126635" cy="1078706"/>
          </a:xfrm>
          <a:prstGeom prst="rect">
            <a:avLst/>
          </a:prstGeom>
          <a:solidFill>
            <a:srgbClr val="FFFFFF"/>
          </a:solidFill>
          <a:ln w="9525">
            <a:solidFill>
              <a:srgbClr val="D8DCE1"/>
            </a:solidFill>
            <a:prstDash val="solid"/>
          </a:ln>
        </p:spPr>
      </p:sp>
      <p:sp>
        <p:nvSpPr>
          <p:cNvPr id="33" name="Text 31" descr="" title=""/>
          <p:cNvSpPr/>
          <p:nvPr/>
        </p:nvSpPr>
        <p:spPr>
          <a:xfrm>
            <a:off x="10594628" y="6860381"/>
            <a:ext cx="6940384" cy="869156"/>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Speaks only to logistics and access.</a:t>
            </a:r>
            <a:endParaRPr lang="en-US" sz="1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Sentence Length and Natural Tone</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8C2F2F"/>
                </a:solidFill>
                <a:latin typeface="Palatino Linotype" pitchFamily="34" charset="0"/>
                <a:ea typeface="Palatino Linotype" pitchFamily="34" charset="-122"/>
                <a:cs typeface="Palatino Linotype" pitchFamily="34" charset="-120"/>
              </a:rPr>
              <a:t>✕ Too Rigid</a:t>
            </a:r>
            <a:endParaRPr lang="en-US" sz="2700" dirty="0"/>
          </a:p>
        </p:txBody>
      </p:sp>
      <p:sp>
        <p:nvSpPr>
          <p:cNvPr id="7" name="Text 5" descr="" title=""/>
          <p:cNvSpPr/>
          <p:nvPr/>
        </p:nvSpPr>
        <p:spPr>
          <a:xfrm>
            <a:off x="1162050" y="5532239"/>
            <a:ext cx="7505224" cy="2137172"/>
          </a:xfrm>
          <a:prstGeom prst="rect">
            <a:avLst/>
          </a:prstGeom>
          <a:noFill/>
          <a:ln/>
        </p:spPr>
        <p:txBody>
          <a:bodyPr wrap="square" lIns="25400" tIns="25400" rIns="25400" bIns="25400" rtlCol="0" anchor="t">
            <a:normAutofit/>
          </a:bodyPr>
          <a:lstStyle/>
          <a:p>
            <a:pPr marL="0" indent="0" algn="l">
              <a:lnSpc>
                <a:spcPct val="108039"/>
              </a:lnSpc>
              <a:buNone/>
            </a:pPr>
            <a:r>
              <a:rPr lang="en-US" sz="2850" b="1" i="1" dirty="0">
                <a:solidFill>
                  <a:srgbClr val="0A0A0A"/>
                </a:solidFill>
                <a:latin typeface="Palatino Linotype" pitchFamily="34" charset="0"/>
                <a:ea typeface="Palatino Linotype" pitchFamily="34" charset="-122"/>
                <a:cs typeface="Palatino Linotype" pitchFamily="34" charset="-120"/>
              </a:rPr>
              <a:t>"I'd like to schedule a call. [Firm] is ranked #1 in banking. I defend consumer class actions. You'll benefit from our insights. Here are three times."</a:t>
            </a:r>
            <a:endParaRPr lang="en-US" sz="2850" dirty="0"/>
          </a:p>
        </p:txBody>
      </p:sp>
      <p:sp>
        <p:nvSpPr>
          <p:cNvPr id="8" name="Shape 6" descr="" title=""/>
          <p:cNvSpPr/>
          <p:nvPr/>
        </p:nvSpPr>
        <p:spPr>
          <a:xfrm>
            <a:off x="9420225" y="2743200"/>
            <a:ext cx="8115300" cy="6791325"/>
          </a:xfrm>
          <a:prstGeom prst="roundRect">
            <a:avLst>
              <a:gd name="adj" fmla="val 2244"/>
            </a:avLst>
          </a:prstGeom>
          <a:solidFill>
            <a:srgbClr val="1B2A47"/>
          </a:solidFill>
          <a:ln/>
        </p:spPr>
      </p:sp>
      <p:sp>
        <p:nvSpPr>
          <p:cNvPr id="9" name="Text 7"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D9C79E"/>
                </a:solidFill>
                <a:latin typeface="Palatino Linotype" pitchFamily="34" charset="0"/>
                <a:ea typeface="Palatino Linotype" pitchFamily="34" charset="-122"/>
                <a:cs typeface="Palatino Linotype" pitchFamily="34" charset="-120"/>
              </a:rPr>
              <a:t>✓ More Natural (Artful)</a:t>
            </a:r>
            <a:endParaRPr lang="en-US" sz="2700" dirty="0"/>
          </a:p>
        </p:txBody>
      </p:sp>
      <p:sp>
        <p:nvSpPr>
          <p:cNvPr id="10" name="Text 8" descr="" title=""/>
          <p:cNvSpPr/>
          <p:nvPr/>
        </p:nvSpPr>
        <p:spPr>
          <a:xfrm>
            <a:off x="9829800" y="5532239"/>
            <a:ext cx="7505224" cy="2137172"/>
          </a:xfrm>
          <a:prstGeom prst="rect">
            <a:avLst/>
          </a:prstGeom>
          <a:noFill/>
          <a:ln/>
        </p:spPr>
        <p:txBody>
          <a:bodyPr wrap="square" lIns="25400" tIns="25400" rIns="25400" bIns="25400" rtlCol="0" anchor="t">
            <a:normAutofit/>
          </a:bodyPr>
          <a:lstStyle/>
          <a:p>
            <a:pPr marL="0" indent="0" algn="l">
              <a:lnSpc>
                <a:spcPct val="108039"/>
              </a:lnSpc>
              <a:buNone/>
            </a:pPr>
            <a:r>
              <a:rPr lang="en-US" sz="2850" b="1" i="1" dirty="0">
                <a:solidFill>
                  <a:srgbClr val="FFFFFF"/>
                </a:solidFill>
                <a:latin typeface="Palatino Linotype" pitchFamily="34" charset="0"/>
                <a:ea typeface="Palatino Linotype" pitchFamily="34" charset="-122"/>
                <a:cs typeface="Palatino Linotype" pitchFamily="34" charset="-120"/>
              </a:rPr>
              <a:t>"I'm hoping to schedule a meeting to get introduced and find ways to build a relationship. In case you're unfamiliar with [Firm]... I'm confident we could be helpful."</a:t>
            </a:r>
            <a:endParaRPr lang="en-US" sz="285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38</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732383"/>
          </a:xfrm>
          <a:prstGeom prst="rect">
            <a:avLst/>
          </a:prstGeom>
          <a:noFill/>
          <a:ln/>
        </p:spPr>
        <p:txBody>
          <a:bodyPr wrap="square" lIns="25400" tIns="25400" rIns="25400" bIns="25400" rtlCol="0" anchor="t">
            <a:normAutofit/>
          </a:bodyPr>
          <a:lstStyle/>
          <a:p>
            <a:pPr marL="0" indent="0" algn="l">
              <a:lnSpc>
                <a:spcPct val="98182"/>
              </a:lnSpc>
              <a:buNone/>
            </a:pPr>
            <a:r>
              <a:rPr lang="en-US" sz="4050" b="1" dirty="0">
                <a:solidFill>
                  <a:srgbClr val="1B2A47"/>
                </a:solidFill>
                <a:latin typeface="Palatino Linotype" pitchFamily="34" charset="0"/>
                <a:ea typeface="Palatino Linotype" pitchFamily="34" charset="-122"/>
                <a:cs typeface="Palatino Linotype" pitchFamily="34" charset="-120"/>
              </a:rPr>
              <a:t>Subordinate Language vs. Respectful Deference</a:t>
            </a:r>
            <a:endParaRPr lang="en-US" sz="4050" dirty="0"/>
          </a:p>
        </p:txBody>
      </p:sp>
      <p:sp>
        <p:nvSpPr>
          <p:cNvPr id="5" name="Shape 3" descr="" title=""/>
          <p:cNvSpPr/>
          <p:nvPr/>
        </p:nvSpPr>
        <p:spPr>
          <a:xfrm>
            <a:off x="752475" y="8362950"/>
            <a:ext cx="16773525" cy="1095375"/>
          </a:xfrm>
          <a:prstGeom prst="roundRect">
            <a:avLst>
              <a:gd name="adj" fmla="val 13913"/>
            </a:avLst>
          </a:prstGeom>
          <a:solidFill>
            <a:srgbClr val="F5F5F4"/>
          </a:solidFill>
          <a:ln/>
        </p:spPr>
      </p:sp>
      <p:sp>
        <p:nvSpPr>
          <p:cNvPr id="6" name="Text 4" descr="" title=""/>
          <p:cNvSpPr/>
          <p:nvPr/>
        </p:nvSpPr>
        <p:spPr>
          <a:xfrm>
            <a:off x="1162050" y="8563570"/>
            <a:ext cx="16433006" cy="732234"/>
          </a:xfrm>
          <a:prstGeom prst="rect">
            <a:avLst/>
          </a:prstGeom>
          <a:noFill/>
          <a:ln/>
        </p:spPr>
        <p:txBody>
          <a:bodyPr wrap="square" lIns="25400" tIns="25400" rIns="25400" bIns="25400" rtlCol="0" anchor="t">
            <a:normAutofit/>
          </a:bodyPr>
          <a:lstStyle/>
          <a:p>
            <a:pPr marL="0" indent="0" algn="l">
              <a:lnSpc>
                <a:spcPct val="98182"/>
              </a:lnSpc>
              <a:buNone/>
            </a:pPr>
            <a:r>
              <a:rPr lang="en-US" sz="2025" b="1" i="1" dirty="0">
                <a:solidFill>
                  <a:srgbClr val="1B2A47"/>
                </a:solidFill>
                <a:latin typeface="Palatino Linotype" pitchFamily="34" charset="0"/>
                <a:ea typeface="Palatino Linotype" pitchFamily="34" charset="-122"/>
                <a:cs typeface="Palatino Linotype" pitchFamily="34" charset="-120"/>
              </a:rPr>
              <a:t>Litmus test: Is this phrase about my need, or their potential benefit? Professional courtesy is essential; deferential, apologetic language is not.</a:t>
            </a:r>
            <a:endParaRPr lang="en-US" sz="2025" dirty="0"/>
          </a:p>
        </p:txBody>
      </p:sp>
      <p:sp>
        <p:nvSpPr>
          <p:cNvPr id="7" name="Text 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8" name="Text 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9" name="Text 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39</a:t>
            </a:r>
            <a:endParaRPr lang="en-US" sz="1350" dirty="0"/>
          </a:p>
        </p:txBody>
      </p:sp>
      <p:sp>
        <p:nvSpPr>
          <p:cNvPr id="10" name="Shape 8" descr="" title=""/>
          <p:cNvSpPr/>
          <p:nvPr/>
        </p:nvSpPr>
        <p:spPr>
          <a:xfrm>
            <a:off x="757238" y="2747963"/>
            <a:ext cx="8008739" cy="847725"/>
          </a:xfrm>
          <a:prstGeom prst="rect">
            <a:avLst/>
          </a:prstGeom>
          <a:solidFill>
            <a:srgbClr val="1B2A47"/>
          </a:solidFill>
          <a:ln w="9525">
            <a:solidFill>
              <a:srgbClr val="D8DCE1"/>
            </a:solidFill>
            <a:prstDash val="solid"/>
          </a:ln>
        </p:spPr>
      </p:sp>
      <p:sp>
        <p:nvSpPr>
          <p:cNvPr id="11" name="Text 9" descr="" title=""/>
          <p:cNvSpPr/>
          <p:nvPr/>
        </p:nvSpPr>
        <p:spPr>
          <a:xfrm>
            <a:off x="957263" y="2871788"/>
            <a:ext cx="7848951" cy="638175"/>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Subordinate (Never Use)</a:t>
            </a:r>
            <a:endParaRPr lang="en-US" sz="2100" dirty="0"/>
          </a:p>
        </p:txBody>
      </p:sp>
      <p:sp>
        <p:nvSpPr>
          <p:cNvPr id="12" name="Shape 10" descr="" title=""/>
          <p:cNvSpPr/>
          <p:nvPr/>
        </p:nvSpPr>
        <p:spPr>
          <a:xfrm>
            <a:off x="8765977" y="2747963"/>
            <a:ext cx="8755261" cy="847725"/>
          </a:xfrm>
          <a:prstGeom prst="rect">
            <a:avLst/>
          </a:prstGeom>
          <a:solidFill>
            <a:srgbClr val="1B2A47"/>
          </a:solidFill>
          <a:ln w="9525">
            <a:solidFill>
              <a:srgbClr val="D8DCE1"/>
            </a:solidFill>
            <a:prstDash val="solid"/>
          </a:ln>
        </p:spPr>
      </p:sp>
      <p:sp>
        <p:nvSpPr>
          <p:cNvPr id="13" name="Text 11" descr="" title=""/>
          <p:cNvSpPr/>
          <p:nvPr/>
        </p:nvSpPr>
        <p:spPr>
          <a:xfrm>
            <a:off x="8966002" y="2871788"/>
            <a:ext cx="8617869" cy="638175"/>
          </a:xfrm>
          <a:prstGeom prst="rect">
            <a:avLst/>
          </a:prstGeom>
          <a:noFill/>
          <a:ln/>
        </p:spPr>
        <p:txBody>
          <a:bodyPr wrap="square" lIns="25400" tIns="25400" rIns="25400" bIns="25400" rtlCol="0" anchor="ctr">
            <a:normAutofit/>
          </a:bodyPr>
          <a:lstStyle/>
          <a:p>
            <a:pPr marL="0" indent="0" algn="l">
              <a:buNone/>
            </a:pPr>
            <a:r>
              <a:rPr lang="en-US" sz="2100" b="1" dirty="0">
                <a:solidFill>
                  <a:srgbClr val="FFFFFF"/>
                </a:solidFill>
                <a:latin typeface="Palatino Linotype" pitchFamily="34" charset="0"/>
                <a:ea typeface="Palatino Linotype" pitchFamily="34" charset="-122"/>
                <a:cs typeface="Palatino Linotype" pitchFamily="34" charset="-120"/>
              </a:rPr>
              <a:t>Respectful Deference (Appropriate)</a:t>
            </a:r>
            <a:endParaRPr lang="en-US" sz="2100" dirty="0"/>
          </a:p>
        </p:txBody>
      </p:sp>
      <p:sp>
        <p:nvSpPr>
          <p:cNvPr id="14" name="Shape 12" descr="" title=""/>
          <p:cNvSpPr/>
          <p:nvPr/>
        </p:nvSpPr>
        <p:spPr>
          <a:xfrm>
            <a:off x="757238" y="3595688"/>
            <a:ext cx="8008739" cy="847725"/>
          </a:xfrm>
          <a:prstGeom prst="rect">
            <a:avLst/>
          </a:prstGeom>
          <a:solidFill>
            <a:srgbClr val="FFFFFF"/>
          </a:solidFill>
          <a:ln w="9525">
            <a:solidFill>
              <a:srgbClr val="D8DCE1"/>
            </a:solidFill>
            <a:prstDash val="solid"/>
          </a:ln>
        </p:spPr>
      </p:sp>
      <p:sp>
        <p:nvSpPr>
          <p:cNvPr id="15" name="Text 13" descr="" title=""/>
          <p:cNvSpPr/>
          <p:nvPr/>
        </p:nvSpPr>
        <p:spPr>
          <a:xfrm>
            <a:off x="957263" y="3719512"/>
            <a:ext cx="7848951"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 would really appreciate your time."</a:t>
            </a:r>
            <a:endParaRPr lang="en-US" sz="1950" dirty="0"/>
          </a:p>
        </p:txBody>
      </p:sp>
      <p:sp>
        <p:nvSpPr>
          <p:cNvPr id="16" name="Shape 14" descr="" title=""/>
          <p:cNvSpPr/>
          <p:nvPr/>
        </p:nvSpPr>
        <p:spPr>
          <a:xfrm>
            <a:off x="8765977" y="3595688"/>
            <a:ext cx="8755261" cy="847725"/>
          </a:xfrm>
          <a:prstGeom prst="rect">
            <a:avLst/>
          </a:prstGeom>
          <a:solidFill>
            <a:srgbClr val="FFFFFF"/>
          </a:solidFill>
          <a:ln w="9525">
            <a:solidFill>
              <a:srgbClr val="D8DCE1"/>
            </a:solidFill>
            <a:prstDash val="solid"/>
          </a:ln>
        </p:spPr>
      </p:sp>
      <p:sp>
        <p:nvSpPr>
          <p:cNvPr id="17" name="Text 15" descr="" title=""/>
          <p:cNvSpPr/>
          <p:nvPr/>
        </p:nvSpPr>
        <p:spPr>
          <a:xfrm>
            <a:off x="8966002" y="3719512"/>
            <a:ext cx="8617869"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"If you'd find this valuable."</a:t>
            </a:r>
            <a:endParaRPr lang="en-US" sz="1950" dirty="0"/>
          </a:p>
        </p:txBody>
      </p:sp>
      <p:sp>
        <p:nvSpPr>
          <p:cNvPr id="18" name="Shape 16" descr="" title=""/>
          <p:cNvSpPr/>
          <p:nvPr/>
        </p:nvSpPr>
        <p:spPr>
          <a:xfrm>
            <a:off x="757238" y="4443413"/>
            <a:ext cx="8008739" cy="847725"/>
          </a:xfrm>
          <a:prstGeom prst="rect">
            <a:avLst/>
          </a:prstGeom>
          <a:solidFill>
            <a:srgbClr val="FFFFFF"/>
          </a:solidFill>
          <a:ln w="9525">
            <a:solidFill>
              <a:srgbClr val="D8DCE1"/>
            </a:solidFill>
            <a:prstDash val="solid"/>
          </a:ln>
        </p:spPr>
      </p:sp>
      <p:sp>
        <p:nvSpPr>
          <p:cNvPr id="19" name="Text 17" descr="" title=""/>
          <p:cNvSpPr/>
          <p:nvPr/>
        </p:nvSpPr>
        <p:spPr>
          <a:xfrm>
            <a:off x="957263" y="4567238"/>
            <a:ext cx="7848951"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"I'm sorry to bother you."</a:t>
            </a:r>
            <a:endParaRPr lang="en-US" sz="1950" dirty="0"/>
          </a:p>
        </p:txBody>
      </p:sp>
      <p:sp>
        <p:nvSpPr>
          <p:cNvPr id="20" name="Shape 18" descr="" title=""/>
          <p:cNvSpPr/>
          <p:nvPr/>
        </p:nvSpPr>
        <p:spPr>
          <a:xfrm>
            <a:off x="8765977" y="4443413"/>
            <a:ext cx="8755261" cy="847725"/>
          </a:xfrm>
          <a:prstGeom prst="rect">
            <a:avLst/>
          </a:prstGeom>
          <a:solidFill>
            <a:srgbClr val="FFFFFF"/>
          </a:solidFill>
          <a:ln w="9525">
            <a:solidFill>
              <a:srgbClr val="D8DCE1"/>
            </a:solidFill>
            <a:prstDash val="solid"/>
          </a:ln>
        </p:spPr>
      </p:sp>
      <p:sp>
        <p:nvSpPr>
          <p:cNvPr id="21" name="Text 19" descr="" title=""/>
          <p:cNvSpPr/>
          <p:nvPr/>
        </p:nvSpPr>
        <p:spPr>
          <a:xfrm>
            <a:off x="8966002" y="4567238"/>
            <a:ext cx="8617869"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"I'm reaching out because..."</a:t>
            </a:r>
            <a:endParaRPr lang="en-US" sz="1950" dirty="0"/>
          </a:p>
        </p:txBody>
      </p:sp>
      <p:sp>
        <p:nvSpPr>
          <p:cNvPr id="22" name="Shape 20" descr="" title=""/>
          <p:cNvSpPr/>
          <p:nvPr/>
        </p:nvSpPr>
        <p:spPr>
          <a:xfrm>
            <a:off x="757238" y="5291138"/>
            <a:ext cx="8008739" cy="847725"/>
          </a:xfrm>
          <a:prstGeom prst="rect">
            <a:avLst/>
          </a:prstGeom>
          <a:solidFill>
            <a:srgbClr val="FFFFFF"/>
          </a:solidFill>
          <a:ln w="9525">
            <a:solidFill>
              <a:srgbClr val="D8DCE1"/>
            </a:solidFill>
            <a:prstDash val="solid"/>
          </a:ln>
        </p:spPr>
      </p:sp>
      <p:sp>
        <p:nvSpPr>
          <p:cNvPr id="23" name="Text 21" descr="" title=""/>
          <p:cNvSpPr/>
          <p:nvPr/>
        </p:nvSpPr>
        <p:spPr>
          <a:xfrm>
            <a:off x="957263" y="5414963"/>
            <a:ext cx="7848951"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"If you could spare a few minutes."</a:t>
            </a:r>
            <a:endParaRPr lang="en-US" sz="1950" dirty="0"/>
          </a:p>
        </p:txBody>
      </p:sp>
      <p:sp>
        <p:nvSpPr>
          <p:cNvPr id="24" name="Shape 22" descr="" title=""/>
          <p:cNvSpPr/>
          <p:nvPr/>
        </p:nvSpPr>
        <p:spPr>
          <a:xfrm>
            <a:off x="8765977" y="5291138"/>
            <a:ext cx="8755261" cy="847725"/>
          </a:xfrm>
          <a:prstGeom prst="rect">
            <a:avLst/>
          </a:prstGeom>
          <a:solidFill>
            <a:srgbClr val="FFFFFF"/>
          </a:solidFill>
          <a:ln w="9525">
            <a:solidFill>
              <a:srgbClr val="D8DCE1"/>
            </a:solidFill>
            <a:prstDash val="solid"/>
          </a:ln>
        </p:spPr>
      </p:sp>
      <p:sp>
        <p:nvSpPr>
          <p:cNvPr id="25" name="Text 23" descr="" title=""/>
          <p:cNvSpPr/>
          <p:nvPr/>
        </p:nvSpPr>
        <p:spPr>
          <a:xfrm>
            <a:off x="8966002" y="5414963"/>
            <a:ext cx="8617869"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"If [dates] would be convenient."</a:t>
            </a:r>
            <a:endParaRPr lang="en-US" sz="1950" dirty="0"/>
          </a:p>
        </p:txBody>
      </p:sp>
      <p:sp>
        <p:nvSpPr>
          <p:cNvPr id="26" name="Shape 24" descr="" title=""/>
          <p:cNvSpPr/>
          <p:nvPr/>
        </p:nvSpPr>
        <p:spPr>
          <a:xfrm>
            <a:off x="757238" y="6138863"/>
            <a:ext cx="8008739" cy="847725"/>
          </a:xfrm>
          <a:prstGeom prst="rect">
            <a:avLst/>
          </a:prstGeom>
          <a:solidFill>
            <a:srgbClr val="FFFFFF"/>
          </a:solidFill>
          <a:ln w="9525">
            <a:solidFill>
              <a:srgbClr val="D8DCE1"/>
            </a:solidFill>
            <a:prstDash val="solid"/>
          </a:ln>
        </p:spPr>
      </p:sp>
      <p:sp>
        <p:nvSpPr>
          <p:cNvPr id="27" name="Text 25" descr="" title=""/>
          <p:cNvSpPr/>
          <p:nvPr/>
        </p:nvSpPr>
        <p:spPr>
          <a:xfrm>
            <a:off x="957263" y="6262688"/>
            <a:ext cx="7848951"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 know you're busy, but..."</a:t>
            </a:r>
            <a:endParaRPr lang="en-US" sz="1950" dirty="0"/>
          </a:p>
        </p:txBody>
      </p:sp>
      <p:sp>
        <p:nvSpPr>
          <p:cNvPr id="28" name="Shape 26" descr="" title=""/>
          <p:cNvSpPr/>
          <p:nvPr/>
        </p:nvSpPr>
        <p:spPr>
          <a:xfrm>
            <a:off x="8765977" y="6138863"/>
            <a:ext cx="8755261" cy="847725"/>
          </a:xfrm>
          <a:prstGeom prst="rect">
            <a:avLst/>
          </a:prstGeom>
          <a:solidFill>
            <a:srgbClr val="FFFFFF"/>
          </a:solidFill>
          <a:ln w="9525">
            <a:solidFill>
              <a:srgbClr val="D8DCE1"/>
            </a:solidFill>
            <a:prstDash val="solid"/>
          </a:ln>
        </p:spPr>
      </p:sp>
      <p:sp>
        <p:nvSpPr>
          <p:cNvPr id="29" name="Text 27" descr="" title=""/>
          <p:cNvSpPr/>
          <p:nvPr/>
        </p:nvSpPr>
        <p:spPr>
          <a:xfrm>
            <a:off x="8966002" y="6262688"/>
            <a:ext cx="8617869"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"I'm hoping to schedule a brief call."</a:t>
            </a:r>
            <a:endParaRPr lang="en-US" sz="1950" dirty="0"/>
          </a:p>
        </p:txBody>
      </p:sp>
      <p:sp>
        <p:nvSpPr>
          <p:cNvPr id="30" name="Shape 28" descr="" title=""/>
          <p:cNvSpPr/>
          <p:nvPr/>
        </p:nvSpPr>
        <p:spPr>
          <a:xfrm>
            <a:off x="757238" y="6986588"/>
            <a:ext cx="8008739" cy="847725"/>
          </a:xfrm>
          <a:prstGeom prst="rect">
            <a:avLst/>
          </a:prstGeom>
          <a:solidFill>
            <a:srgbClr val="FFFFFF"/>
          </a:solidFill>
          <a:ln w="9525">
            <a:solidFill>
              <a:srgbClr val="D8DCE1"/>
            </a:solidFill>
            <a:prstDash val="solid"/>
          </a:ln>
        </p:spPr>
      </p:sp>
      <p:sp>
        <p:nvSpPr>
          <p:cNvPr id="31" name="Text 29" descr="" title=""/>
          <p:cNvSpPr/>
          <p:nvPr/>
        </p:nvSpPr>
        <p:spPr>
          <a:xfrm>
            <a:off x="957263" y="7110413"/>
            <a:ext cx="7848951"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"Would you be willing to meet?"</a:t>
            </a:r>
            <a:endParaRPr lang="en-US" sz="1950" dirty="0"/>
          </a:p>
        </p:txBody>
      </p:sp>
      <p:sp>
        <p:nvSpPr>
          <p:cNvPr id="32" name="Shape 30" descr="" title=""/>
          <p:cNvSpPr/>
          <p:nvPr/>
        </p:nvSpPr>
        <p:spPr>
          <a:xfrm>
            <a:off x="8765977" y="6986588"/>
            <a:ext cx="8755261" cy="847725"/>
          </a:xfrm>
          <a:prstGeom prst="rect">
            <a:avLst/>
          </a:prstGeom>
          <a:solidFill>
            <a:srgbClr val="FFFFFF"/>
          </a:solidFill>
          <a:ln w="9525">
            <a:solidFill>
              <a:srgbClr val="D8DCE1"/>
            </a:solidFill>
            <a:prstDash val="solid"/>
          </a:ln>
        </p:spPr>
      </p:sp>
      <p:sp>
        <p:nvSpPr>
          <p:cNvPr id="33" name="Text 31" descr="" title=""/>
          <p:cNvSpPr/>
          <p:nvPr/>
        </p:nvSpPr>
        <p:spPr>
          <a:xfrm>
            <a:off x="8966002" y="7110413"/>
            <a:ext cx="8617869" cy="638175"/>
          </a:xfrm>
          <a:prstGeom prst="rect">
            <a:avLst/>
          </a:prstGeom>
          <a:noFill/>
          <a:ln/>
        </p:spPr>
        <p:txBody>
          <a:bodyPr wrap="square" lIns="25400" tIns="25400" rIns="25400" bIns="25400" rtlCol="0" anchor="ctr">
            <a:normAutofit/>
          </a:bodyPr>
          <a:lstStyle/>
          <a:p>
            <a:pPr marL="0" indent="0" algn="l">
              <a:buNone/>
            </a:pPr>
            <a:r>
              <a:rPr lang="en-US" sz="1950" dirty="0">
                <a:solidFill>
                  <a:srgbClr val="1B2A47"/>
                </a:solidFill>
                <a:latin typeface="Palatino Linotype" pitchFamily="34" charset="0"/>
                <a:ea typeface="Palatino Linotype" pitchFamily="34" charset="-122"/>
                <a:cs typeface="Palatino Linotype" pitchFamily="34" charset="-120"/>
              </a:rPr>
              <a:t>"I'd welcome the opportunity to connect."</a:t>
            </a:r>
            <a:endParaRPr lang="en-US" sz="1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6</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6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Sort each phrase: subordinate, or respectful deference?</a:t>
            </a:r>
            <a:endParaRPr lang="en-US" sz="2850" dirty="0"/>
          </a:p>
        </p:txBody>
      </p:sp>
      <p:sp>
        <p:nvSpPr>
          <p:cNvPr id="6" name="Shape 4" descr="" title=""/>
          <p:cNvSpPr/>
          <p:nvPr/>
        </p:nvSpPr>
        <p:spPr>
          <a:xfrm>
            <a:off x="752475" y="3019425"/>
            <a:ext cx="16773525" cy="838200"/>
          </a:xfrm>
          <a:prstGeom prst="roundRect">
            <a:avLst>
              <a:gd name="adj" fmla="val 18182"/>
            </a:avLst>
          </a:prstGeom>
          <a:solidFill>
            <a:srgbClr val="FFFFFF"/>
          </a:solidFill>
          <a:ln/>
        </p:spPr>
      </p:sp>
      <p:sp>
        <p:nvSpPr>
          <p:cNvPr id="7" name="Text 5" descr="" title=""/>
          <p:cNvSpPr/>
          <p:nvPr/>
        </p:nvSpPr>
        <p:spPr>
          <a:xfrm>
            <a:off x="1143000" y="3238500"/>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1. "If it's useful, I can send over a short overview."</a:t>
            </a:r>
            <a:endParaRPr lang="en-US" sz="2250" dirty="0"/>
          </a:p>
        </p:txBody>
      </p:sp>
      <p:sp>
        <p:nvSpPr>
          <p:cNvPr id="8" name="Shape 6" descr="" title=""/>
          <p:cNvSpPr/>
          <p:nvPr/>
        </p:nvSpPr>
        <p:spPr>
          <a:xfrm>
            <a:off x="752475" y="4067175"/>
            <a:ext cx="16773525" cy="838200"/>
          </a:xfrm>
          <a:prstGeom prst="roundRect">
            <a:avLst>
              <a:gd name="adj" fmla="val 18182"/>
            </a:avLst>
          </a:prstGeom>
          <a:solidFill>
            <a:srgbClr val="FFFFFF"/>
          </a:solidFill>
          <a:ln/>
        </p:spPr>
      </p:sp>
      <p:sp>
        <p:nvSpPr>
          <p:cNvPr id="9" name="Text 7" descr="" title=""/>
          <p:cNvSpPr/>
          <p:nvPr/>
        </p:nvSpPr>
        <p:spPr>
          <a:xfrm>
            <a:off x="1143000" y="4286250"/>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2. "I don't want to take up too much of your time, but..."</a:t>
            </a:r>
            <a:endParaRPr lang="en-US" sz="2250" dirty="0"/>
          </a:p>
        </p:txBody>
      </p:sp>
      <p:sp>
        <p:nvSpPr>
          <p:cNvPr id="10" name="Shape 8" descr="" title=""/>
          <p:cNvSpPr/>
          <p:nvPr/>
        </p:nvSpPr>
        <p:spPr>
          <a:xfrm>
            <a:off x="752475" y="5105400"/>
            <a:ext cx="16773525" cy="838200"/>
          </a:xfrm>
          <a:prstGeom prst="roundRect">
            <a:avLst>
              <a:gd name="adj" fmla="val 18182"/>
            </a:avLst>
          </a:prstGeom>
          <a:solidFill>
            <a:srgbClr val="FFFFFF"/>
          </a:solidFill>
          <a:ln/>
        </p:spPr>
      </p:sp>
      <p:sp>
        <p:nvSpPr>
          <p:cNvPr id="11" name="Text 9" descr="" title=""/>
          <p:cNvSpPr/>
          <p:nvPr/>
        </p:nvSpPr>
        <p:spPr>
          <a:xfrm>
            <a:off x="1143000" y="5324475"/>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3. "Sorry to keep bothering you about this."</a:t>
            </a:r>
            <a:endParaRPr lang="en-US" sz="2250" dirty="0"/>
          </a:p>
        </p:txBody>
      </p:sp>
      <p:sp>
        <p:nvSpPr>
          <p:cNvPr id="12" name="Shape 10" descr="" title=""/>
          <p:cNvSpPr/>
          <p:nvPr/>
        </p:nvSpPr>
        <p:spPr>
          <a:xfrm>
            <a:off x="752475" y="6153150"/>
            <a:ext cx="16773525" cy="838200"/>
          </a:xfrm>
          <a:prstGeom prst="roundRect">
            <a:avLst>
              <a:gd name="adj" fmla="val 18182"/>
            </a:avLst>
          </a:prstGeom>
          <a:solidFill>
            <a:srgbClr val="FFFFFF"/>
          </a:solidFill>
          <a:ln/>
        </p:spPr>
      </p:sp>
      <p:sp>
        <p:nvSpPr>
          <p:cNvPr id="13" name="Text 11" descr="" title=""/>
          <p:cNvSpPr/>
          <p:nvPr/>
        </p:nvSpPr>
        <p:spPr>
          <a:xfrm>
            <a:off x="1143000" y="6372225"/>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4. "Happy to work around your schedule — whichever day suits you best."</a:t>
            </a:r>
            <a:endParaRPr lang="en-US" sz="2250" dirty="0"/>
          </a:p>
        </p:txBody>
      </p:sp>
      <p:sp>
        <p:nvSpPr>
          <p:cNvPr id="14" name="Shape 12" descr="" title=""/>
          <p:cNvSpPr/>
          <p:nvPr/>
        </p:nvSpPr>
        <p:spPr>
          <a:xfrm>
            <a:off x="752475" y="7334250"/>
            <a:ext cx="16773525" cy="2057400"/>
          </a:xfrm>
          <a:prstGeom prst="roundRect">
            <a:avLst>
              <a:gd name="adj" fmla="val 7407"/>
            </a:avLst>
          </a:prstGeom>
          <a:solidFill>
            <a:srgbClr val="1B2A47"/>
          </a:solidFill>
          <a:ln/>
        </p:spPr>
      </p:sp>
      <p:sp>
        <p:nvSpPr>
          <p:cNvPr id="15" name="Text 13" descr="" title=""/>
          <p:cNvSpPr/>
          <p:nvPr/>
        </p:nvSpPr>
        <p:spPr>
          <a:xfrm>
            <a:off x="1162050" y="7608391"/>
            <a:ext cx="9790896" cy="381000"/>
          </a:xfrm>
          <a:prstGeom prst="rect">
            <a:avLst/>
          </a:prstGeom>
          <a:noFill/>
          <a:ln/>
        </p:spPr>
        <p:txBody>
          <a:bodyPr wrap="square" lIns="25400" tIns="25400" rIns="25400" bIns="25400" rtlCol="0" anchor="t">
            <a:normAutofit/>
          </a:bodyPr>
          <a:lstStyle/>
          <a:p>
            <a:pPr marL="0" indent="0" algn="l">
              <a:lnSpc>
                <a:spcPct val="101250"/>
              </a:lnSpc>
              <a:buNone/>
            </a:pPr>
            <a:r>
              <a:rPr lang="en-US" sz="2025" b="1" kern="0" spc="150" dirty="0">
                <a:solidFill>
                  <a:srgbClr val="A9814B"/>
                </a:solidFill>
                <a:latin typeface="Palatino Linotype" pitchFamily="34" charset="0"/>
                <a:ea typeface="Palatino Linotype" pitchFamily="34" charset="-122"/>
                <a:cs typeface="Palatino Linotype" pitchFamily="34" charset="-120"/>
              </a:rPr>
              <a:t>ANSWER · 2 and 3 = Subordinate · 1 and 4 = Respectful Deference</a:t>
            </a:r>
            <a:endParaRPr lang="en-US" sz="2025" dirty="0"/>
          </a:p>
        </p:txBody>
      </p:sp>
      <p:sp>
        <p:nvSpPr>
          <p:cNvPr id="16" name="Text 14" descr="" title=""/>
          <p:cNvSpPr/>
          <p:nvPr/>
        </p:nvSpPr>
        <p:spPr>
          <a:xfrm>
            <a:off x="1162050" y="8048625"/>
            <a:ext cx="16433006" cy="83820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FFFFFF"/>
                </a:solidFill>
                <a:latin typeface="Palatino Linotype" pitchFamily="34" charset="0"/>
                <a:ea typeface="Palatino Linotype" pitchFamily="34" charset="-122"/>
                <a:cs typeface="Palatino Linotype" pitchFamily="34" charset="-120"/>
              </a:rPr>
              <a:t>Subordinate language focuses on what you want from them. Respectful deference focuses on whether they'd find value, and acknowledges they make the final call.</a:t>
            </a:r>
            <a:endParaRPr lang="en-US" sz="225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40</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Spectrum of Approach</a:t>
            </a:r>
            <a:endParaRPr lang="en-US" sz="4500" dirty="0"/>
          </a:p>
        </p:txBody>
      </p:sp>
      <p:sp>
        <p:nvSpPr>
          <p:cNvPr id="5" name="Text 3" descr="" title=""/>
          <p:cNvSpPr/>
          <p:nvPr/>
        </p:nvSpPr>
        <p:spPr>
          <a:xfrm>
            <a:off x="819150" y="4700588"/>
            <a:ext cx="38100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76350" y="4700588"/>
            <a:ext cx="16668464"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High Directness: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Clear invitation exists, trust is established, the buyer has signaled decision readiness, or the conversation is attorney-to-attorney.</a:t>
            </a:r>
            <a:endParaRPr lang="en-US" sz="1200" dirty="0"/>
          </a:p>
        </p:txBody>
      </p:sp>
      <p:sp>
        <p:nvSpPr>
          <p:cNvPr id="7" name="Text 5" descr="" title=""/>
          <p:cNvSpPr/>
          <p:nvPr/>
        </p:nvSpPr>
        <p:spPr>
          <a:xfrm>
            <a:off x="819150" y="5818287"/>
            <a:ext cx="38100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76350" y="5818287"/>
            <a:ext cx="16668464"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Moderate Directness (most common):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First or second substantive meeting, buyer evaluating multiple options, or a BD professional facilitating an introduction.</a:t>
            </a:r>
            <a:endParaRPr lang="en-US" sz="1200" dirty="0"/>
          </a:p>
        </p:txBody>
      </p:sp>
      <p:sp>
        <p:nvSpPr>
          <p:cNvPr id="9" name="Text 7" descr="" title=""/>
          <p:cNvSpPr/>
          <p:nvPr/>
        </p:nvSpPr>
        <p:spPr>
          <a:xfrm>
            <a:off x="819150" y="6935986"/>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76350" y="6935986"/>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Lower Directness:</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Very early or cold relationship, no signaled interest, or providing value with no immediate ask.</a:t>
            </a:r>
            <a:endParaRPr lang="en-US" sz="12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41</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Reading the Signals</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1B2A47"/>
                </a:solidFill>
                <a:latin typeface="Palatino Linotype" pitchFamily="34" charset="0"/>
                <a:ea typeface="Palatino Linotype" pitchFamily="34" charset="-122"/>
                <a:cs typeface="Palatino Linotype" pitchFamily="34" charset="-120"/>
              </a:rPr>
              <a:t>Move Toward More Directness</a:t>
            </a:r>
            <a:endParaRPr lang="en-US" sz="2700" dirty="0"/>
          </a:p>
        </p:txBody>
      </p:sp>
      <p:sp>
        <p:nvSpPr>
          <p:cNvPr id="7" name="Text 5" descr="" title=""/>
          <p:cNvSpPr/>
          <p:nvPr/>
        </p:nvSpPr>
        <p:spPr>
          <a:xfrm>
            <a:off x="1162050" y="466725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466725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The buyer asks specific questions about process, timeline, or fees.</a:t>
            </a:r>
            <a:endParaRPr lang="en-US" sz="2550" dirty="0"/>
          </a:p>
        </p:txBody>
      </p:sp>
      <p:sp>
        <p:nvSpPr>
          <p:cNvPr id="9" name="Text 7" descr="" title=""/>
          <p:cNvSpPr/>
          <p:nvPr/>
        </p:nvSpPr>
        <p:spPr>
          <a:xfrm>
            <a:off x="1162050" y="594360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594360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The buyer introduces you to other decision-makers or requests proposals.</a:t>
            </a:r>
            <a:endParaRPr lang="en-US" sz="2550" dirty="0"/>
          </a:p>
        </p:txBody>
      </p:sp>
      <p:sp>
        <p:nvSpPr>
          <p:cNvPr id="11" name="Text 9" descr="" title=""/>
          <p:cNvSpPr/>
          <p:nvPr/>
        </p:nvSpPr>
        <p:spPr>
          <a:xfrm>
            <a:off x="1162050" y="721995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2" name="Text 10" descr="" title=""/>
          <p:cNvSpPr/>
          <p:nvPr/>
        </p:nvSpPr>
        <p:spPr>
          <a:xfrm>
            <a:off x="1619250" y="721995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The relationship is established, or you're speaking attorney-to-attorney.</a:t>
            </a:r>
            <a:endParaRPr lang="en-US" sz="2550" dirty="0"/>
          </a:p>
        </p:txBody>
      </p:sp>
      <p:sp>
        <p:nvSpPr>
          <p:cNvPr id="13" name="Shape 11" descr="" title=""/>
          <p:cNvSpPr/>
          <p:nvPr/>
        </p:nvSpPr>
        <p:spPr>
          <a:xfrm>
            <a:off x="9420225" y="2743200"/>
            <a:ext cx="8115300" cy="6791325"/>
          </a:xfrm>
          <a:prstGeom prst="roundRect">
            <a:avLst>
              <a:gd name="adj" fmla="val 2244"/>
            </a:avLst>
          </a:prstGeom>
          <a:solidFill>
            <a:srgbClr val="1B2A47"/>
          </a:solidFill>
          <a:ln/>
        </p:spPr>
      </p:sp>
      <p:sp>
        <p:nvSpPr>
          <p:cNvPr id="14" name="Text 12"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FFFFFF"/>
                </a:solidFill>
                <a:latin typeface="Palatino Linotype" pitchFamily="34" charset="0"/>
                <a:ea typeface="Palatino Linotype" pitchFamily="34" charset="-122"/>
                <a:cs typeface="Palatino Linotype" pitchFamily="34" charset="-120"/>
              </a:rPr>
              <a:t>Move Toward Less Directness</a:t>
            </a:r>
            <a:endParaRPr lang="en-US" sz="2700" dirty="0"/>
          </a:p>
        </p:txBody>
      </p:sp>
      <p:sp>
        <p:nvSpPr>
          <p:cNvPr id="15" name="Text 13" descr="" title=""/>
          <p:cNvSpPr/>
          <p:nvPr/>
        </p:nvSpPr>
        <p:spPr>
          <a:xfrm>
            <a:off x="9829800" y="466725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6" name="Text 14" descr="" title=""/>
          <p:cNvSpPr/>
          <p:nvPr/>
        </p:nvSpPr>
        <p:spPr>
          <a:xfrm>
            <a:off x="10287000" y="466725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The buyer gives vague or delayed responses, or deflects on timeline and budget.</a:t>
            </a:r>
            <a:endParaRPr lang="en-US" sz="2550" dirty="0"/>
          </a:p>
        </p:txBody>
      </p:sp>
      <p:sp>
        <p:nvSpPr>
          <p:cNvPr id="17" name="Text 15" descr="" title=""/>
          <p:cNvSpPr/>
          <p:nvPr/>
        </p:nvSpPr>
        <p:spPr>
          <a:xfrm>
            <a:off x="9829800" y="594360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18" name="Text 16" descr="" title=""/>
          <p:cNvSpPr/>
          <p:nvPr/>
        </p:nvSpPr>
        <p:spPr>
          <a:xfrm>
            <a:off x="10287000" y="594360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Multiple competing firms are involved, or the buyer signals they're evaluating options.</a:t>
            </a:r>
            <a:endParaRPr lang="en-US" sz="2550" dirty="0"/>
          </a:p>
        </p:txBody>
      </p:sp>
      <p:sp>
        <p:nvSpPr>
          <p:cNvPr id="19" name="Text 17" descr="" title=""/>
          <p:cNvSpPr/>
          <p:nvPr/>
        </p:nvSpPr>
        <p:spPr>
          <a:xfrm>
            <a:off x="9829800" y="7219950"/>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FFFFFF"/>
                </a:solidFill>
                <a:latin typeface="Palatino Linotype" pitchFamily="34" charset="0"/>
                <a:ea typeface="Palatino Linotype" pitchFamily="34" charset="-122"/>
                <a:cs typeface="Palatino Linotype" pitchFamily="34" charset="-120"/>
              </a:rPr>
              <a:t>•</a:t>
            </a:r>
            <a:endParaRPr lang="en-US" sz="2550" dirty="0"/>
          </a:p>
        </p:txBody>
      </p:sp>
      <p:sp>
        <p:nvSpPr>
          <p:cNvPr id="20" name="Text 18" descr="" title=""/>
          <p:cNvSpPr/>
          <p:nvPr/>
        </p:nvSpPr>
        <p:spPr>
          <a:xfrm>
            <a:off x="10287000" y="7219950"/>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FFFFFF"/>
                </a:solidFill>
                <a:latin typeface="Palatino Linotype" pitchFamily="34" charset="0"/>
                <a:ea typeface="Palatino Linotype" pitchFamily="34" charset="-122"/>
                <a:cs typeface="Palatino Linotype" pitchFamily="34" charset="-120"/>
              </a:rPr>
              <a:t>The relationship is new or cold, or cultural factors call for care.</a:t>
            </a:r>
            <a:endParaRPr lang="en-US" sz="2550" dirty="0"/>
          </a:p>
        </p:txBody>
      </p:sp>
      <p:sp>
        <p:nvSpPr>
          <p:cNvPr id="21" name="Text 1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2" name="Text 2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3" name="Text 2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42</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Engagement Decision: A Special Case</a:t>
            </a:r>
            <a:endParaRPr lang="en-US" sz="4500" dirty="0"/>
          </a:p>
        </p:txBody>
      </p:sp>
      <p:sp>
        <p:nvSpPr>
          <p:cNvPr id="5" name="Shape 3" descr="" title=""/>
          <p:cNvSpPr/>
          <p:nvPr/>
        </p:nvSpPr>
        <p:spPr>
          <a:xfrm>
            <a:off x="752475" y="2743200"/>
            <a:ext cx="8115300" cy="6791325"/>
          </a:xfrm>
          <a:prstGeom prst="roundRect">
            <a:avLst>
              <a:gd name="adj" fmla="val 2244"/>
            </a:avLst>
          </a:prstGeom>
          <a:solidFill>
            <a:srgbClr val="F5F5F4"/>
          </a:solidFill>
          <a:ln/>
        </p:spPr>
      </p:sp>
      <p:sp>
        <p:nvSpPr>
          <p:cNvPr id="6" name="Text 4" descr="" title=""/>
          <p:cNvSpPr/>
          <p:nvPr/>
        </p:nvSpPr>
        <p:spPr>
          <a:xfrm>
            <a:off x="1143000"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8C2F2F"/>
                </a:solidFill>
                <a:latin typeface="Palatino Linotype" pitchFamily="34" charset="0"/>
                <a:ea typeface="Palatino Linotype" pitchFamily="34" charset="-122"/>
                <a:cs typeface="Palatino Linotype" pitchFamily="34" charset="-120"/>
              </a:rPr>
              <a:t>✕ Too Aggressive / Too Passive</a:t>
            </a:r>
            <a:endParaRPr lang="en-US" sz="2700" dirty="0"/>
          </a:p>
        </p:txBody>
      </p:sp>
      <p:sp>
        <p:nvSpPr>
          <p:cNvPr id="7" name="Text 5" descr="" title=""/>
          <p:cNvSpPr/>
          <p:nvPr/>
        </p:nvSpPr>
        <p:spPr>
          <a:xfrm>
            <a:off x="1162050" y="5062538"/>
            <a:ext cx="381000" cy="1495425"/>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619250" y="5062538"/>
            <a:ext cx="7034308" cy="1495425"/>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"We should get started immediately. I'll send the engagement letter and we can kick off Monday."</a:t>
            </a:r>
            <a:endParaRPr lang="en-US" sz="2550" dirty="0"/>
          </a:p>
        </p:txBody>
      </p:sp>
      <p:sp>
        <p:nvSpPr>
          <p:cNvPr id="9" name="Text 7" descr="" title=""/>
          <p:cNvSpPr/>
          <p:nvPr/>
        </p:nvSpPr>
        <p:spPr>
          <a:xfrm>
            <a:off x="1162050" y="6824663"/>
            <a:ext cx="381000" cy="1009650"/>
          </a:xfrm>
          <a:prstGeom prst="rect">
            <a:avLst/>
          </a:prstGeom>
          <a:noFill/>
          <a:ln/>
        </p:spPr>
        <p:txBody>
          <a:bodyPr wrap="square" lIns="25400" tIns="25400" rIns="25400" bIns="25400" rtlCol="0" anchor="t">
            <a:normAutofit/>
          </a:bodyPr>
          <a:lstStyle/>
          <a:p>
            <a:pPr marL="0" indent="0" algn="l">
              <a:lnSpc>
                <a:spcPct val="110870"/>
              </a:lnSpc>
              <a:buNone/>
            </a:pPr>
            <a:r>
              <a:rPr lang="en-US" sz="2550" dirty="0">
                <a:solidFill>
                  <a:srgbClr val="0A0A0A"/>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619250" y="6824663"/>
            <a:ext cx="7034308" cy="1009650"/>
          </a:xfrm>
          <a:prstGeom prst="rect">
            <a:avLst/>
          </a:prstGeom>
          <a:noFill/>
          <a:ln/>
        </p:spPr>
        <p:txBody>
          <a:bodyPr wrap="square" lIns="25400" tIns="25400" rIns="25400" bIns="25400" rtlCol="0" anchor="t">
            <a:normAutofit/>
          </a:bodyPr>
          <a:lstStyle/>
          <a:p>
            <a:pPr marL="0" indent="0" algn="l">
              <a:lnSpc>
                <a:spcPct val="109091"/>
              </a:lnSpc>
              <a:buNone/>
            </a:pPr>
            <a:r>
              <a:rPr lang="en-US" sz="2550" dirty="0">
                <a:solidFill>
                  <a:srgbClr val="0A0A0A"/>
                </a:solidFill>
                <a:latin typeface="Palatino Linotype" pitchFamily="34" charset="0"/>
                <a:ea typeface="Palatino Linotype" pitchFamily="34" charset="-122"/>
                <a:cs typeface="Palatino Linotype" pitchFamily="34" charset="-120"/>
              </a:rPr>
              <a:t>"Let me know if you'd like to move forward at some point. No rush."</a:t>
            </a:r>
            <a:endParaRPr lang="en-US" sz="2550" dirty="0"/>
          </a:p>
        </p:txBody>
      </p:sp>
      <p:sp>
        <p:nvSpPr>
          <p:cNvPr id="11" name="Shape 9" descr="" title=""/>
          <p:cNvSpPr/>
          <p:nvPr/>
        </p:nvSpPr>
        <p:spPr>
          <a:xfrm>
            <a:off x="9420225" y="2743200"/>
            <a:ext cx="8115300" cy="6791325"/>
          </a:xfrm>
          <a:prstGeom prst="roundRect">
            <a:avLst>
              <a:gd name="adj" fmla="val 2244"/>
            </a:avLst>
          </a:prstGeom>
          <a:solidFill>
            <a:srgbClr val="1B2A47"/>
          </a:solidFill>
          <a:ln/>
        </p:spPr>
      </p:sp>
      <p:sp>
        <p:nvSpPr>
          <p:cNvPr id="12" name="Text 10" descr="" title=""/>
          <p:cNvSpPr/>
          <p:nvPr/>
        </p:nvSpPr>
        <p:spPr>
          <a:xfrm>
            <a:off x="9801225" y="3145185"/>
            <a:ext cx="7583710" cy="500955"/>
          </a:xfrm>
          <a:prstGeom prst="rect">
            <a:avLst/>
          </a:prstGeom>
          <a:noFill/>
          <a:ln/>
        </p:spPr>
        <p:txBody>
          <a:bodyPr wrap="square" lIns="25400" tIns="25400" rIns="25400" bIns="25400" rtlCol="0" anchor="t">
            <a:normAutofit/>
          </a:bodyPr>
          <a:lstStyle/>
          <a:p>
            <a:pPr marL="0" indent="0" algn="l">
              <a:lnSpc>
                <a:spcPct val="98182"/>
              </a:lnSpc>
              <a:buNone/>
            </a:pPr>
            <a:r>
              <a:rPr lang="en-US" sz="2700" b="1" dirty="0">
                <a:solidFill>
                  <a:srgbClr val="D9C79E"/>
                </a:solidFill>
                <a:latin typeface="Palatino Linotype" pitchFamily="34" charset="0"/>
                <a:ea typeface="Palatino Linotype" pitchFamily="34" charset="-122"/>
                <a:cs typeface="Palatino Linotype" pitchFamily="34" charset="-120"/>
              </a:rPr>
              <a:t>✓ Artful Approach</a:t>
            </a:r>
            <a:endParaRPr lang="en-US" sz="2700" dirty="0"/>
          </a:p>
        </p:txBody>
      </p:sp>
      <p:sp>
        <p:nvSpPr>
          <p:cNvPr id="13" name="Text 11" descr="" title=""/>
          <p:cNvSpPr/>
          <p:nvPr/>
        </p:nvSpPr>
        <p:spPr>
          <a:xfrm>
            <a:off x="9829800" y="5532239"/>
            <a:ext cx="7505224" cy="2137172"/>
          </a:xfrm>
          <a:prstGeom prst="rect">
            <a:avLst/>
          </a:prstGeom>
          <a:noFill/>
          <a:ln/>
        </p:spPr>
        <p:txBody>
          <a:bodyPr wrap="square" lIns="25400" tIns="25400" rIns="25400" bIns="25400" rtlCol="0" anchor="t">
            <a:normAutofit/>
          </a:bodyPr>
          <a:lstStyle/>
          <a:p>
            <a:pPr marL="0" indent="0" algn="l">
              <a:lnSpc>
                <a:spcPct val="108039"/>
              </a:lnSpc>
              <a:buNone/>
            </a:pPr>
            <a:r>
              <a:rPr lang="en-US" sz="2850" b="1" i="1" dirty="0">
                <a:solidFill>
                  <a:srgbClr val="FFFFFF"/>
                </a:solidFill>
                <a:latin typeface="Palatino Linotype" pitchFamily="34" charset="0"/>
                <a:ea typeface="Palatino Linotype" pitchFamily="34" charset="-122"/>
                <a:cs typeface="Palatino Linotype" pitchFamily="34" charset="-120"/>
              </a:rPr>
              <a:t>"Based on what you've described, it makes sense for us to work together. If you'd like to move forward, I'll send over an engagement letter along with our credentials."</a:t>
            </a:r>
            <a:endParaRPr lang="en-US" sz="2850" dirty="0"/>
          </a:p>
        </p:txBody>
      </p:sp>
      <p:sp>
        <p:nvSpPr>
          <p:cNvPr id="14" name="Text 12"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5" name="Text 13"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6" name="Text 14"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43</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Common Errors in Artfulness</a:t>
            </a:r>
            <a:endParaRPr lang="en-US" sz="4500" dirty="0"/>
          </a:p>
        </p:txBody>
      </p:sp>
      <p:sp>
        <p:nvSpPr>
          <p:cNvPr id="5" name="Text 3" descr="" title=""/>
          <p:cNvSpPr/>
          <p:nvPr/>
        </p:nvSpPr>
        <p:spPr>
          <a:xfrm>
            <a:off x="819150" y="4365575"/>
            <a:ext cx="381000"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6" name="Text 4" descr="" title=""/>
          <p:cNvSpPr/>
          <p:nvPr/>
        </p:nvSpPr>
        <p:spPr>
          <a:xfrm>
            <a:off x="1257300" y="4365575"/>
            <a:ext cx="7760303"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Defaulting to one end of the spectrum: Always aggressive or always deferential.</a:t>
            </a:r>
            <a:endParaRPr lang="en-US" sz="2400" dirty="0"/>
          </a:p>
        </p:txBody>
      </p:sp>
      <p:sp>
        <p:nvSpPr>
          <p:cNvPr id="7" name="Text 5" descr="" title=""/>
          <p:cNvSpPr/>
          <p:nvPr/>
        </p:nvSpPr>
        <p:spPr>
          <a:xfrm>
            <a:off x="819150" y="5573167"/>
            <a:ext cx="381000"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8" name="Text 6" descr="" title=""/>
          <p:cNvSpPr/>
          <p:nvPr/>
        </p:nvSpPr>
        <p:spPr>
          <a:xfrm>
            <a:off x="1257300" y="5573167"/>
            <a:ext cx="7760303"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Mistaking politeness for weakness: Professional courtesy is essential; apologetic language is fatal.</a:t>
            </a:r>
            <a:endParaRPr lang="en-US" sz="2400" dirty="0"/>
          </a:p>
        </p:txBody>
      </p:sp>
      <p:sp>
        <p:nvSpPr>
          <p:cNvPr id="9" name="Text 7" descr="" title=""/>
          <p:cNvSpPr/>
          <p:nvPr/>
        </p:nvSpPr>
        <p:spPr>
          <a:xfrm>
            <a:off x="819150" y="6780758"/>
            <a:ext cx="381000"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10" name="Text 8" descr="" title=""/>
          <p:cNvSpPr/>
          <p:nvPr/>
        </p:nvSpPr>
        <p:spPr>
          <a:xfrm>
            <a:off x="1257300" y="6780758"/>
            <a:ext cx="7760303"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Over-reading buyer hesitation: Retreating into passivity when buyers are simply managing internal processes.</a:t>
            </a:r>
            <a:endParaRPr lang="en-US" sz="2400" dirty="0"/>
          </a:p>
        </p:txBody>
      </p:sp>
      <p:sp>
        <p:nvSpPr>
          <p:cNvPr id="11" name="Text 9" descr="" title=""/>
          <p:cNvSpPr/>
          <p:nvPr/>
        </p:nvSpPr>
        <p:spPr>
          <a:xfrm>
            <a:off x="9344025" y="4144566"/>
            <a:ext cx="381000"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12" name="Text 10" descr="" title=""/>
          <p:cNvSpPr/>
          <p:nvPr/>
        </p:nvSpPr>
        <p:spPr>
          <a:xfrm>
            <a:off x="9782175" y="4144566"/>
            <a:ext cx="7760303"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Under-reading buyer disinterest: Failing to recognize when to gracefully disengage.</a:t>
            </a:r>
            <a:endParaRPr lang="en-US" sz="2400" dirty="0"/>
          </a:p>
        </p:txBody>
      </p:sp>
      <p:sp>
        <p:nvSpPr>
          <p:cNvPr id="13" name="Text 11" descr="" title=""/>
          <p:cNvSpPr/>
          <p:nvPr/>
        </p:nvSpPr>
        <p:spPr>
          <a:xfrm>
            <a:off x="9344025" y="5352157"/>
            <a:ext cx="381000"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14" name="Text 12" descr="" title=""/>
          <p:cNvSpPr/>
          <p:nvPr/>
        </p:nvSpPr>
        <p:spPr>
          <a:xfrm>
            <a:off x="9782175" y="5352157"/>
            <a:ext cx="7760303" cy="92184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Applying attorney-level directness when you're not the attorney.</a:t>
            </a:r>
            <a:endParaRPr lang="en-US" sz="2400" dirty="0"/>
          </a:p>
        </p:txBody>
      </p:sp>
      <p:sp>
        <p:nvSpPr>
          <p:cNvPr id="15" name="Text 13" descr="" title=""/>
          <p:cNvSpPr/>
          <p:nvPr/>
        </p:nvSpPr>
        <p:spPr>
          <a:xfrm>
            <a:off x="9344025" y="6559748"/>
            <a:ext cx="381000" cy="1363712"/>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a:t>
            </a:r>
            <a:endParaRPr lang="en-US" sz="2400" dirty="0"/>
          </a:p>
        </p:txBody>
      </p:sp>
      <p:sp>
        <p:nvSpPr>
          <p:cNvPr id="16" name="Text 14" descr="" title=""/>
          <p:cNvSpPr/>
          <p:nvPr/>
        </p:nvSpPr>
        <p:spPr>
          <a:xfrm>
            <a:off x="9782175" y="6559748"/>
            <a:ext cx="7760303" cy="1363712"/>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0A0A0A"/>
                </a:solidFill>
                <a:latin typeface="Palatino Linotype" pitchFamily="34" charset="0"/>
                <a:ea typeface="Palatino Linotype" pitchFamily="34" charset="-122"/>
                <a:cs typeface="Palatino Linotype" pitchFamily="34" charset="-120"/>
              </a:rPr>
              <a:t>Being too dogmatic about the "rules": the five-sentence structure and "no question marks" are guidelines, not absolute laws.</a:t>
            </a:r>
            <a:endParaRPr lang="en-US" sz="240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44</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766498"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6 · ARTFULNESS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The Confidence-Respect Matrix</a:t>
            </a:r>
            <a:endParaRPr lang="en-US" sz="4500" dirty="0"/>
          </a:p>
        </p:txBody>
      </p:sp>
      <p:sp>
        <p:nvSpPr>
          <p:cNvPr id="5" name="Shape 3" descr="" title=""/>
          <p:cNvSpPr/>
          <p:nvPr/>
        </p:nvSpPr>
        <p:spPr>
          <a:xfrm>
            <a:off x="2876550" y="2743200"/>
            <a:ext cx="7267575" cy="3076575"/>
          </a:xfrm>
          <a:prstGeom prst="rect">
            <a:avLst/>
          </a:prstGeom>
          <a:solidFill>
            <a:srgbClr val="F5F5F4"/>
          </a:solidFill>
          <a:ln/>
        </p:spPr>
      </p:sp>
      <p:sp>
        <p:nvSpPr>
          <p:cNvPr id="6" name="Text 4" descr="" title=""/>
          <p:cNvSpPr/>
          <p:nvPr/>
        </p:nvSpPr>
        <p:spPr>
          <a:xfrm>
            <a:off x="3219450" y="3088184"/>
            <a:ext cx="6779228" cy="462409"/>
          </a:xfrm>
          <a:prstGeom prst="rect">
            <a:avLst/>
          </a:prstGeom>
          <a:noFill/>
          <a:ln/>
        </p:spPr>
        <p:txBody>
          <a:bodyPr wrap="square" lIns="25400" tIns="25400" rIns="25400" bIns="25400" rtlCol="0" anchor="t">
            <a:normAutofit/>
          </a:bodyPr>
          <a:lstStyle/>
          <a:p>
            <a:pPr marL="0" indent="0" algn="l">
              <a:lnSpc>
                <a:spcPct val="98182"/>
              </a:lnSpc>
              <a:buNone/>
            </a:pPr>
            <a:r>
              <a:rPr lang="en-US" sz="2475" b="1" dirty="0">
                <a:solidFill>
                  <a:srgbClr val="1B2A47"/>
                </a:solidFill>
                <a:latin typeface="Palatino Linotype" pitchFamily="34" charset="0"/>
                <a:ea typeface="Palatino Linotype" pitchFamily="34" charset="-122"/>
                <a:cs typeface="Palatino Linotype" pitchFamily="34" charset="-120"/>
              </a:rPr>
              <a:t>Deferential / Passive</a:t>
            </a:r>
            <a:endParaRPr lang="en-US" sz="2475" dirty="0"/>
          </a:p>
        </p:txBody>
      </p:sp>
      <p:sp>
        <p:nvSpPr>
          <p:cNvPr id="7" name="Text 5" descr="" title=""/>
          <p:cNvSpPr/>
          <p:nvPr/>
        </p:nvSpPr>
        <p:spPr>
          <a:xfrm>
            <a:off x="3219450" y="4473922"/>
            <a:ext cx="6779228" cy="424755"/>
          </a:xfrm>
          <a:prstGeom prst="rect">
            <a:avLst/>
          </a:prstGeom>
          <a:noFill/>
          <a:ln/>
        </p:spPr>
        <p:txBody>
          <a:bodyPr wrap="square" lIns="25400" tIns="25400" rIns="25400" bIns="25400" rtlCol="0" anchor="t">
            <a:normAutofit/>
          </a:bodyPr>
          <a:lstStyle/>
          <a:p>
            <a:pPr marL="0" indent="0" algn="l">
              <a:lnSpc>
                <a:spcPct val="105455"/>
              </a:lnSpc>
              <a:buNone/>
            </a:pPr>
            <a:r>
              <a:rPr lang="en-US" sz="2100" b="1" dirty="0">
                <a:solidFill>
                  <a:srgbClr val="0A0A0A"/>
                </a:solidFill>
                <a:latin typeface="Palatino Linotype" pitchFamily="34" charset="0"/>
                <a:ea typeface="Palatino Linotype" pitchFamily="34" charset="-122"/>
                <a:cs typeface="Palatino Linotype" pitchFamily="34" charset="-120"/>
              </a:rPr>
              <a:t>Weak but polite: low confidence, high respect.</a:t>
            </a:r>
            <a:endParaRPr lang="en-US" sz="2100" dirty="0"/>
          </a:p>
        </p:txBody>
      </p:sp>
      <p:sp>
        <p:nvSpPr>
          <p:cNvPr id="8" name="Shape 6" descr="" title=""/>
          <p:cNvSpPr/>
          <p:nvPr/>
        </p:nvSpPr>
        <p:spPr>
          <a:xfrm>
            <a:off x="10258425" y="2743200"/>
            <a:ext cx="7267575" cy="3076575"/>
          </a:xfrm>
          <a:prstGeom prst="rect">
            <a:avLst/>
          </a:prstGeom>
          <a:solidFill>
            <a:srgbClr val="1B2A47"/>
          </a:solidFill>
          <a:ln/>
        </p:spPr>
      </p:sp>
      <p:sp>
        <p:nvSpPr>
          <p:cNvPr id="9" name="Text 7" descr="" title=""/>
          <p:cNvSpPr/>
          <p:nvPr/>
        </p:nvSpPr>
        <p:spPr>
          <a:xfrm>
            <a:off x="10601325" y="3088184"/>
            <a:ext cx="6779228" cy="462409"/>
          </a:xfrm>
          <a:prstGeom prst="rect">
            <a:avLst/>
          </a:prstGeom>
          <a:noFill/>
          <a:ln/>
        </p:spPr>
        <p:txBody>
          <a:bodyPr wrap="square" lIns="25400" tIns="25400" rIns="25400" bIns="25400" rtlCol="0" anchor="t">
            <a:normAutofit/>
          </a:bodyPr>
          <a:lstStyle/>
          <a:p>
            <a:pPr marL="0" indent="0" algn="l">
              <a:lnSpc>
                <a:spcPct val="98182"/>
              </a:lnSpc>
              <a:buNone/>
            </a:pPr>
            <a:r>
              <a:rPr lang="en-US" sz="2475" b="1" dirty="0">
                <a:solidFill>
                  <a:srgbClr val="D9C79E"/>
                </a:solidFill>
                <a:latin typeface="Palatino Linotype" pitchFamily="34" charset="0"/>
                <a:ea typeface="Palatino Linotype" pitchFamily="34" charset="-122"/>
                <a:cs typeface="Palatino Linotype" pitchFamily="34" charset="-120"/>
              </a:rPr>
              <a:t>Artful Mastery</a:t>
            </a:r>
            <a:endParaRPr lang="en-US" sz="2475" dirty="0"/>
          </a:p>
        </p:txBody>
      </p:sp>
      <p:sp>
        <p:nvSpPr>
          <p:cNvPr id="10" name="Text 8" descr="" title=""/>
          <p:cNvSpPr/>
          <p:nvPr/>
        </p:nvSpPr>
        <p:spPr>
          <a:xfrm>
            <a:off x="10601325" y="4087267"/>
            <a:ext cx="6779228" cy="1198066"/>
          </a:xfrm>
          <a:prstGeom prst="rect">
            <a:avLst/>
          </a:prstGeom>
          <a:noFill/>
          <a:ln/>
        </p:spPr>
        <p:txBody>
          <a:bodyPr wrap="square" lIns="25400" tIns="25400" rIns="25400" bIns="25400" rtlCol="0" anchor="t">
            <a:normAutofit/>
          </a:bodyPr>
          <a:lstStyle/>
          <a:p>
            <a:pPr marL="0" indent="0" algn="l">
              <a:lnSpc>
                <a:spcPct val="105455"/>
              </a:lnSpc>
              <a:buNone/>
            </a:pPr>
            <a:r>
              <a:rPr lang="en-US" sz="2100" b="1" dirty="0">
                <a:solidFill>
                  <a:srgbClr val="FFFFFF"/>
                </a:solidFill>
                <a:latin typeface="Palatino Linotype" pitchFamily="34" charset="0"/>
                <a:ea typeface="Palatino Linotype" pitchFamily="34" charset="-122"/>
                <a:cs typeface="Palatino Linotype" pitchFamily="34" charset="-120"/>
              </a:rPr>
              <a:t>Clear value proposition, natural tone, acknowledges buyer authority, easy to say yes or no. The goal quadrant.</a:t>
            </a:r>
            <a:endParaRPr lang="en-US" sz="2100" dirty="0"/>
          </a:p>
        </p:txBody>
      </p:sp>
      <p:sp>
        <p:nvSpPr>
          <p:cNvPr id="11" name="Shape 9" descr="" title=""/>
          <p:cNvSpPr/>
          <p:nvPr/>
        </p:nvSpPr>
        <p:spPr>
          <a:xfrm>
            <a:off x="2876550" y="5934075"/>
            <a:ext cx="7267575" cy="3076575"/>
          </a:xfrm>
          <a:prstGeom prst="rect">
            <a:avLst/>
          </a:prstGeom>
          <a:solidFill>
            <a:srgbClr val="F5F5F4"/>
          </a:solidFill>
          <a:ln/>
        </p:spPr>
      </p:sp>
      <p:sp>
        <p:nvSpPr>
          <p:cNvPr id="12" name="Text 10" descr="" title=""/>
          <p:cNvSpPr/>
          <p:nvPr/>
        </p:nvSpPr>
        <p:spPr>
          <a:xfrm>
            <a:off x="3219450" y="6279059"/>
            <a:ext cx="6779228" cy="462409"/>
          </a:xfrm>
          <a:prstGeom prst="rect">
            <a:avLst/>
          </a:prstGeom>
          <a:noFill/>
          <a:ln/>
        </p:spPr>
        <p:txBody>
          <a:bodyPr wrap="square" lIns="25400" tIns="25400" rIns="25400" bIns="25400" rtlCol="0" anchor="t">
            <a:normAutofit/>
          </a:bodyPr>
          <a:lstStyle/>
          <a:p>
            <a:pPr marL="0" indent="0" algn="l">
              <a:lnSpc>
                <a:spcPct val="98182"/>
              </a:lnSpc>
              <a:buNone/>
            </a:pPr>
            <a:r>
              <a:rPr lang="en-US" sz="2475" b="1" dirty="0">
                <a:solidFill>
                  <a:srgbClr val="1B2A47"/>
                </a:solidFill>
                <a:latin typeface="Palatino Linotype" pitchFamily="34" charset="0"/>
                <a:ea typeface="Palatino Linotype" pitchFamily="34" charset="-122"/>
                <a:cs typeface="Palatino Linotype" pitchFamily="34" charset="-120"/>
              </a:rPr>
              <a:t>Weak / Forgettable</a:t>
            </a:r>
            <a:endParaRPr lang="en-US" sz="2475" dirty="0"/>
          </a:p>
        </p:txBody>
      </p:sp>
      <p:sp>
        <p:nvSpPr>
          <p:cNvPr id="13" name="Text 11" descr="" title=""/>
          <p:cNvSpPr/>
          <p:nvPr/>
        </p:nvSpPr>
        <p:spPr>
          <a:xfrm>
            <a:off x="3219450" y="7664797"/>
            <a:ext cx="6779228" cy="424755"/>
          </a:xfrm>
          <a:prstGeom prst="rect">
            <a:avLst/>
          </a:prstGeom>
          <a:noFill/>
          <a:ln/>
        </p:spPr>
        <p:txBody>
          <a:bodyPr wrap="square" lIns="25400" tIns="25400" rIns="25400" bIns="25400" rtlCol="0" anchor="t">
            <a:normAutofit/>
          </a:bodyPr>
          <a:lstStyle/>
          <a:p>
            <a:pPr marL="0" indent="0" algn="l">
              <a:lnSpc>
                <a:spcPct val="105455"/>
              </a:lnSpc>
              <a:buNone/>
            </a:pPr>
            <a:r>
              <a:rPr lang="en-US" sz="2100" b="1" dirty="0">
                <a:solidFill>
                  <a:srgbClr val="0A0A0A"/>
                </a:solidFill>
                <a:latin typeface="Palatino Linotype" pitchFamily="34" charset="0"/>
                <a:ea typeface="Palatino Linotype" pitchFamily="34" charset="-122"/>
                <a:cs typeface="Palatino Linotype" pitchFamily="34" charset="-120"/>
              </a:rPr>
              <a:t>Neither confident nor respectful.</a:t>
            </a:r>
            <a:endParaRPr lang="en-US" sz="2100" dirty="0"/>
          </a:p>
        </p:txBody>
      </p:sp>
      <p:sp>
        <p:nvSpPr>
          <p:cNvPr id="14" name="Shape 12" descr="" title=""/>
          <p:cNvSpPr/>
          <p:nvPr/>
        </p:nvSpPr>
        <p:spPr>
          <a:xfrm>
            <a:off x="10258425" y="5934075"/>
            <a:ext cx="7267575" cy="3076575"/>
          </a:xfrm>
          <a:prstGeom prst="rect">
            <a:avLst/>
          </a:prstGeom>
          <a:solidFill>
            <a:srgbClr val="F5F5F4"/>
          </a:solidFill>
          <a:ln/>
        </p:spPr>
      </p:sp>
      <p:sp>
        <p:nvSpPr>
          <p:cNvPr id="15" name="Text 13" descr="" title=""/>
          <p:cNvSpPr/>
          <p:nvPr/>
        </p:nvSpPr>
        <p:spPr>
          <a:xfrm>
            <a:off x="10601325" y="6279059"/>
            <a:ext cx="6779228" cy="462409"/>
          </a:xfrm>
          <a:prstGeom prst="rect">
            <a:avLst/>
          </a:prstGeom>
          <a:noFill/>
          <a:ln/>
        </p:spPr>
        <p:txBody>
          <a:bodyPr wrap="square" lIns="25400" tIns="25400" rIns="25400" bIns="25400" rtlCol="0" anchor="t">
            <a:normAutofit/>
          </a:bodyPr>
          <a:lstStyle/>
          <a:p>
            <a:pPr marL="0" indent="0" algn="l">
              <a:lnSpc>
                <a:spcPct val="98182"/>
              </a:lnSpc>
              <a:buNone/>
            </a:pPr>
            <a:r>
              <a:rPr lang="en-US" sz="2475" b="1" dirty="0">
                <a:solidFill>
                  <a:srgbClr val="1B2A47"/>
                </a:solidFill>
                <a:latin typeface="Palatino Linotype" pitchFamily="34" charset="0"/>
                <a:ea typeface="Palatino Linotype" pitchFamily="34" charset="-122"/>
                <a:cs typeface="Palatino Linotype" pitchFamily="34" charset="-120"/>
              </a:rPr>
              <a:t>Arrogant / Pushy</a:t>
            </a:r>
            <a:endParaRPr lang="en-US" sz="2475" dirty="0"/>
          </a:p>
        </p:txBody>
      </p:sp>
      <p:sp>
        <p:nvSpPr>
          <p:cNvPr id="16" name="Text 14" descr="" title=""/>
          <p:cNvSpPr/>
          <p:nvPr/>
        </p:nvSpPr>
        <p:spPr>
          <a:xfrm>
            <a:off x="10601325" y="7664797"/>
            <a:ext cx="6779228" cy="424755"/>
          </a:xfrm>
          <a:prstGeom prst="rect">
            <a:avLst/>
          </a:prstGeom>
          <a:noFill/>
          <a:ln/>
        </p:spPr>
        <p:txBody>
          <a:bodyPr wrap="square" lIns="25400" tIns="25400" rIns="25400" bIns="25400" rtlCol="0" anchor="t">
            <a:normAutofit/>
          </a:bodyPr>
          <a:lstStyle/>
          <a:p>
            <a:pPr marL="0" indent="0" algn="l">
              <a:lnSpc>
                <a:spcPct val="105455"/>
              </a:lnSpc>
              <a:buNone/>
            </a:pPr>
            <a:r>
              <a:rPr lang="en-US" sz="2100" b="1" dirty="0">
                <a:solidFill>
                  <a:srgbClr val="0A0A0A"/>
                </a:solidFill>
                <a:latin typeface="Palatino Linotype" pitchFamily="34" charset="0"/>
                <a:ea typeface="Palatino Linotype" pitchFamily="34" charset="-122"/>
                <a:cs typeface="Palatino Linotype" pitchFamily="34" charset="-120"/>
              </a:rPr>
              <a:t>Confident but dismissive: low respect.</a:t>
            </a:r>
            <a:endParaRPr lang="en-US" sz="2100" dirty="0"/>
          </a:p>
        </p:txBody>
      </p:sp>
      <p:sp>
        <p:nvSpPr>
          <p:cNvPr id="17" name="Text 15" descr="" title=""/>
          <p:cNvSpPr/>
          <p:nvPr/>
        </p:nvSpPr>
        <p:spPr>
          <a:xfrm>
            <a:off x="9046622" y="9308753"/>
            <a:ext cx="2309306" cy="342900"/>
          </a:xfrm>
          <a:prstGeom prst="rect">
            <a:avLst/>
          </a:prstGeom>
          <a:noFill/>
          <a:ln/>
        </p:spPr>
        <p:txBody>
          <a:bodyPr wrap="square" lIns="25400" tIns="25400" rIns="25400" bIns="25400" rtlCol="0" anchor="t">
            <a:normAutofit/>
          </a:bodyPr>
          <a:lstStyle/>
          <a:p>
            <a:pPr marL="0" indent="0" algn="ctr">
              <a:lnSpc>
                <a:spcPct val="101250"/>
              </a:lnSpc>
              <a:buNone/>
            </a:pPr>
            <a:r>
              <a:rPr lang="en-US" sz="1800" b="1" kern="0" spc="150" dirty="0">
                <a:solidFill>
                  <a:srgbClr val="5B6472"/>
                </a:solidFill>
                <a:latin typeface="Palatino Linotype" pitchFamily="34" charset="0"/>
                <a:ea typeface="Palatino Linotype" pitchFamily="34" charset="-122"/>
                <a:cs typeface="Palatino Linotype" pitchFamily="34" charset="-120"/>
              </a:rPr>
              <a:t>CONFIDENCE →</a:t>
            </a:r>
            <a:endParaRPr lang="en-US" sz="1800" dirty="0"/>
          </a:p>
        </p:txBody>
      </p:sp>
      <p:sp>
        <p:nvSpPr>
          <p:cNvPr id="18" name="Text 16" descr="" title=""/>
          <p:cNvSpPr/>
          <p:nvPr/>
        </p:nvSpPr>
        <p:spPr>
          <a:xfrm>
            <a:off x="687884" y="5774978"/>
            <a:ext cx="1643658" cy="342900"/>
          </a:xfrm>
          <a:prstGeom prst="rect">
            <a:avLst/>
          </a:prstGeom>
          <a:noFill/>
          <a:ln/>
        </p:spPr>
        <p:txBody>
          <a:bodyPr wrap="square" lIns="25400" tIns="25400" rIns="25400" bIns="25400" rtlCol="0" anchor="t">
            <a:normAutofit/>
          </a:bodyPr>
          <a:lstStyle/>
          <a:p>
            <a:pPr marL="0" indent="0" algn="ctr">
              <a:lnSpc>
                <a:spcPct val="101250"/>
              </a:lnSpc>
              <a:buNone/>
            </a:pPr>
            <a:r>
              <a:rPr lang="en-US" sz="1800" b="1" kern="0" spc="150" dirty="0">
                <a:solidFill>
                  <a:srgbClr val="5B6472"/>
                </a:solidFill>
                <a:latin typeface="Palatino Linotype" pitchFamily="34" charset="0"/>
                <a:ea typeface="Palatino Linotype" pitchFamily="34" charset="-122"/>
                <a:cs typeface="Palatino Linotype" pitchFamily="34" charset="-120"/>
              </a:rPr>
              <a:t>RESPECT →</a:t>
            </a:r>
            <a:endParaRPr lang="en-US" sz="1800" dirty="0"/>
          </a:p>
        </p:txBody>
      </p:sp>
      <p:sp>
        <p:nvSpPr>
          <p:cNvPr id="19" name="Text 17"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20" name="Text 18"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21" name="Text 19"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45</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7</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6 CHECKPOINT</a:t>
            </a:r>
            <a:endParaRPr lang="en-US" sz="1800" dirty="0"/>
          </a:p>
        </p:txBody>
      </p:sp>
      <p:sp>
        <p:nvSpPr>
          <p:cNvPr id="5" name="Text 3" descr="" title=""/>
          <p:cNvSpPr/>
          <p:nvPr/>
        </p:nvSpPr>
        <p:spPr>
          <a:xfrm>
            <a:off x="752475" y="1504950"/>
            <a:ext cx="17276731" cy="1015305"/>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Choose the artful response: you are a BD principal, cold-outreaching a prospect who has not yet signaled interest.</a:t>
            </a:r>
            <a:endParaRPr lang="en-US" sz="2850" dirty="0"/>
          </a:p>
        </p:txBody>
      </p:sp>
      <p:sp>
        <p:nvSpPr>
          <p:cNvPr id="6" name="Shape 4" descr="" title=""/>
          <p:cNvSpPr/>
          <p:nvPr/>
        </p:nvSpPr>
        <p:spPr>
          <a:xfrm>
            <a:off x="752475" y="3019425"/>
            <a:ext cx="16773525" cy="1190625"/>
          </a:xfrm>
          <a:prstGeom prst="roundRect">
            <a:avLst>
              <a:gd name="adj" fmla="val 12800"/>
            </a:avLst>
          </a:prstGeom>
          <a:solidFill>
            <a:srgbClr val="FFFFFF"/>
          </a:solidFill>
          <a:ln/>
        </p:spPr>
      </p:sp>
      <p:sp>
        <p:nvSpPr>
          <p:cNvPr id="7" name="Text 5" descr="" title=""/>
          <p:cNvSpPr/>
          <p:nvPr/>
        </p:nvSpPr>
        <p:spPr>
          <a:xfrm>
            <a:off x="1143000" y="3434655"/>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A. "Let me know whenever you might have a moment, no pressure at all."</a:t>
            </a:r>
            <a:endParaRPr lang="en-US" sz="2100" dirty="0"/>
          </a:p>
        </p:txBody>
      </p:sp>
      <p:sp>
        <p:nvSpPr>
          <p:cNvPr id="8" name="Shape 6" descr="" title=""/>
          <p:cNvSpPr/>
          <p:nvPr/>
        </p:nvSpPr>
        <p:spPr>
          <a:xfrm>
            <a:off x="752475" y="4410075"/>
            <a:ext cx="16773525" cy="1190625"/>
          </a:xfrm>
          <a:prstGeom prst="roundRect">
            <a:avLst>
              <a:gd name="adj" fmla="val 12800"/>
            </a:avLst>
          </a:prstGeom>
          <a:solidFill>
            <a:srgbClr val="FFFFFF"/>
          </a:solidFill>
          <a:ln/>
        </p:spPr>
      </p:sp>
      <p:sp>
        <p:nvSpPr>
          <p:cNvPr id="9" name="Text 7" descr="" title=""/>
          <p:cNvSpPr/>
          <p:nvPr/>
        </p:nvSpPr>
        <p:spPr>
          <a:xfrm>
            <a:off x="1143000" y="4825305"/>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B. "We should get on a call this week — I'll send times shortly."</a:t>
            </a:r>
            <a:endParaRPr lang="en-US" sz="2100" dirty="0"/>
          </a:p>
        </p:txBody>
      </p:sp>
      <p:sp>
        <p:nvSpPr>
          <p:cNvPr id="10" name="Shape 8" descr="" title=""/>
          <p:cNvSpPr/>
          <p:nvPr/>
        </p:nvSpPr>
        <p:spPr>
          <a:xfrm>
            <a:off x="752475" y="5810250"/>
            <a:ext cx="16773525" cy="1190625"/>
          </a:xfrm>
          <a:prstGeom prst="roundRect">
            <a:avLst>
              <a:gd name="adj" fmla="val 12800"/>
            </a:avLst>
          </a:prstGeom>
          <a:solidFill>
            <a:srgbClr val="FFFFFF"/>
          </a:solidFill>
          <a:ln/>
        </p:spPr>
      </p:sp>
      <p:sp>
        <p:nvSpPr>
          <p:cNvPr id="11" name="Text 9" descr="" title=""/>
          <p:cNvSpPr/>
          <p:nvPr/>
        </p:nvSpPr>
        <p:spPr>
          <a:xfrm>
            <a:off x="1143000" y="6225480"/>
            <a:ext cx="16501682"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0A0A0A"/>
                </a:solidFill>
                <a:latin typeface="Palatino Linotype" pitchFamily="34" charset="0"/>
                <a:ea typeface="Palatino Linotype" pitchFamily="34" charset="-122"/>
                <a:cs typeface="Palatino Linotype" pitchFamily="34" charset="-120"/>
              </a:rPr>
              <a:t>C. "I'm hoping to schedule a brief call to introduce myself, and if this would be of interest, let me know if [dates] work."</a:t>
            </a:r>
            <a:endParaRPr lang="en-US" sz="2100" dirty="0"/>
          </a:p>
        </p:txBody>
      </p:sp>
      <p:sp>
        <p:nvSpPr>
          <p:cNvPr id="12" name="Shape 10" descr="" title=""/>
          <p:cNvSpPr/>
          <p:nvPr/>
        </p:nvSpPr>
        <p:spPr>
          <a:xfrm>
            <a:off x="752475" y="7334250"/>
            <a:ext cx="16773525" cy="2057400"/>
          </a:xfrm>
          <a:prstGeom prst="roundRect">
            <a:avLst>
              <a:gd name="adj" fmla="val 7407"/>
            </a:avLst>
          </a:prstGeom>
          <a:solidFill>
            <a:srgbClr val="1B2A47"/>
          </a:solidFill>
          <a:ln/>
        </p:spPr>
      </p:sp>
      <p:sp>
        <p:nvSpPr>
          <p:cNvPr id="13" name="Text 11" descr="" title=""/>
          <p:cNvSpPr/>
          <p:nvPr/>
        </p:nvSpPr>
        <p:spPr>
          <a:xfrm>
            <a:off x="1162050" y="7621191"/>
            <a:ext cx="1784777" cy="352425"/>
          </a:xfrm>
          <a:prstGeom prst="rect">
            <a:avLst/>
          </a:prstGeom>
          <a:noFill/>
          <a:ln/>
        </p:spPr>
        <p:txBody>
          <a:bodyPr wrap="square" lIns="25400" tIns="25400" rIns="25400" bIns="25400" rtlCol="0" anchor="t">
            <a:normAutofit/>
          </a:bodyPr>
          <a:lstStyle/>
          <a:p>
            <a:pPr marL="0" indent="0" algn="l">
              <a:lnSpc>
                <a:spcPct val="102273"/>
              </a:lnSpc>
              <a:buNone/>
            </a:pPr>
            <a:r>
              <a:rPr lang="en-US" sz="1875" b="1" kern="0" spc="150" dirty="0">
                <a:solidFill>
                  <a:srgbClr val="A9814B"/>
                </a:solidFill>
                <a:latin typeface="Palatino Linotype" pitchFamily="34" charset="0"/>
                <a:ea typeface="Palatino Linotype" pitchFamily="34" charset="-122"/>
                <a:cs typeface="Palatino Linotype" pitchFamily="34" charset="-120"/>
              </a:rPr>
              <a:t>ANSWER · C</a:t>
            </a:r>
            <a:endParaRPr lang="en-US" sz="1875" dirty="0"/>
          </a:p>
        </p:txBody>
      </p:sp>
      <p:sp>
        <p:nvSpPr>
          <p:cNvPr id="14" name="Text 12" descr="" title=""/>
          <p:cNvSpPr/>
          <p:nvPr/>
        </p:nvSpPr>
        <p:spPr>
          <a:xfrm>
            <a:off x="1162050" y="8048625"/>
            <a:ext cx="16433006" cy="758130"/>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FFFFFF"/>
                </a:solidFill>
                <a:latin typeface="Palatino Linotype" pitchFamily="34" charset="0"/>
                <a:ea typeface="Palatino Linotype" pitchFamily="34" charset="-122"/>
                <a:cs typeface="Palatino Linotype" pitchFamily="34" charset="-120"/>
              </a:rPr>
              <a:t>B is too directive for a cold BD-principal outreach. A is subordinate and apologetic. C is respectful deference: confident, acknowledges the buyer's authority, and easy to answer either way.</a:t>
            </a:r>
            <a:endParaRPr lang="en-US" sz="2100" dirty="0"/>
          </a:p>
        </p:txBody>
      </p:sp>
      <p:sp>
        <p:nvSpPr>
          <p:cNvPr id="15" name="Text 1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6" name="Text 1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7" name="Text 1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46</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5311110"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D9C79E"/>
                </a:solidFill>
                <a:latin typeface="Palatino Linotype" pitchFamily="34" charset="0"/>
                <a:ea typeface="Palatino Linotype" pitchFamily="34" charset="-122"/>
                <a:cs typeface="Palatino Linotype" pitchFamily="34" charset="-120"/>
              </a:rPr>
              <a:t>MODULE 7 · APPLYING THE SYSTEM</a:t>
            </a:r>
            <a:endParaRPr lang="en-US" sz="1800" dirty="0"/>
          </a:p>
        </p:txBody>
      </p:sp>
      <p:sp>
        <p:nvSpPr>
          <p:cNvPr id="4" name="Shape 2" descr="" title=""/>
          <p:cNvSpPr/>
          <p:nvPr/>
        </p:nvSpPr>
        <p:spPr>
          <a:xfrm>
            <a:off x="68580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5" name="Shape 3" descr="" title=""/>
          <p:cNvSpPr/>
          <p:nvPr/>
        </p:nvSpPr>
        <p:spPr>
          <a:xfrm>
            <a:off x="1238250" y="1438275"/>
            <a:ext cx="361950" cy="952500"/>
          </a:xfrm>
          <a:custGeom>
            <a:avLst/>
            <a:gdLst/>
            <a:ahLst/>
            <a:cxnLst/>
            <a:rect l="l" t="t" r="r" b="b"/>
            <a:pathLst>
              <a:path w="361950" h="952500">
                <a:moveTo>
                  <a:pt x="180975" y="0"/>
                </a:moveTo>
                <a:lnTo>
                  <a:pt x="180975" y="0"/>
                </a:lnTo>
                <a:arcTo wR="180975" hR="180975" stAng="16200000" swAng="5400000"/>
                <a:lnTo>
                  <a:pt x="361950" y="914400"/>
                </a:lnTo>
                <a:arcTo wR="38100" hR="38100" stAng="0" swAng="5400000"/>
                <a:lnTo>
                  <a:pt x="180975" y="952500"/>
                </a:lnTo>
                <a:arcTo wR="180975" hR="180975" stAng="5400000" swAng="5400000"/>
                <a:lnTo>
                  <a:pt x="0" y="180975"/>
                </a:lnTo>
                <a:arcTo wR="180975" hR="180975" stAng="10800000" swAng="5400000"/>
                <a:close/>
              </a:path>
            </a:pathLst>
          </a:custGeom>
          <a:solidFill>
            <a:srgbClr val="A9814B"/>
          </a:solidFill>
          <a:ln/>
        </p:spPr>
      </p:sp>
      <p:sp>
        <p:nvSpPr>
          <p:cNvPr id="6" name="Text 4" descr="" title=""/>
          <p:cNvSpPr/>
          <p:nvPr/>
        </p:nvSpPr>
        <p:spPr>
          <a:xfrm>
            <a:off x="1238250" y="2166491"/>
            <a:ext cx="3547616" cy="371475"/>
          </a:xfrm>
          <a:prstGeom prst="rect">
            <a:avLst/>
          </a:prstGeom>
          <a:noFill/>
          <a:ln/>
        </p:spPr>
        <p:txBody>
          <a:bodyPr wrap="square" lIns="25400" tIns="25400" rIns="25400" bIns="25400" rtlCol="0" anchor="t">
            <a:normAutofit/>
          </a:bodyPr>
          <a:lstStyle/>
          <a:p>
            <a:pPr marL="0" indent="0" algn="l">
              <a:lnSpc>
                <a:spcPct val="100286"/>
              </a:lnSpc>
              <a:buNone/>
            </a:pPr>
            <a:r>
              <a:rPr lang="en-US" sz="1950" b="1" kern="0" spc="300" dirty="0">
                <a:solidFill>
                  <a:srgbClr val="D9C79E"/>
                </a:solidFill>
                <a:latin typeface="Palatino Linotype" pitchFamily="34" charset="0"/>
                <a:ea typeface="Palatino Linotype" pitchFamily="34" charset="-122"/>
                <a:cs typeface="Palatino Linotype" pitchFamily="34" charset="-120"/>
              </a:rPr>
              <a:t>MINDSET SUMMARY</a:t>
            </a:r>
            <a:endParaRPr lang="en-US" sz="1950" dirty="0"/>
          </a:p>
        </p:txBody>
      </p:sp>
      <p:sp>
        <p:nvSpPr>
          <p:cNvPr id="7" name="Text 5" descr="" title=""/>
          <p:cNvSpPr/>
          <p:nvPr/>
        </p:nvSpPr>
        <p:spPr>
          <a:xfrm>
            <a:off x="1238250" y="3142357"/>
            <a:ext cx="16109252" cy="2192387"/>
          </a:xfrm>
          <a:prstGeom prst="rect">
            <a:avLst/>
          </a:prstGeom>
          <a:noFill/>
          <a:ln/>
        </p:spPr>
        <p:txBody>
          <a:bodyPr wrap="square" lIns="25400" tIns="25400" rIns="25400" bIns="25400" rtlCol="0" anchor="t">
            <a:normAutofit/>
          </a:bodyPr>
          <a:lstStyle/>
          <a:p>
            <a:pPr marL="0" indent="0" algn="l">
              <a:lnSpc>
                <a:spcPct val="105455"/>
              </a:lnSpc>
              <a:buNone/>
            </a:pPr>
            <a:r>
              <a:rPr lang="en-US" sz="3900" b="1" i="1" dirty="0">
                <a:solidFill>
                  <a:srgbClr val="FFFFFF"/>
                </a:solidFill>
                <a:latin typeface="Palatino Linotype" pitchFamily="34" charset="0"/>
                <a:ea typeface="Palatino Linotype" pitchFamily="34" charset="-122"/>
                <a:cs typeface="Palatino Linotype" pitchFamily="34" charset="-120"/>
              </a:rPr>
              <a:t>The world's best sellers prioritize the needs of the buyer as a way to demonstrate that their commitment to outstanding service pervades their outlook, philosophy, and behavior.</a:t>
            </a:r>
            <a:endParaRPr lang="en-US" sz="3900" dirty="0"/>
          </a:p>
        </p:txBody>
      </p:sp>
      <p:sp>
        <p:nvSpPr>
          <p:cNvPr id="8" name="Text 6" descr="" title=""/>
          <p:cNvSpPr/>
          <p:nvPr/>
        </p:nvSpPr>
        <p:spPr>
          <a:xfrm>
            <a:off x="1238250" y="6179344"/>
            <a:ext cx="15540228" cy="423863"/>
          </a:xfrm>
          <a:prstGeom prst="rect">
            <a:avLst/>
          </a:prstGeom>
          <a:noFill/>
          <a:ln/>
        </p:spPr>
        <p:txBody>
          <a:bodyPr wrap="square" lIns="25400" tIns="25400" rIns="25400" bIns="25400" rtlCol="0" anchor="t">
            <a:normAutofit/>
          </a:bodyPr>
          <a:lstStyle/>
          <a:p>
            <a:pPr marL="0" indent="0" algn="l">
              <a:lnSpc>
                <a:spcPct val="98182"/>
              </a:lnSpc>
              <a:buNone/>
            </a:pPr>
            <a:r>
              <a:rPr lang="en-US" sz="2250" b="1" dirty="0">
                <a:solidFill>
                  <a:srgbClr val="A9814B"/>
                </a:solidFill>
                <a:latin typeface="Palatino Linotype" pitchFamily="34" charset="0"/>
                <a:ea typeface="Palatino Linotype" pitchFamily="34" charset="-122"/>
                <a:cs typeface="Palatino Linotype" pitchFamily="34" charset="-120"/>
              </a:rPr>
              <a:t>Applying Easy to Buy Across Contexts</a:t>
            </a:r>
            <a:endParaRPr lang="en-US" sz="2250" dirty="0"/>
          </a:p>
        </p:txBody>
      </p:sp>
      <p:sp>
        <p:nvSpPr>
          <p:cNvPr id="9" name="Shape 7" descr="" title=""/>
          <p:cNvSpPr/>
          <p:nvPr/>
        </p:nvSpPr>
        <p:spPr>
          <a:xfrm>
            <a:off x="1238250" y="6877050"/>
            <a:ext cx="15773400" cy="2247900"/>
          </a:xfrm>
          <a:prstGeom prst="roundRect">
            <a:avLst>
              <a:gd name="adj" fmla="val 6780"/>
            </a:avLst>
          </a:prstGeom>
          <a:solidFill>
            <a:srgbClr val="111C30"/>
          </a:solidFill>
          <a:ln/>
        </p:spPr>
      </p:sp>
      <p:sp>
        <p:nvSpPr>
          <p:cNvPr id="10" name="Text 8" descr="" title=""/>
          <p:cNvSpPr/>
          <p:nvPr/>
        </p:nvSpPr>
        <p:spPr>
          <a:xfrm>
            <a:off x="1581150" y="7500938"/>
            <a:ext cx="15540228" cy="1038225"/>
          </a:xfrm>
          <a:prstGeom prst="rect">
            <a:avLst/>
          </a:prstGeom>
          <a:noFill/>
          <a:ln/>
        </p:spPr>
        <p:txBody>
          <a:bodyPr wrap="square" lIns="25400" tIns="25400" rIns="25400" bIns="25400" rtlCol="0" anchor="t">
            <a:normAutofit/>
          </a:bodyPr>
          <a:lstStyle/>
          <a:p>
            <a:pPr marL="0" indent="0" algn="l">
              <a:lnSpc>
                <a:spcPct val="101818"/>
              </a:lnSpc>
              <a:buNone/>
            </a:pPr>
            <a:r>
              <a:rPr lang="en-US" sz="1875" dirty="0">
                <a:solidFill>
                  <a:srgbClr val="F5F5F4"/>
                </a:solidFill>
                <a:latin typeface="Palatino Linotype" pitchFamily="34" charset="0"/>
                <a:ea typeface="Palatino Linotype" pitchFamily="34" charset="-122"/>
                <a:cs typeface="Palatino Linotype" pitchFamily="34" charset="-120"/>
              </a:rPr>
              <a:t>Adaptable across professional services, technology and software as a service (SaaS), and industrial business-to-business (B2B). Each industry modifies tone and cadence, but the principles remain constant: empathy, clarity, credibility, and consistency. The system succeeds because it reflects how humans decide: emotionally first, rationally second. Easy to Buy is not a script; it is a mindset, a rhythm, and a discipline.</a:t>
            </a:r>
            <a:endParaRPr lang="en-US" sz="1875"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47</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478739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8 · AI-ENABLED TOOLS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Two Tools Built on This Framework</a:t>
            </a:r>
            <a:endParaRPr lang="en-US" sz="4500" dirty="0"/>
          </a:p>
        </p:txBody>
      </p:sp>
      <p:sp>
        <p:nvSpPr>
          <p:cNvPr id="5" name="Shape 3" descr="" title=""/>
          <p:cNvSpPr/>
          <p:nvPr/>
        </p:nvSpPr>
        <p:spPr>
          <a:xfrm>
            <a:off x="752475" y="2743200"/>
            <a:ext cx="8181975" cy="5419725"/>
          </a:xfrm>
          <a:prstGeom prst="roundRect">
            <a:avLst>
              <a:gd name="adj" fmla="val 2812"/>
            </a:avLst>
          </a:prstGeom>
          <a:solidFill>
            <a:srgbClr val="F5F5F4"/>
          </a:solidFill>
          <a:ln/>
        </p:spPr>
      </p:sp>
      <p:sp>
        <p:nvSpPr>
          <p:cNvPr id="6" name="Shape 4" descr="" title=""/>
          <p:cNvSpPr/>
          <p:nvPr/>
        </p:nvSpPr>
        <p:spPr>
          <a:xfrm>
            <a:off x="3943350" y="2924175"/>
            <a:ext cx="1809750" cy="1809750"/>
          </a:xfrm>
          <a:prstGeom prst="ellipse">
            <a:avLst/>
          </a:prstGeom>
          <a:solidFill>
            <a:srgbClr val="1B2A47"/>
          </a:solidFill>
          <a:ln/>
        </p:spPr>
      </p:sp>
      <p:sp>
        <p:nvSpPr>
          <p:cNvPr id="7" name="Text 5" descr="" title=""/>
          <p:cNvSpPr/>
          <p:nvPr/>
        </p:nvSpPr>
        <p:spPr>
          <a:xfrm>
            <a:off x="3905250" y="3301901"/>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1</a:t>
            </a:r>
            <a:endParaRPr lang="en-US" sz="6150" dirty="0"/>
          </a:p>
        </p:txBody>
      </p:sp>
      <p:sp>
        <p:nvSpPr>
          <p:cNvPr id="8" name="Text 6" descr="" title=""/>
          <p:cNvSpPr/>
          <p:nvPr/>
        </p:nvSpPr>
        <p:spPr>
          <a:xfrm>
            <a:off x="2119312" y="5448300"/>
            <a:ext cx="5448300" cy="466725"/>
          </a:xfrm>
          <a:prstGeom prst="rect">
            <a:avLst/>
          </a:prstGeom>
          <a:noFill/>
          <a:ln/>
        </p:spPr>
        <p:txBody>
          <a:bodyPr wrap="square" lIns="25400" tIns="25400" rIns="25400" bIns="25400" rtlCol="0" anchor="t">
            <a:normAutofit/>
          </a:bodyPr>
          <a:lstStyle/>
          <a:p>
            <a:pPr marL="0" indent="0" algn="ctr">
              <a:lnSpc>
                <a:spcPct val="91837"/>
              </a:lnSpc>
              <a:buNone/>
            </a:pPr>
            <a:r>
              <a:rPr lang="en-US" sz="2700" b="1" dirty="0">
                <a:solidFill>
                  <a:srgbClr val="1B2A47"/>
                </a:solidFill>
                <a:latin typeface="Palatino Linotype" pitchFamily="34" charset="0"/>
                <a:ea typeface="Palatino Linotype" pitchFamily="34" charset="-122"/>
                <a:cs typeface="Palatino Linotype" pitchFamily="34" charset="-120"/>
              </a:rPr>
              <a:t>Opening Monologue Generator</a:t>
            </a:r>
            <a:endParaRPr lang="en-US" sz="2700" dirty="0"/>
          </a:p>
        </p:txBody>
      </p:sp>
      <p:sp>
        <p:nvSpPr>
          <p:cNvPr id="9" name="Text 7" descr="" title=""/>
          <p:cNvSpPr/>
          <p:nvPr/>
        </p:nvSpPr>
        <p:spPr>
          <a:xfrm>
            <a:off x="914257" y="6124575"/>
            <a:ext cx="7858411" cy="866775"/>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Used before the pitch meeting to build your three-minute opening monologue.</a:t>
            </a:r>
            <a:endParaRPr lang="en-US" sz="2250" dirty="0"/>
          </a:p>
        </p:txBody>
      </p:sp>
      <p:sp>
        <p:nvSpPr>
          <p:cNvPr id="10" name="Shape 8" descr="" title=""/>
          <p:cNvSpPr/>
          <p:nvPr/>
        </p:nvSpPr>
        <p:spPr>
          <a:xfrm>
            <a:off x="9344025" y="2743200"/>
            <a:ext cx="8181975" cy="5419725"/>
          </a:xfrm>
          <a:prstGeom prst="roundRect">
            <a:avLst>
              <a:gd name="adj" fmla="val 2812"/>
            </a:avLst>
          </a:prstGeom>
          <a:solidFill>
            <a:srgbClr val="F5F5F4"/>
          </a:solidFill>
          <a:ln/>
        </p:spPr>
      </p:sp>
      <p:sp>
        <p:nvSpPr>
          <p:cNvPr id="11" name="Shape 9" descr="" title=""/>
          <p:cNvSpPr/>
          <p:nvPr/>
        </p:nvSpPr>
        <p:spPr>
          <a:xfrm>
            <a:off x="12534900" y="2924175"/>
            <a:ext cx="1809750" cy="1809750"/>
          </a:xfrm>
          <a:prstGeom prst="ellipse">
            <a:avLst/>
          </a:prstGeom>
          <a:solidFill>
            <a:srgbClr val="1B2A47"/>
          </a:solidFill>
          <a:ln/>
        </p:spPr>
      </p:sp>
      <p:sp>
        <p:nvSpPr>
          <p:cNvPr id="12" name="Text 10" descr="" title=""/>
          <p:cNvSpPr/>
          <p:nvPr/>
        </p:nvSpPr>
        <p:spPr>
          <a:xfrm>
            <a:off x="12496800" y="3301901"/>
            <a:ext cx="1885950" cy="1092398"/>
          </a:xfrm>
          <a:prstGeom prst="rect">
            <a:avLst/>
          </a:prstGeom>
          <a:noFill/>
          <a:ln/>
        </p:spPr>
        <p:txBody>
          <a:bodyPr wrap="square" lIns="25400" tIns="25400" rIns="25400" bIns="25400" rtlCol="0" anchor="t">
            <a:normAutofit/>
          </a:bodyPr>
          <a:lstStyle/>
          <a:p>
            <a:pPr marL="0" indent="0" algn="ctr">
              <a:lnSpc>
                <a:spcPct val="98182"/>
              </a:lnSpc>
              <a:buNone/>
            </a:pPr>
            <a:r>
              <a:rPr lang="en-US" sz="6150" b="1" dirty="0">
                <a:solidFill>
                  <a:srgbClr val="D9C79E"/>
                </a:solidFill>
                <a:latin typeface="Palatino Linotype" pitchFamily="34" charset="0"/>
                <a:ea typeface="Palatino Linotype" pitchFamily="34" charset="-122"/>
                <a:cs typeface="Palatino Linotype" pitchFamily="34" charset="-120"/>
              </a:rPr>
              <a:t>2</a:t>
            </a:r>
            <a:endParaRPr lang="en-US" sz="6150" dirty="0"/>
          </a:p>
        </p:txBody>
      </p:sp>
      <p:sp>
        <p:nvSpPr>
          <p:cNvPr id="13" name="Text 11" descr="" title=""/>
          <p:cNvSpPr/>
          <p:nvPr/>
        </p:nvSpPr>
        <p:spPr>
          <a:xfrm>
            <a:off x="10997692" y="5448300"/>
            <a:ext cx="4874493" cy="466725"/>
          </a:xfrm>
          <a:prstGeom prst="rect">
            <a:avLst/>
          </a:prstGeom>
          <a:noFill/>
          <a:ln/>
        </p:spPr>
        <p:txBody>
          <a:bodyPr wrap="square" lIns="25400" tIns="25400" rIns="25400" bIns="25400" rtlCol="0" anchor="t">
            <a:normAutofit/>
          </a:bodyPr>
          <a:lstStyle/>
          <a:p>
            <a:pPr marL="0" indent="0" algn="ctr">
              <a:lnSpc>
                <a:spcPct val="91837"/>
              </a:lnSpc>
              <a:buNone/>
            </a:pPr>
            <a:r>
              <a:rPr lang="en-US" sz="2700" b="1" dirty="0">
                <a:solidFill>
                  <a:srgbClr val="1B2A47"/>
                </a:solidFill>
                <a:latin typeface="Palatino Linotype" pitchFamily="34" charset="0"/>
                <a:ea typeface="Palatino Linotype" pitchFamily="34" charset="-122"/>
                <a:cs typeface="Palatino Linotype" pitchFamily="34" charset="-120"/>
              </a:rPr>
              <a:t>Conversation Log Generator</a:t>
            </a:r>
            <a:endParaRPr lang="en-US" sz="2700" dirty="0"/>
          </a:p>
        </p:txBody>
      </p:sp>
      <p:sp>
        <p:nvSpPr>
          <p:cNvPr id="14" name="Text 12" descr="" title=""/>
          <p:cNvSpPr/>
          <p:nvPr/>
        </p:nvSpPr>
        <p:spPr>
          <a:xfrm>
            <a:off x="9505807" y="6124575"/>
            <a:ext cx="7858411" cy="866775"/>
          </a:xfrm>
          <a:prstGeom prst="rect">
            <a:avLst/>
          </a:prstGeom>
          <a:noFill/>
          <a:ln/>
        </p:spPr>
        <p:txBody>
          <a:bodyPr wrap="square" lIns="25400" tIns="25400" rIns="25400" bIns="25400" rtlCol="0" anchor="t">
            <a:normAutofit/>
          </a:bodyPr>
          <a:lstStyle/>
          <a:p>
            <a:pPr marL="0" indent="0" algn="ctr">
              <a:lnSpc>
                <a:spcPct val="108750"/>
              </a:lnSpc>
              <a:buNone/>
            </a:pPr>
            <a:r>
              <a:rPr lang="en-US" sz="2250" dirty="0">
                <a:solidFill>
                  <a:srgbClr val="0A0A0A"/>
                </a:solidFill>
                <a:latin typeface="Palatino Linotype" pitchFamily="34" charset="0"/>
                <a:ea typeface="Palatino Linotype" pitchFamily="34" charset="-122"/>
                <a:cs typeface="Palatino Linotype" pitchFamily="34" charset="-120"/>
              </a:rPr>
              <a:t>Used after the pitch meeting to standardize notes and generate a touch plan.</a:t>
            </a:r>
            <a:endParaRPr lang="en-US" sz="2250" dirty="0"/>
          </a:p>
        </p:txBody>
      </p:sp>
      <p:sp>
        <p:nvSpPr>
          <p:cNvPr id="15" name="Shape 13" descr="" title=""/>
          <p:cNvSpPr/>
          <p:nvPr/>
        </p:nvSpPr>
        <p:spPr>
          <a:xfrm>
            <a:off x="752475" y="8362950"/>
            <a:ext cx="16773525" cy="1095375"/>
          </a:xfrm>
          <a:prstGeom prst="roundRect">
            <a:avLst>
              <a:gd name="adj" fmla="val 13913"/>
            </a:avLst>
          </a:prstGeom>
          <a:solidFill>
            <a:srgbClr val="1B2A47"/>
          </a:solidFill>
          <a:ln/>
        </p:spPr>
      </p:sp>
      <p:sp>
        <p:nvSpPr>
          <p:cNvPr id="16" name="Text 14" descr="" title=""/>
          <p:cNvSpPr/>
          <p:nvPr/>
        </p:nvSpPr>
        <p:spPr>
          <a:xfrm>
            <a:off x="1162050" y="8730555"/>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D9C79E"/>
                </a:solidFill>
                <a:latin typeface="Palatino Linotype" pitchFamily="34" charset="0"/>
                <a:ea typeface="Palatino Linotype" pitchFamily="34" charset="-122"/>
                <a:cs typeface="Palatino Linotype" pitchFamily="34" charset="-120"/>
              </a:rPr>
              <a:t>These are the prototype tools accompanying the Easy to Buy overview document.</a:t>
            </a:r>
            <a:endParaRPr lang="en-US" sz="210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48</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478739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8 · AI-ENABLED TOOLS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Tool 1: Opening Monologue Generator</a:t>
            </a:r>
            <a:endParaRPr lang="en-US" sz="4500" dirty="0"/>
          </a:p>
        </p:txBody>
      </p:sp>
      <p:sp>
        <p:nvSpPr>
          <p:cNvPr id="5" name="Text 3" descr="" title=""/>
          <p:cNvSpPr/>
          <p:nvPr/>
        </p:nvSpPr>
        <p:spPr>
          <a:xfrm>
            <a:off x="819150" y="4605338"/>
            <a:ext cx="400050" cy="106680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6" name="Text 4" descr="" title=""/>
          <p:cNvSpPr/>
          <p:nvPr/>
        </p:nvSpPr>
        <p:spPr>
          <a:xfrm>
            <a:off x="1295400" y="4605338"/>
            <a:ext cx="16648843" cy="106680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Takes unstructured firm and personal data (bios, website content, transcripts) and outputs a structured three-minute monologue: firm, role, and value proposition.</a:t>
            </a:r>
            <a:endParaRPr lang="en-US" sz="2700" dirty="0"/>
          </a:p>
        </p:txBody>
      </p:sp>
      <p:sp>
        <p:nvSpPr>
          <p:cNvPr id="7" name="Text 5" descr="" title=""/>
          <p:cNvSpPr/>
          <p:nvPr/>
        </p:nvSpPr>
        <p:spPr>
          <a:xfrm>
            <a:off x="819150" y="5995988"/>
            <a:ext cx="400050" cy="55245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8" name="Text 6" descr="" title=""/>
          <p:cNvSpPr/>
          <p:nvPr/>
        </p:nvSpPr>
        <p:spPr>
          <a:xfrm>
            <a:off x="1295400" y="5995988"/>
            <a:ext cx="16648843" cy="55245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Prioritizes quantifiable outcomes, third-party rankings, and scale metrics over vague marketing language.</a:t>
            </a:r>
            <a:endParaRPr lang="en-US" sz="2700" dirty="0"/>
          </a:p>
        </p:txBody>
      </p:sp>
      <p:sp>
        <p:nvSpPr>
          <p:cNvPr id="9" name="Text 7" descr="" title=""/>
          <p:cNvSpPr/>
          <p:nvPr/>
        </p:nvSpPr>
        <p:spPr>
          <a:xfrm>
            <a:off x="819150" y="6872288"/>
            <a:ext cx="400050" cy="55245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10" name="Text 8" descr="" title=""/>
          <p:cNvSpPr/>
          <p:nvPr/>
        </p:nvSpPr>
        <p:spPr>
          <a:xfrm>
            <a:off x="1295400" y="6872288"/>
            <a:ext cx="16648843" cy="55245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The AI coach can also critique a self-drafted monologue for tone, specificity, and value orientation.</a:t>
            </a:r>
            <a:endParaRPr lang="en-US" sz="27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49</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478739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8 · AI-ENABLED TOOLS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Tool 1: Example Output Walkthrough</a:t>
            </a:r>
            <a:endParaRPr lang="en-US" sz="4500" dirty="0"/>
          </a:p>
        </p:txBody>
      </p:sp>
      <p:sp>
        <p:nvSpPr>
          <p:cNvPr id="5" name="Text 3" descr="" title=""/>
          <p:cNvSpPr/>
          <p:nvPr/>
        </p:nvSpPr>
        <p:spPr>
          <a:xfrm>
            <a:off x="819150" y="3984873"/>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6" name="Text 4" descr="" title=""/>
          <p:cNvSpPr/>
          <p:nvPr/>
        </p:nvSpPr>
        <p:spPr>
          <a:xfrm>
            <a:off x="1276350" y="3984873"/>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Minute 1 — The Firm: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"[Firm] is a 191-year-old law firm with 970 attorneys across 22 offices... named the number one banking and finance law firm... four out of the last eight years."</a:t>
            </a:r>
            <a:endParaRPr lang="en-US" sz="1200" dirty="0"/>
          </a:p>
        </p:txBody>
      </p:sp>
      <p:sp>
        <p:nvSpPr>
          <p:cNvPr id="7" name="Text 5" descr="" title=""/>
          <p:cNvSpPr/>
          <p:nvPr/>
        </p:nvSpPr>
        <p:spPr>
          <a:xfrm>
            <a:off x="819150" y="5033516"/>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8" name="Text 6" descr="" title=""/>
          <p:cNvSpPr/>
          <p:nvPr/>
        </p:nvSpPr>
        <p:spPr>
          <a:xfrm>
            <a:off x="1276350" y="5033516"/>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Minute 2 — Personal Role: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"I work in our private equity practice, which last year closed 350 M&amp;A deals... clients buy founder-owned businesses with $3 million to $20 million of EBITDA."</a:t>
            </a:r>
            <a:endParaRPr lang="en-US" sz="1200" dirty="0"/>
          </a:p>
        </p:txBody>
      </p:sp>
      <p:sp>
        <p:nvSpPr>
          <p:cNvPr id="9" name="Text 7" descr="" title=""/>
          <p:cNvSpPr/>
          <p:nvPr/>
        </p:nvSpPr>
        <p:spPr>
          <a:xfrm>
            <a:off x="819150" y="6082159"/>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10" name="Text 8" descr="" title=""/>
          <p:cNvSpPr/>
          <p:nvPr/>
        </p:nvSpPr>
        <p:spPr>
          <a:xfrm>
            <a:off x="1276350" y="6082159"/>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Minute 3 — Value Proposition: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"Our value proposition is twofold: quality of service at competitive rates, and adding value through investor introductions, deal opportunities, and other connections."</a:t>
            </a:r>
            <a:endParaRPr lang="en-US" sz="1200" dirty="0"/>
          </a:p>
        </p:txBody>
      </p:sp>
      <p:sp>
        <p:nvSpPr>
          <p:cNvPr id="11" name="Shape 9" descr="" title=""/>
          <p:cNvSpPr/>
          <p:nvPr/>
        </p:nvSpPr>
        <p:spPr>
          <a:xfrm>
            <a:off x="752475" y="6096000"/>
            <a:ext cx="16773525" cy="1162050"/>
          </a:xfrm>
          <a:prstGeom prst="roundRect">
            <a:avLst>
              <a:gd name="adj" fmla="val 13115"/>
            </a:avLst>
          </a:prstGeom>
          <a:solidFill>
            <a:srgbClr val="F5F5F4"/>
          </a:solidFill>
          <a:ln/>
        </p:spPr>
      </p:sp>
      <p:sp>
        <p:nvSpPr>
          <p:cNvPr id="12" name="Text 10" descr="" title=""/>
          <p:cNvSpPr/>
          <p:nvPr/>
        </p:nvSpPr>
        <p:spPr>
          <a:xfrm>
            <a:off x="1162050" y="6496943"/>
            <a:ext cx="16433006" cy="398115"/>
          </a:xfrm>
          <a:prstGeom prst="rect">
            <a:avLst/>
          </a:prstGeom>
          <a:noFill/>
          <a:ln/>
        </p:spPr>
        <p:txBody>
          <a:bodyPr wrap="square" lIns="25400" tIns="25400" rIns="25400" bIns="25400" rtlCol="0" anchor="t">
            <a:normAutofit/>
          </a:bodyPr>
          <a:lstStyle/>
          <a:p>
            <a:pPr marL="0" indent="0" algn="l">
              <a:lnSpc>
                <a:spcPct val="98182"/>
              </a:lnSpc>
              <a:buNone/>
            </a:pPr>
            <a:r>
              <a:rPr lang="en-US" sz="2100" b="1" i="1" dirty="0">
                <a:solidFill>
                  <a:srgbClr val="1B2A47"/>
                </a:solidFill>
                <a:latin typeface="Palatino Linotype" pitchFamily="34" charset="0"/>
                <a:ea typeface="Palatino Linotype" pitchFamily="34" charset="-122"/>
                <a:cs typeface="Palatino Linotype" pitchFamily="34" charset="-120"/>
              </a:rPr>
              <a:t>Why it works: Leads with the most impressive facts, uses specific numbers throughout, and flows naturally when spoken.</a:t>
            </a:r>
            <a:endParaRPr lang="en-US" sz="2100" dirty="0"/>
          </a:p>
        </p:txBody>
      </p:sp>
      <p:sp>
        <p:nvSpPr>
          <p:cNvPr id="13" name="Text 1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4" name="Text 1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5" name="Text 1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50</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478739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8 · AI-ENABLED TOOLS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Tool 2: Conversation Log Generator</a:t>
            </a:r>
            <a:endParaRPr lang="en-US" sz="4500" dirty="0"/>
          </a:p>
        </p:txBody>
      </p:sp>
      <p:sp>
        <p:nvSpPr>
          <p:cNvPr id="5" name="Text 3" descr="" title=""/>
          <p:cNvSpPr/>
          <p:nvPr/>
        </p:nvSpPr>
        <p:spPr>
          <a:xfrm>
            <a:off x="819150" y="4348163"/>
            <a:ext cx="400050" cy="106680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6" name="Text 4" descr="" title=""/>
          <p:cNvSpPr/>
          <p:nvPr/>
        </p:nvSpPr>
        <p:spPr>
          <a:xfrm>
            <a:off x="1295400" y="4348163"/>
            <a:ext cx="16648843" cy="106680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Standardizes post-meeting notes into one of four formats: Potential Client, Independent Sponsor/Private Equity Firm, Referral Partner, or Active Client.</a:t>
            </a:r>
            <a:endParaRPr lang="en-US" sz="2700" dirty="0"/>
          </a:p>
        </p:txBody>
      </p:sp>
      <p:sp>
        <p:nvSpPr>
          <p:cNvPr id="7" name="Text 5" descr="" title=""/>
          <p:cNvSpPr/>
          <p:nvPr/>
        </p:nvSpPr>
        <p:spPr>
          <a:xfrm>
            <a:off x="819150" y="5738813"/>
            <a:ext cx="400050" cy="55245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8" name="Text 6" descr="" title=""/>
          <p:cNvSpPr/>
          <p:nvPr/>
        </p:nvSpPr>
        <p:spPr>
          <a:xfrm>
            <a:off x="1295400" y="5738813"/>
            <a:ext cx="16648843" cy="55245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Asks clarifying questions if contact information, meeting details, or relationship context are missing.</a:t>
            </a:r>
            <a:endParaRPr lang="en-US" sz="2700" dirty="0"/>
          </a:p>
        </p:txBody>
      </p:sp>
      <p:sp>
        <p:nvSpPr>
          <p:cNvPr id="9" name="Text 7" descr="" title=""/>
          <p:cNvSpPr/>
          <p:nvPr/>
        </p:nvSpPr>
        <p:spPr>
          <a:xfrm>
            <a:off x="819150" y="6615113"/>
            <a:ext cx="400050" cy="1066800"/>
          </a:xfrm>
          <a:prstGeom prst="rect">
            <a:avLst/>
          </a:prstGeom>
          <a:noFill/>
          <a:ln/>
        </p:spPr>
        <p:txBody>
          <a:bodyPr wrap="square" lIns="25400" tIns="25400" rIns="25400" bIns="25400" rtlCol="0" anchor="t">
            <a:normAutofit/>
          </a:bodyPr>
          <a:lstStyle/>
          <a:p>
            <a:pPr marL="0" indent="0" algn="l">
              <a:lnSpc>
                <a:spcPct val="110204"/>
              </a:lnSpc>
              <a:buNone/>
            </a:pPr>
            <a:r>
              <a:rPr lang="en-US" sz="2700" dirty="0">
                <a:solidFill>
                  <a:srgbClr val="0A0A0A"/>
                </a:solidFill>
                <a:latin typeface="Palatino Linotype" pitchFamily="34" charset="0"/>
                <a:ea typeface="Palatino Linotype" pitchFamily="34" charset="-122"/>
                <a:cs typeface="Palatino Linotype" pitchFamily="34" charset="-120"/>
              </a:rPr>
              <a:t>•</a:t>
            </a:r>
            <a:endParaRPr lang="en-US" sz="2700" dirty="0"/>
          </a:p>
        </p:txBody>
      </p:sp>
      <p:sp>
        <p:nvSpPr>
          <p:cNvPr id="10" name="Text 8" descr="" title=""/>
          <p:cNvSpPr/>
          <p:nvPr/>
        </p:nvSpPr>
        <p:spPr>
          <a:xfrm>
            <a:off x="1295400" y="6615113"/>
            <a:ext cx="16648843" cy="1066800"/>
          </a:xfrm>
          <a:prstGeom prst="rect">
            <a:avLst/>
          </a:prstGeom>
          <a:noFill/>
          <a:ln/>
        </p:spPr>
        <p:txBody>
          <a:bodyPr wrap="square" lIns="25400" tIns="25400" rIns="25400" bIns="25400" rtlCol="0" anchor="t">
            <a:normAutofit/>
          </a:bodyPr>
          <a:lstStyle/>
          <a:p>
            <a:pPr marL="0" indent="0" algn="l">
              <a:lnSpc>
                <a:spcPct val="109091"/>
              </a:lnSpc>
              <a:buNone/>
            </a:pPr>
            <a:r>
              <a:rPr lang="en-US" sz="2700" dirty="0">
                <a:solidFill>
                  <a:srgbClr val="0A0A0A"/>
                </a:solidFill>
                <a:latin typeface="Palatino Linotype" pitchFamily="34" charset="0"/>
                <a:ea typeface="Palatino Linotype" pitchFamily="34" charset="-122"/>
                <a:cs typeface="Palatino Linotype" pitchFamily="34" charset="-120"/>
              </a:rPr>
              <a:t>Auto-generates a touch plan on a two-week cadence, drawn from a prioritized list of high-value touch types.</a:t>
            </a:r>
            <a:endParaRPr lang="en-US" sz="2700" dirty="0"/>
          </a:p>
        </p:txBody>
      </p:sp>
      <p:sp>
        <p:nvSpPr>
          <p:cNvPr id="11" name="Text 9"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2" name="Text 10"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3" name="Text 11"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51</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478739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8 · AI-ENABLED TOOLS</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Tool 2: Example Output Walkthrough</a:t>
            </a:r>
            <a:endParaRPr lang="en-US" sz="4500" dirty="0"/>
          </a:p>
        </p:txBody>
      </p:sp>
      <p:sp>
        <p:nvSpPr>
          <p:cNvPr id="5" name="Text 3" descr="" title=""/>
          <p:cNvSpPr/>
          <p:nvPr/>
        </p:nvSpPr>
        <p:spPr>
          <a:xfrm>
            <a:off x="819150" y="3761036"/>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6" name="Text 4" descr="" title=""/>
          <p:cNvSpPr/>
          <p:nvPr/>
        </p:nvSpPr>
        <p:spPr>
          <a:xfrm>
            <a:off x="1276350" y="3761036"/>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Relationship Type — Independent Sponsor: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"John Smith, CEO of ABC Capital, an independent sponsor focused on B2B software and tech-enabled services. Plans to execute two to three deals before raising a committed fund."</a:t>
            </a:r>
            <a:endParaRPr lang="en-US" sz="1200" dirty="0"/>
          </a:p>
        </p:txBody>
      </p:sp>
      <p:sp>
        <p:nvSpPr>
          <p:cNvPr id="7" name="Text 5" descr="" title=""/>
          <p:cNvSpPr/>
          <p:nvPr/>
        </p:nvSpPr>
        <p:spPr>
          <a:xfrm>
            <a:off x="819150" y="4809679"/>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8" name="Text 6" descr="" title=""/>
          <p:cNvSpPr/>
          <p:nvPr/>
        </p:nvSpPr>
        <p:spPr>
          <a:xfrm>
            <a:off x="1276350" y="4809679"/>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Action Items: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Add contact to the sponsor and capital-provider database; prepare a list of potential investor introductions; track progress on the active deal.</a:t>
            </a:r>
            <a:endParaRPr lang="en-US" sz="1200" dirty="0"/>
          </a:p>
        </p:txBody>
      </p:sp>
      <p:sp>
        <p:nvSpPr>
          <p:cNvPr id="9" name="Text 7" descr="" title=""/>
          <p:cNvSpPr/>
          <p:nvPr/>
        </p:nvSpPr>
        <p:spPr>
          <a:xfrm>
            <a:off x="819150" y="5858321"/>
            <a:ext cx="381000" cy="839093"/>
          </a:xfrm>
          <a:prstGeom prst="rect">
            <a:avLst/>
          </a:prstGeom>
          <a:noFill/>
          <a:ln/>
        </p:spPr>
        <p:txBody>
          <a:bodyPr wrap="square" lIns="25400" tIns="25400" rIns="25400" bIns="25400" rtlCol="0" anchor="t">
            <a:normAutofit/>
          </a:bodyPr>
          <a:lstStyle/>
          <a:p>
            <a:pPr marL="0" indent="0" algn="l">
              <a:lnSpc>
                <a:spcPct val="108750"/>
              </a:lnSpc>
              <a:buNone/>
            </a:pPr>
            <a:r>
              <a:rPr lang="en-US" sz="2250" dirty="0">
                <a:solidFill>
                  <a:srgbClr val="1B2A47"/>
                </a:solidFill>
                <a:latin typeface="Palatino Linotype" pitchFamily="34" charset="0"/>
                <a:ea typeface="Palatino Linotype" pitchFamily="34" charset="-122"/>
                <a:cs typeface="Palatino Linotype" pitchFamily="34" charset="-120"/>
              </a:rPr>
              <a:t>•</a:t>
            </a:r>
            <a:endParaRPr lang="en-US" sz="2250" dirty="0"/>
          </a:p>
        </p:txBody>
      </p:sp>
      <p:sp>
        <p:nvSpPr>
          <p:cNvPr id="10" name="Text 8" descr="" title=""/>
          <p:cNvSpPr/>
          <p:nvPr/>
        </p:nvSpPr>
        <p:spPr>
          <a:xfrm>
            <a:off x="1276350" y="5858321"/>
            <a:ext cx="16668464" cy="839093"/>
          </a:xfrm>
          <a:prstGeom prst="rect">
            <a:avLst/>
          </a:prstGeom>
          <a:noFill/>
          <a:ln/>
        </p:spPr>
        <p:txBody>
          <a:bodyPr wrap="square" lIns="25400" tIns="25400" rIns="25400" bIns="25400" rtlCol="0" anchor="t">
            <a:normAutofit/>
          </a:bodyPr>
          <a:lstStyle/>
          <a:p>
            <a:pPr marL="0" indent="0" algn="l">
              <a:lnSpc>
                <a:spcPct val="105455"/>
              </a:lnSpc>
              <a:buNone/>
            </a:pPr>
            <a:r>
              <a:rPr lang="en-US" sz="2250" b="1" dirty="0">
                <a:solidFill>
                  <a:srgbClr val="1B2A47"/>
                </a:solidFill>
                <a:latin typeface="Palatino Linotype" pitchFamily="34" charset="0"/>
                <a:ea typeface="Palatino Linotype" pitchFamily="34" charset="-122"/>
                <a:cs typeface="Palatino Linotype" pitchFamily="34" charset="-120"/>
              </a:rPr>
              <a:t>Touch Plan (excerpt): </a:t>
            </a:r>
            <a:pPr marL="0" indent="0" algn="l">
              <a:lnSpc>
                <a:spcPct val="105455"/>
              </a:lnSpc>
              <a:buNone/>
            </a:pPr>
            <a:r>
              <a:rPr lang="en-US" sz="2100" dirty="0">
                <a:solidFill>
                  <a:srgbClr val="5B6472"/>
                </a:solidFill>
                <a:latin typeface="Palatino Linotype" pitchFamily="34" charset="0"/>
                <a:ea typeface="Palatino Linotype" pitchFamily="34" charset="-122"/>
                <a:cs typeface="Palatino Linotype" pitchFamily="34" charset="-120"/>
              </a:rPr>
              <a:t>Introduction to a relevant institutional investor · share a relevant deal opportunity · check-in call on deal progress · requalification and pipeline review.</a:t>
            </a:r>
            <a:endParaRPr lang="en-US" sz="1200" dirty="0"/>
          </a:p>
        </p:txBody>
      </p:sp>
      <p:sp>
        <p:nvSpPr>
          <p:cNvPr id="11" name="Shape 9" descr="" title=""/>
          <p:cNvSpPr/>
          <p:nvPr/>
        </p:nvSpPr>
        <p:spPr>
          <a:xfrm>
            <a:off x="752475" y="8096250"/>
            <a:ext cx="16773525" cy="1238250"/>
          </a:xfrm>
          <a:prstGeom prst="roundRect">
            <a:avLst>
              <a:gd name="adj" fmla="val 12308"/>
            </a:avLst>
          </a:prstGeom>
          <a:solidFill>
            <a:srgbClr val="F5F5F4"/>
          </a:solidFill>
          <a:ln/>
        </p:spPr>
      </p:sp>
      <p:sp>
        <p:nvSpPr>
          <p:cNvPr id="12" name="Text 10" descr="" title=""/>
          <p:cNvSpPr/>
          <p:nvPr/>
        </p:nvSpPr>
        <p:spPr>
          <a:xfrm>
            <a:off x="1162050" y="8522047"/>
            <a:ext cx="16433006" cy="424755"/>
          </a:xfrm>
          <a:prstGeom prst="rect">
            <a:avLst/>
          </a:prstGeom>
          <a:noFill/>
          <a:ln/>
        </p:spPr>
        <p:txBody>
          <a:bodyPr wrap="square" lIns="25400" tIns="25400" rIns="25400" bIns="25400" rtlCol="0" anchor="t">
            <a:normAutofit/>
          </a:bodyPr>
          <a:lstStyle/>
          <a:p>
            <a:pPr marL="0" indent="0" algn="l">
              <a:lnSpc>
                <a:spcPct val="101818"/>
              </a:lnSpc>
              <a:buNone/>
            </a:pPr>
            <a:r>
              <a:rPr lang="en-US" sz="2175" b="1" i="1" dirty="0">
                <a:solidFill>
                  <a:srgbClr val="1B2A47"/>
                </a:solidFill>
                <a:latin typeface="Palatino Linotype" pitchFamily="34" charset="0"/>
                <a:ea typeface="Palatino Linotype" pitchFamily="34" charset="-122"/>
                <a:cs typeface="Palatino Linotype" pitchFamily="34" charset="-120"/>
              </a:rPr>
              <a:t>Note: Names, firm, and identifying details in this example are illustrative placeholders, not a real contact.</a:t>
            </a:r>
            <a:endParaRPr lang="en-US" sz="2175" dirty="0"/>
          </a:p>
        </p:txBody>
      </p:sp>
      <p:sp>
        <p:nvSpPr>
          <p:cNvPr id="13" name="Text 1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4" name="Text 1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5" name="Text 1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52</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5F4"/>
        </a:solidFill>
      </p:bgPr>
    </p:bg>
    <p:spTree>
      <p:nvGrpSpPr>
        <p:cNvPr id="1" name="" descr="" title=""/>
        <p:cNvGrpSpPr/>
        <p:nvPr/>
      </p:nvGrpSpPr>
      <p:grpSpPr>
        <a:xfrm>
          <a:off x="0" y="0"/>
          <a:ext cx="0" cy="0"/>
          <a:chOff x="0" y="0"/>
          <a:chExt cx="0" cy="0"/>
        </a:xfrm>
      </p:grpSpPr>
      <p:sp>
        <p:nvSpPr>
          <p:cNvPr id="2" name="Shape 0" descr="" title=""/>
          <p:cNvSpPr/>
          <p:nvPr/>
        </p:nvSpPr>
        <p:spPr>
          <a:xfrm>
            <a:off x="752475" y="619125"/>
            <a:ext cx="3638550" cy="657225"/>
          </a:xfrm>
          <a:prstGeom prst="roundRect">
            <a:avLst>
              <a:gd name="adj" fmla="val 50000"/>
            </a:avLst>
          </a:prstGeom>
          <a:solidFill>
            <a:srgbClr val="A9814B"/>
          </a:solidFill>
          <a:ln/>
        </p:spPr>
      </p:sp>
      <p:sp>
        <p:nvSpPr>
          <p:cNvPr id="3" name="Text 1" descr="" title=""/>
          <p:cNvSpPr/>
          <p:nvPr/>
        </p:nvSpPr>
        <p:spPr>
          <a:xfrm>
            <a:off x="1392376" y="780604"/>
            <a:ext cx="2358747" cy="371475"/>
          </a:xfrm>
          <a:prstGeom prst="rect">
            <a:avLst/>
          </a:prstGeom>
          <a:noFill/>
          <a:ln/>
        </p:spPr>
        <p:txBody>
          <a:bodyPr wrap="square" lIns="25400" tIns="25400" rIns="25400" bIns="25400" rtlCol="0" anchor="t">
            <a:normAutofit/>
          </a:bodyPr>
          <a:lstStyle/>
          <a:p>
            <a:pPr marL="0" indent="0" algn="ctr">
              <a:lnSpc>
                <a:spcPct val="100286"/>
              </a:lnSpc>
              <a:buNone/>
            </a:pPr>
            <a:r>
              <a:rPr lang="en-US" sz="1950" b="1" kern="0" spc="150" dirty="0">
                <a:solidFill>
                  <a:srgbClr val="FFFFFF"/>
                </a:solidFill>
                <a:latin typeface="Palatino Linotype" pitchFamily="34" charset="0"/>
                <a:ea typeface="Palatino Linotype" pitchFamily="34" charset="-122"/>
                <a:cs typeface="Palatino Linotype" pitchFamily="34" charset="-120"/>
              </a:rPr>
              <a:t>CHECKPOINT 8</a:t>
            </a:r>
            <a:endParaRPr lang="en-US" sz="1950" dirty="0"/>
          </a:p>
        </p:txBody>
      </p:sp>
      <p:sp>
        <p:nvSpPr>
          <p:cNvPr id="4" name="Text 2" descr="" title=""/>
          <p:cNvSpPr/>
          <p:nvPr/>
        </p:nvSpPr>
        <p:spPr>
          <a:xfrm>
            <a:off x="4733925" y="793403"/>
            <a:ext cx="3576429"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50" dirty="0">
                <a:solidFill>
                  <a:srgbClr val="1B2A47"/>
                </a:solidFill>
                <a:latin typeface="Palatino Linotype" pitchFamily="34" charset="0"/>
                <a:ea typeface="Palatino Linotype" pitchFamily="34" charset="-122"/>
                <a:cs typeface="Palatino Linotype" pitchFamily="34" charset="-120"/>
              </a:rPr>
              <a:t>MODULE 8 CHECKPOINT</a:t>
            </a:r>
            <a:endParaRPr lang="en-US" sz="1800" dirty="0"/>
          </a:p>
        </p:txBody>
      </p:sp>
      <p:sp>
        <p:nvSpPr>
          <p:cNvPr id="5" name="Text 3" descr="" title=""/>
          <p:cNvSpPr/>
          <p:nvPr/>
        </p:nvSpPr>
        <p:spPr>
          <a:xfrm>
            <a:off x="752475" y="1504950"/>
            <a:ext cx="17276731"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1B2A47"/>
                </a:solidFill>
                <a:latin typeface="Palatino Linotype" pitchFamily="34" charset="0"/>
                <a:ea typeface="Palatino Linotype" pitchFamily="34" charset="-122"/>
                <a:cs typeface="Palatino Linotype" pitchFamily="34" charset="-120"/>
              </a:rPr>
              <a:t>Which tool would you use for each scenario?</a:t>
            </a:r>
            <a:endParaRPr lang="en-US" sz="2850" dirty="0"/>
          </a:p>
        </p:txBody>
      </p:sp>
      <p:sp>
        <p:nvSpPr>
          <p:cNvPr id="6" name="Shape 4" descr="" title=""/>
          <p:cNvSpPr/>
          <p:nvPr/>
        </p:nvSpPr>
        <p:spPr>
          <a:xfrm>
            <a:off x="752475" y="3019425"/>
            <a:ext cx="16773525" cy="838200"/>
          </a:xfrm>
          <a:prstGeom prst="roundRect">
            <a:avLst>
              <a:gd name="adj" fmla="val 18182"/>
            </a:avLst>
          </a:prstGeom>
          <a:solidFill>
            <a:srgbClr val="FFFFFF"/>
          </a:solidFill>
          <a:ln/>
        </p:spPr>
      </p:sp>
      <p:sp>
        <p:nvSpPr>
          <p:cNvPr id="7" name="Text 5" descr="" title=""/>
          <p:cNvSpPr/>
          <p:nvPr/>
        </p:nvSpPr>
        <p:spPr>
          <a:xfrm>
            <a:off x="1143000" y="3238500"/>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A. You want to line up your next touch with a client you met two weeks ago.</a:t>
            </a:r>
            <a:endParaRPr lang="en-US" sz="2250" dirty="0"/>
          </a:p>
        </p:txBody>
      </p:sp>
      <p:sp>
        <p:nvSpPr>
          <p:cNvPr id="8" name="Shape 6" descr="" title=""/>
          <p:cNvSpPr/>
          <p:nvPr/>
        </p:nvSpPr>
        <p:spPr>
          <a:xfrm>
            <a:off x="752475" y="4067175"/>
            <a:ext cx="16773525" cy="838200"/>
          </a:xfrm>
          <a:prstGeom prst="roundRect">
            <a:avLst>
              <a:gd name="adj" fmla="val 18182"/>
            </a:avLst>
          </a:prstGeom>
          <a:solidFill>
            <a:srgbClr val="FFFFFF"/>
          </a:solidFill>
          <a:ln/>
        </p:spPr>
      </p:sp>
      <p:sp>
        <p:nvSpPr>
          <p:cNvPr id="9" name="Text 7" descr="" title=""/>
          <p:cNvSpPr/>
          <p:nvPr/>
        </p:nvSpPr>
        <p:spPr>
          <a:xfrm>
            <a:off x="1143000" y="4286250"/>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B. You're reworking your value proposition section because it sounds too vague.</a:t>
            </a:r>
            <a:endParaRPr lang="en-US" sz="2250" dirty="0"/>
          </a:p>
        </p:txBody>
      </p:sp>
      <p:sp>
        <p:nvSpPr>
          <p:cNvPr id="10" name="Shape 8" descr="" title=""/>
          <p:cNvSpPr/>
          <p:nvPr/>
        </p:nvSpPr>
        <p:spPr>
          <a:xfrm>
            <a:off x="752475" y="5105400"/>
            <a:ext cx="16773525" cy="838200"/>
          </a:xfrm>
          <a:prstGeom prst="roundRect">
            <a:avLst>
              <a:gd name="adj" fmla="val 18182"/>
            </a:avLst>
          </a:prstGeom>
          <a:solidFill>
            <a:srgbClr val="FFFFFF"/>
          </a:solidFill>
          <a:ln/>
        </p:spPr>
      </p:sp>
      <p:sp>
        <p:nvSpPr>
          <p:cNvPr id="11" name="Text 9" descr="" title=""/>
          <p:cNvSpPr/>
          <p:nvPr/>
        </p:nvSpPr>
        <p:spPr>
          <a:xfrm>
            <a:off x="1143000" y="5324475"/>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C. You want to make sure your firm overview doesn't run past one minute before tomorrow's meeting.</a:t>
            </a:r>
            <a:endParaRPr lang="en-US" sz="2250" dirty="0"/>
          </a:p>
        </p:txBody>
      </p:sp>
      <p:sp>
        <p:nvSpPr>
          <p:cNvPr id="12" name="Shape 10" descr="" title=""/>
          <p:cNvSpPr/>
          <p:nvPr/>
        </p:nvSpPr>
        <p:spPr>
          <a:xfrm>
            <a:off x="752475" y="6153150"/>
            <a:ext cx="16773525" cy="838200"/>
          </a:xfrm>
          <a:prstGeom prst="roundRect">
            <a:avLst>
              <a:gd name="adj" fmla="val 18182"/>
            </a:avLst>
          </a:prstGeom>
          <a:solidFill>
            <a:srgbClr val="FFFFFF"/>
          </a:solidFill>
          <a:ln/>
        </p:spPr>
      </p:sp>
      <p:sp>
        <p:nvSpPr>
          <p:cNvPr id="13" name="Text 11" descr="" title=""/>
          <p:cNvSpPr/>
          <p:nvPr/>
        </p:nvSpPr>
        <p:spPr>
          <a:xfrm>
            <a:off x="1143000" y="6372225"/>
            <a:ext cx="16501682" cy="438150"/>
          </a:xfrm>
          <a:prstGeom prst="rect">
            <a:avLst/>
          </a:prstGeom>
          <a:noFill/>
          <a:ln/>
        </p:spPr>
        <p:txBody>
          <a:bodyPr wrap="square" lIns="25400" tIns="25400" rIns="25400" bIns="25400" rtlCol="0" anchor="t">
            <a:normAutofit/>
          </a:bodyPr>
          <a:lstStyle/>
          <a:p>
            <a:pPr marL="0" indent="0" algn="l">
              <a:lnSpc>
                <a:spcPct val="101818"/>
              </a:lnSpc>
              <a:buNone/>
            </a:pPr>
            <a:r>
              <a:rPr lang="en-US" sz="2250" b="1" dirty="0">
                <a:solidFill>
                  <a:srgbClr val="0A0A0A"/>
                </a:solidFill>
                <a:latin typeface="Palatino Linotype" pitchFamily="34" charset="0"/>
                <a:ea typeface="Palatino Linotype" pitchFamily="34" charset="-122"/>
                <a:cs typeface="Palatino Linotype" pitchFamily="34" charset="-120"/>
              </a:rPr>
              <a:t>D. You just wrapped a call with a referral partner and need to turn your notes into a standard record.</a:t>
            </a:r>
            <a:endParaRPr lang="en-US" sz="2250" dirty="0"/>
          </a:p>
        </p:txBody>
      </p:sp>
      <p:sp>
        <p:nvSpPr>
          <p:cNvPr id="14" name="Shape 12" descr="" title=""/>
          <p:cNvSpPr/>
          <p:nvPr/>
        </p:nvSpPr>
        <p:spPr>
          <a:xfrm>
            <a:off x="752475" y="7334250"/>
            <a:ext cx="16773525" cy="2057400"/>
          </a:xfrm>
          <a:prstGeom prst="roundRect">
            <a:avLst>
              <a:gd name="adj" fmla="val 7407"/>
            </a:avLst>
          </a:prstGeom>
          <a:solidFill>
            <a:srgbClr val="1B2A47"/>
          </a:solidFill>
          <a:ln/>
        </p:spPr>
      </p:sp>
      <p:sp>
        <p:nvSpPr>
          <p:cNvPr id="15" name="Text 13" descr="" title=""/>
          <p:cNvSpPr/>
          <p:nvPr/>
        </p:nvSpPr>
        <p:spPr>
          <a:xfrm>
            <a:off x="1162050" y="7608391"/>
            <a:ext cx="15855404" cy="381000"/>
          </a:xfrm>
          <a:prstGeom prst="rect">
            <a:avLst/>
          </a:prstGeom>
          <a:noFill/>
          <a:ln/>
        </p:spPr>
        <p:txBody>
          <a:bodyPr wrap="square" lIns="25400" tIns="25400" rIns="25400" bIns="25400" rtlCol="0" anchor="t">
            <a:normAutofit/>
          </a:bodyPr>
          <a:lstStyle/>
          <a:p>
            <a:pPr marL="0" indent="0" algn="l">
              <a:lnSpc>
                <a:spcPct val="101250"/>
              </a:lnSpc>
              <a:buNone/>
            </a:pPr>
            <a:r>
              <a:rPr lang="en-US" sz="2025" b="1" kern="0" spc="150" dirty="0">
                <a:solidFill>
                  <a:srgbClr val="A9814B"/>
                </a:solidFill>
                <a:latin typeface="Palatino Linotype" pitchFamily="34" charset="0"/>
                <a:ea typeface="Palatino Linotype" pitchFamily="34" charset="-122"/>
                <a:cs typeface="Palatino Linotype" pitchFamily="34" charset="-120"/>
              </a:rPr>
              <a:t>ANSWER · B &amp; C = Tool 1 (Opening Monologue Generator) · A &amp; D = Tool 2 (Conversation Log Generator)</a:t>
            </a:r>
            <a:endParaRPr lang="en-US" sz="2025" dirty="0"/>
          </a:p>
        </p:txBody>
      </p:sp>
      <p:sp>
        <p:nvSpPr>
          <p:cNvPr id="16" name="Text 14" descr="" title=""/>
          <p:cNvSpPr/>
          <p:nvPr/>
        </p:nvSpPr>
        <p:spPr>
          <a:xfrm>
            <a:off x="1162050" y="8048625"/>
            <a:ext cx="16433006" cy="758130"/>
          </a:xfrm>
          <a:prstGeom prst="rect">
            <a:avLst/>
          </a:prstGeom>
          <a:noFill/>
          <a:ln/>
        </p:spPr>
        <p:txBody>
          <a:bodyPr wrap="square" lIns="25400" tIns="25400" rIns="25400" bIns="25400" rtlCol="0" anchor="t">
            <a:normAutofit/>
          </a:bodyPr>
          <a:lstStyle/>
          <a:p>
            <a:pPr marL="0" indent="0" algn="l">
              <a:lnSpc>
                <a:spcPct val="98182"/>
              </a:lnSpc>
              <a:buNone/>
            </a:pPr>
            <a:r>
              <a:rPr lang="en-US" sz="2100" b="1" dirty="0">
                <a:solidFill>
                  <a:srgbClr val="FFFFFF"/>
                </a:solidFill>
                <a:latin typeface="Palatino Linotype" pitchFamily="34" charset="0"/>
                <a:ea typeface="Palatino Linotype" pitchFamily="34" charset="-122"/>
                <a:cs typeface="Palatino Linotype" pitchFamily="34" charset="-120"/>
              </a:rPr>
              <a:t>Tool 1 supports everything before and during the pitch meeting. Tool 2 supports everything after it. Knowing which phase you're in tells you which tool to reach for.</a:t>
            </a:r>
            <a:endParaRPr lang="en-US" sz="2100" dirty="0"/>
          </a:p>
        </p:txBody>
      </p:sp>
      <p:sp>
        <p:nvSpPr>
          <p:cNvPr id="17" name="Text 15"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8" name="Text 16"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9" name="Text 17"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53</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44857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9 · CAPSTONE</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Capstone Scenario</a:t>
            </a:r>
            <a:endParaRPr lang="en-US" sz="4500" dirty="0"/>
          </a:p>
        </p:txBody>
      </p:sp>
      <p:sp>
        <p:nvSpPr>
          <p:cNvPr id="5" name="Text 3" descr="" title=""/>
          <p:cNvSpPr/>
          <p:nvPr/>
        </p:nvSpPr>
        <p:spPr>
          <a:xfrm>
            <a:off x="819150" y="3667125"/>
            <a:ext cx="38100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6" name="Text 4" descr="" title=""/>
          <p:cNvSpPr/>
          <p:nvPr/>
        </p:nvSpPr>
        <p:spPr>
          <a:xfrm>
            <a:off x="1276350" y="3667125"/>
            <a:ext cx="16668464"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Prospecting: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You've identified a general counsel at ABC Corporation following a leadership change. Draft the opening line of your outreach.</a:t>
            </a:r>
            <a:endParaRPr lang="en-US" sz="1200" dirty="0"/>
          </a:p>
        </p:txBody>
      </p:sp>
      <p:sp>
        <p:nvSpPr>
          <p:cNvPr id="7" name="Text 5" descr="" title=""/>
          <p:cNvSpPr/>
          <p:nvPr/>
        </p:nvSpPr>
        <p:spPr>
          <a:xfrm>
            <a:off x="819150" y="4784824"/>
            <a:ext cx="381000" cy="908149"/>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8" name="Text 6" descr="" title=""/>
          <p:cNvSpPr/>
          <p:nvPr/>
        </p:nvSpPr>
        <p:spPr>
          <a:xfrm>
            <a:off x="1276350" y="4784824"/>
            <a:ext cx="16668464" cy="908149"/>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Pitching: </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In the meeting, ABC Corporation's general counsel asks a discovery-level question. What's your response, and where does it sit on the hill?</a:t>
            </a:r>
            <a:endParaRPr lang="en-US" sz="1200" dirty="0"/>
          </a:p>
        </p:txBody>
      </p:sp>
      <p:sp>
        <p:nvSpPr>
          <p:cNvPr id="9" name="Text 7" descr="" title=""/>
          <p:cNvSpPr/>
          <p:nvPr/>
        </p:nvSpPr>
        <p:spPr>
          <a:xfrm>
            <a:off x="819150" y="5902523"/>
            <a:ext cx="381000" cy="507653"/>
          </a:xfrm>
          <a:prstGeom prst="rect">
            <a:avLst/>
          </a:prstGeom>
          <a:noFill/>
          <a:ln/>
        </p:spPr>
        <p:txBody>
          <a:bodyPr wrap="square" lIns="25400" tIns="25400" rIns="25400" bIns="25400" rtlCol="0" anchor="t">
            <a:normAutofit/>
          </a:bodyPr>
          <a:lstStyle/>
          <a:p>
            <a:pPr marL="0" indent="0" algn="l">
              <a:lnSpc>
                <a:spcPct val="107174"/>
              </a:lnSpc>
              <a:buNone/>
            </a:pPr>
            <a:r>
              <a:rPr lang="en-US" sz="2550" dirty="0">
                <a:solidFill>
                  <a:srgbClr val="1B2A47"/>
                </a:solidFill>
                <a:latin typeface="Palatino Linotype" pitchFamily="34" charset="0"/>
                <a:ea typeface="Palatino Linotype" pitchFamily="34" charset="-122"/>
                <a:cs typeface="Palatino Linotype" pitchFamily="34" charset="-120"/>
              </a:rPr>
              <a:t>•</a:t>
            </a:r>
            <a:endParaRPr lang="en-US" sz="2550" dirty="0"/>
          </a:p>
        </p:txBody>
      </p:sp>
      <p:sp>
        <p:nvSpPr>
          <p:cNvPr id="10" name="Text 8" descr="" title=""/>
          <p:cNvSpPr/>
          <p:nvPr/>
        </p:nvSpPr>
        <p:spPr>
          <a:xfrm>
            <a:off x="1276350" y="5902523"/>
            <a:ext cx="16668464" cy="507653"/>
          </a:xfrm>
          <a:prstGeom prst="rect">
            <a:avLst/>
          </a:prstGeom>
          <a:noFill/>
          <a:ln/>
        </p:spPr>
        <p:txBody>
          <a:bodyPr wrap="square" lIns="25400" tIns="25400" rIns="25400" bIns="25400" rtlCol="0" anchor="t">
            <a:normAutofit/>
          </a:bodyPr>
          <a:lstStyle/>
          <a:p>
            <a:pPr marL="0" indent="0" algn="l">
              <a:lnSpc>
                <a:spcPct val="105455"/>
              </a:lnSpc>
              <a:buNone/>
            </a:pPr>
            <a:r>
              <a:rPr lang="en-US" sz="2550" b="1" dirty="0">
                <a:solidFill>
                  <a:srgbClr val="1B2A47"/>
                </a:solidFill>
                <a:latin typeface="Palatino Linotype" pitchFamily="34" charset="0"/>
                <a:ea typeface="Palatino Linotype" pitchFamily="34" charset="-122"/>
                <a:cs typeface="Palatino Linotype" pitchFamily="34" charset="-120"/>
              </a:rPr>
              <a:t>Closing:</a:t>
            </a:r>
            <a:pPr marL="0" indent="0" algn="l">
              <a:lnSpc>
                <a:spcPct val="105455"/>
              </a:lnSpc>
              <a:buNone/>
            </a:pPr>
            <a:r>
              <a:rPr lang="en-US" sz="2175" dirty="0">
                <a:solidFill>
                  <a:srgbClr val="5B6472"/>
                </a:solidFill>
                <a:latin typeface="Palatino Linotype" pitchFamily="34" charset="0"/>
                <a:ea typeface="Palatino Linotype" pitchFamily="34" charset="-122"/>
                <a:cs typeface="Palatino Linotype" pitchFamily="34" charset="-120"/>
              </a:rPr>
              <a:t>Three months after the pitch, no engagement yet. What is your next touch, and how do you decide whether to requalify?</a:t>
            </a:r>
            <a:endParaRPr lang="en-US" sz="1200" dirty="0"/>
          </a:p>
        </p:txBody>
      </p:sp>
      <p:sp>
        <p:nvSpPr>
          <p:cNvPr id="11" name="Shape 9" descr="" title=""/>
          <p:cNvSpPr/>
          <p:nvPr/>
        </p:nvSpPr>
        <p:spPr>
          <a:xfrm>
            <a:off x="752475" y="8001000"/>
            <a:ext cx="16773525" cy="1238250"/>
          </a:xfrm>
          <a:prstGeom prst="roundRect">
            <a:avLst>
              <a:gd name="adj" fmla="val 12308"/>
            </a:avLst>
          </a:prstGeom>
          <a:solidFill>
            <a:srgbClr val="F5F5F4"/>
          </a:solidFill>
          <a:ln/>
        </p:spPr>
      </p:sp>
      <p:sp>
        <p:nvSpPr>
          <p:cNvPr id="12" name="Text 10" descr="" title=""/>
          <p:cNvSpPr/>
          <p:nvPr/>
        </p:nvSpPr>
        <p:spPr>
          <a:xfrm>
            <a:off x="1162050" y="8426797"/>
            <a:ext cx="16433006" cy="424755"/>
          </a:xfrm>
          <a:prstGeom prst="rect">
            <a:avLst/>
          </a:prstGeom>
          <a:noFill/>
          <a:ln/>
        </p:spPr>
        <p:txBody>
          <a:bodyPr wrap="square" lIns="25400" tIns="25400" rIns="25400" bIns="25400" rtlCol="0" anchor="t">
            <a:normAutofit/>
          </a:bodyPr>
          <a:lstStyle/>
          <a:p>
            <a:pPr marL="0" indent="0" algn="l">
              <a:lnSpc>
                <a:spcPct val="101818"/>
              </a:lnSpc>
              <a:buNone/>
            </a:pPr>
            <a:r>
              <a:rPr lang="en-US" sz="2175" b="1" i="1" dirty="0">
                <a:solidFill>
                  <a:srgbClr val="1B2A47"/>
                </a:solidFill>
                <a:latin typeface="Palatino Linotype" pitchFamily="34" charset="0"/>
                <a:ea typeface="Palatino Linotype" pitchFamily="34" charset="-122"/>
                <a:cs typeface="Palatino Linotype" pitchFamily="34" charset="-120"/>
              </a:rPr>
              <a:t>Work through each stage before moving on — this scenario spans all three phases and the artfulness lens.</a:t>
            </a:r>
            <a:endParaRPr lang="en-US" sz="2175" dirty="0"/>
          </a:p>
        </p:txBody>
      </p:sp>
      <p:sp>
        <p:nvSpPr>
          <p:cNvPr id="13" name="Text 11"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4" name="Text 12"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5" name="Text 13"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54</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descr="" title=""/>
        <p:cNvGrpSpPr/>
        <p:nvPr/>
      </p:nvGrpSpPr>
      <p:grpSpPr>
        <a:xfrm>
          <a:off x="0" y="0"/>
          <a:ext cx="0" cy="0"/>
          <a:chOff x="0" y="0"/>
          <a:chExt cx="0" cy="0"/>
        </a:xfrm>
      </p:grpSpPr>
      <p:sp>
        <p:nvSpPr>
          <p:cNvPr id="2" name="Shape 0" descr="" title=""/>
          <p:cNvSpPr/>
          <p:nvPr/>
        </p:nvSpPr>
        <p:spPr>
          <a:xfrm>
            <a:off x="752475" y="628650"/>
            <a:ext cx="209550" cy="209550"/>
          </a:xfrm>
          <a:prstGeom prst="ellipse">
            <a:avLst/>
          </a:prstGeom>
          <a:solidFill>
            <a:srgbClr val="A9814B"/>
          </a:solidFill>
          <a:ln/>
        </p:spPr>
      </p:sp>
      <p:sp>
        <p:nvSpPr>
          <p:cNvPr id="3" name="Text 1" descr="" title=""/>
          <p:cNvSpPr/>
          <p:nvPr/>
        </p:nvSpPr>
        <p:spPr>
          <a:xfrm>
            <a:off x="1095375" y="574328"/>
            <a:ext cx="3448571" cy="342900"/>
          </a:xfrm>
          <a:prstGeom prst="rect">
            <a:avLst/>
          </a:prstGeom>
          <a:noFill/>
          <a:ln/>
        </p:spPr>
        <p:txBody>
          <a:bodyPr wrap="square" lIns="25400" tIns="25400" rIns="25400" bIns="25400" rtlCol="0" anchor="t">
            <a:normAutofit/>
          </a:bodyPr>
          <a:lstStyle/>
          <a:p>
            <a:pPr marL="0" indent="0" algn="l">
              <a:lnSpc>
                <a:spcPct val="101250"/>
              </a:lnSpc>
              <a:buNone/>
            </a:pPr>
            <a:r>
              <a:rPr lang="en-US" sz="1800" b="1" kern="0" spc="180" dirty="0">
                <a:solidFill>
                  <a:srgbClr val="1B2A47"/>
                </a:solidFill>
                <a:latin typeface="Palatino Linotype" pitchFamily="34" charset="0"/>
                <a:ea typeface="Palatino Linotype" pitchFamily="34" charset="-122"/>
                <a:cs typeface="Palatino Linotype" pitchFamily="34" charset="-120"/>
              </a:rPr>
              <a:t>MODULE 9 · CAPSTONE</a:t>
            </a:r>
            <a:endParaRPr lang="en-US" sz="1800" dirty="0"/>
          </a:p>
        </p:txBody>
      </p:sp>
      <p:sp>
        <p:nvSpPr>
          <p:cNvPr id="4" name="Text 2" descr="" title=""/>
          <p:cNvSpPr/>
          <p:nvPr/>
        </p:nvSpPr>
        <p:spPr>
          <a:xfrm>
            <a:off x="752475" y="1028700"/>
            <a:ext cx="17276731" cy="809625"/>
          </a:xfrm>
          <a:prstGeom prst="rect">
            <a:avLst/>
          </a:prstGeom>
          <a:noFill/>
          <a:ln/>
        </p:spPr>
        <p:txBody>
          <a:bodyPr wrap="square" lIns="25400" tIns="25400" rIns="25400" bIns="25400" rtlCol="0" anchor="t">
            <a:normAutofit/>
          </a:bodyPr>
          <a:lstStyle/>
          <a:p>
            <a:pPr marL="0" indent="0" algn="l">
              <a:lnSpc>
                <a:spcPct val="98182"/>
              </a:lnSpc>
              <a:buNone/>
            </a:pPr>
            <a:r>
              <a:rPr lang="en-US" sz="4500" b="1" dirty="0">
                <a:solidFill>
                  <a:srgbClr val="1B2A47"/>
                </a:solidFill>
                <a:latin typeface="Palatino Linotype" pitchFamily="34" charset="0"/>
                <a:ea typeface="Palatino Linotype" pitchFamily="34" charset="-122"/>
                <a:cs typeface="Palatino Linotype" pitchFamily="34" charset="-120"/>
              </a:rPr>
              <a:t>Key Takeaways and Next Steps</a:t>
            </a:r>
            <a:endParaRPr lang="en-US" sz="4500" dirty="0"/>
          </a:p>
        </p:txBody>
      </p:sp>
      <p:sp>
        <p:nvSpPr>
          <p:cNvPr id="5" name="Text 3" descr="" title=""/>
          <p:cNvSpPr/>
          <p:nvPr/>
        </p:nvSpPr>
        <p:spPr>
          <a:xfrm>
            <a:off x="819150" y="3802559"/>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1B2A47"/>
                </a:solidFill>
                <a:latin typeface="Palatino Linotype" pitchFamily="34" charset="0"/>
                <a:ea typeface="Palatino Linotype" pitchFamily="34" charset="-122"/>
                <a:cs typeface="Palatino Linotype" pitchFamily="34" charset="-120"/>
              </a:rPr>
              <a:t>•</a:t>
            </a:r>
            <a:endParaRPr lang="en-US" sz="2400" dirty="0"/>
          </a:p>
        </p:txBody>
      </p:sp>
      <p:sp>
        <p:nvSpPr>
          <p:cNvPr id="6" name="Text 4" descr="" title=""/>
          <p:cNvSpPr/>
          <p:nvPr/>
        </p:nvSpPr>
        <p:spPr>
          <a:xfrm>
            <a:off x="1276350" y="3802559"/>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b="1" dirty="0">
                <a:solidFill>
                  <a:srgbClr val="1B2A47"/>
                </a:solidFill>
                <a:latin typeface="Palatino Linotype" pitchFamily="34" charset="0"/>
                <a:ea typeface="Palatino Linotype" pitchFamily="34" charset="-122"/>
                <a:cs typeface="Palatino Linotype" pitchFamily="34" charset="-120"/>
              </a:rPr>
              <a:t>Prospecting:</a:t>
            </a:r>
            <a:pPr marL="0" indent="0" algn="l">
              <a:lnSpc>
                <a:spcPct val="105455"/>
              </a:lnSpc>
              <a:buNone/>
            </a:pPr>
            <a:r>
              <a:rPr lang="en-US" sz="2025" dirty="0">
                <a:solidFill>
                  <a:srgbClr val="5B6472"/>
                </a:solidFill>
                <a:latin typeface="Palatino Linotype" pitchFamily="34" charset="0"/>
                <a:ea typeface="Palatino Linotype" pitchFamily="34" charset="-122"/>
                <a:cs typeface="Palatino Linotype" pitchFamily="34" charset="-120"/>
              </a:rPr>
              <a:t>Be invited, not just noticed — lead with facts about the prospect, not about you.</a:t>
            </a:r>
            <a:endParaRPr lang="en-US" sz="1200" dirty="0"/>
          </a:p>
        </p:txBody>
      </p:sp>
      <p:sp>
        <p:nvSpPr>
          <p:cNvPr id="7" name="Text 5" descr="" title=""/>
          <p:cNvSpPr/>
          <p:nvPr/>
        </p:nvSpPr>
        <p:spPr>
          <a:xfrm>
            <a:off x="819150" y="4473029"/>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1B2A47"/>
                </a:solidFill>
                <a:latin typeface="Palatino Linotype" pitchFamily="34" charset="0"/>
                <a:ea typeface="Palatino Linotype" pitchFamily="34" charset="-122"/>
                <a:cs typeface="Palatino Linotype" pitchFamily="34" charset="-120"/>
              </a:rPr>
              <a:t>•</a:t>
            </a:r>
            <a:endParaRPr lang="en-US" sz="2400" dirty="0"/>
          </a:p>
        </p:txBody>
      </p:sp>
      <p:sp>
        <p:nvSpPr>
          <p:cNvPr id="8" name="Text 6" descr="" title=""/>
          <p:cNvSpPr/>
          <p:nvPr/>
        </p:nvSpPr>
        <p:spPr>
          <a:xfrm>
            <a:off x="1276350" y="4473029"/>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b="1" dirty="0">
                <a:solidFill>
                  <a:srgbClr val="1B2A47"/>
                </a:solidFill>
                <a:latin typeface="Palatino Linotype" pitchFamily="34" charset="0"/>
                <a:ea typeface="Palatino Linotype" pitchFamily="34" charset="-122"/>
                <a:cs typeface="Palatino Linotype" pitchFamily="34" charset="-120"/>
              </a:rPr>
              <a:t>Pitching:</a:t>
            </a:r>
            <a:pPr marL="0" indent="0" algn="l">
              <a:lnSpc>
                <a:spcPct val="105455"/>
              </a:lnSpc>
              <a:buNone/>
            </a:pPr>
            <a:r>
              <a:rPr lang="en-US" sz="2025" dirty="0">
                <a:solidFill>
                  <a:srgbClr val="5B6472"/>
                </a:solidFill>
                <a:latin typeface="Palatino Linotype" pitchFamily="34" charset="0"/>
                <a:ea typeface="Palatino Linotype" pitchFamily="34" charset="-122"/>
                <a:cs typeface="Palatino Linotype" pitchFamily="34" charset="-120"/>
              </a:rPr>
              <a:t>The opening monologue earns the right to ask questions; the guided dialogue climbs the hill.</a:t>
            </a:r>
            <a:endParaRPr lang="en-US" sz="1200" dirty="0"/>
          </a:p>
        </p:txBody>
      </p:sp>
      <p:sp>
        <p:nvSpPr>
          <p:cNvPr id="9" name="Text 7" descr="" title=""/>
          <p:cNvSpPr/>
          <p:nvPr/>
        </p:nvSpPr>
        <p:spPr>
          <a:xfrm>
            <a:off x="819150" y="5143500"/>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1B2A47"/>
                </a:solidFill>
                <a:latin typeface="Palatino Linotype" pitchFamily="34" charset="0"/>
                <a:ea typeface="Palatino Linotype" pitchFamily="34" charset="-122"/>
                <a:cs typeface="Palatino Linotype" pitchFamily="34" charset="-120"/>
              </a:rPr>
              <a:t>•</a:t>
            </a:r>
            <a:endParaRPr lang="en-US" sz="2400" dirty="0"/>
          </a:p>
        </p:txBody>
      </p:sp>
      <p:sp>
        <p:nvSpPr>
          <p:cNvPr id="10" name="Text 8" descr="" title=""/>
          <p:cNvSpPr/>
          <p:nvPr/>
        </p:nvSpPr>
        <p:spPr>
          <a:xfrm>
            <a:off x="1276350" y="5143500"/>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b="1" dirty="0">
                <a:solidFill>
                  <a:srgbClr val="1B2A47"/>
                </a:solidFill>
                <a:latin typeface="Palatino Linotype" pitchFamily="34" charset="0"/>
                <a:ea typeface="Palatino Linotype" pitchFamily="34" charset="-122"/>
                <a:cs typeface="Palatino Linotype" pitchFamily="34" charset="-120"/>
              </a:rPr>
              <a:t>Closing:</a:t>
            </a:r>
            <a:pPr marL="0" indent="0" algn="l">
              <a:lnSpc>
                <a:spcPct val="105455"/>
              </a:lnSpc>
              <a:buNone/>
            </a:pPr>
            <a:r>
              <a:rPr lang="en-US" sz="2025" dirty="0">
                <a:solidFill>
                  <a:srgbClr val="5B6472"/>
                </a:solidFill>
                <a:latin typeface="Palatino Linotype" pitchFamily="34" charset="0"/>
                <a:ea typeface="Palatino Linotype" pitchFamily="34" charset="-122"/>
                <a:cs typeface="Palatino Linotype" pitchFamily="34" charset="-120"/>
              </a:rPr>
              <a:t>Consistency, not chase — presence beats persuasion.</a:t>
            </a:r>
            <a:endParaRPr lang="en-US" sz="1200" dirty="0"/>
          </a:p>
        </p:txBody>
      </p:sp>
      <p:sp>
        <p:nvSpPr>
          <p:cNvPr id="11" name="Text 9" descr="" title=""/>
          <p:cNvSpPr/>
          <p:nvPr/>
        </p:nvSpPr>
        <p:spPr>
          <a:xfrm>
            <a:off x="819150" y="5813971"/>
            <a:ext cx="381000"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dirty="0">
                <a:solidFill>
                  <a:srgbClr val="1B2A47"/>
                </a:solidFill>
                <a:latin typeface="Palatino Linotype" pitchFamily="34" charset="0"/>
                <a:ea typeface="Palatino Linotype" pitchFamily="34" charset="-122"/>
                <a:cs typeface="Palatino Linotype" pitchFamily="34" charset="-120"/>
              </a:rPr>
              <a:t>•</a:t>
            </a:r>
            <a:endParaRPr lang="en-US" sz="2400" dirty="0"/>
          </a:p>
        </p:txBody>
      </p:sp>
      <p:sp>
        <p:nvSpPr>
          <p:cNvPr id="12" name="Text 10" descr="" title=""/>
          <p:cNvSpPr/>
          <p:nvPr/>
        </p:nvSpPr>
        <p:spPr>
          <a:xfrm>
            <a:off x="1276350" y="5813971"/>
            <a:ext cx="16668464" cy="479971"/>
          </a:xfrm>
          <a:prstGeom prst="rect">
            <a:avLst/>
          </a:prstGeom>
          <a:noFill/>
          <a:ln/>
        </p:spPr>
        <p:txBody>
          <a:bodyPr wrap="square" lIns="25400" tIns="25400" rIns="25400" bIns="25400" rtlCol="0" anchor="t">
            <a:normAutofit/>
          </a:bodyPr>
          <a:lstStyle/>
          <a:p>
            <a:pPr marL="0" indent="0" algn="l">
              <a:lnSpc>
                <a:spcPct val="105455"/>
              </a:lnSpc>
              <a:buNone/>
            </a:pPr>
            <a:r>
              <a:rPr lang="en-US" sz="2400" b="1" dirty="0">
                <a:solidFill>
                  <a:srgbClr val="1B2A47"/>
                </a:solidFill>
                <a:latin typeface="Palatino Linotype" pitchFamily="34" charset="0"/>
                <a:ea typeface="Palatino Linotype" pitchFamily="34" charset="-122"/>
                <a:cs typeface="Palatino Linotype" pitchFamily="34" charset="-120"/>
              </a:rPr>
              <a:t>Artfulness:</a:t>
            </a:r>
            <a:pPr marL="0" indent="0" algn="l">
              <a:lnSpc>
                <a:spcPct val="105455"/>
              </a:lnSpc>
              <a:buNone/>
            </a:pPr>
            <a:r>
              <a:rPr lang="en-US" sz="2025" dirty="0">
                <a:solidFill>
                  <a:srgbClr val="5B6472"/>
                </a:solidFill>
                <a:latin typeface="Palatino Linotype" pitchFamily="34" charset="0"/>
                <a:ea typeface="Palatino Linotype" pitchFamily="34" charset="-122"/>
                <a:cs typeface="Palatino Linotype" pitchFamily="34" charset="-120"/>
              </a:rPr>
              <a:t>Confidence and respect are not opposites — hold both.</a:t>
            </a:r>
            <a:endParaRPr lang="en-US" sz="1200" dirty="0"/>
          </a:p>
        </p:txBody>
      </p:sp>
      <p:sp>
        <p:nvSpPr>
          <p:cNvPr id="13" name="Shape 11" descr="" title=""/>
          <p:cNvSpPr/>
          <p:nvPr/>
        </p:nvSpPr>
        <p:spPr>
          <a:xfrm>
            <a:off x="752475" y="7715250"/>
            <a:ext cx="16773525" cy="1619250"/>
          </a:xfrm>
          <a:prstGeom prst="roundRect">
            <a:avLst>
              <a:gd name="adj" fmla="val 9412"/>
            </a:avLst>
          </a:prstGeom>
          <a:solidFill>
            <a:srgbClr val="F5F5F4"/>
          </a:solidFill>
          <a:ln/>
        </p:spPr>
      </p:sp>
      <p:sp>
        <p:nvSpPr>
          <p:cNvPr id="14" name="Text 12" descr="" title=""/>
          <p:cNvSpPr/>
          <p:nvPr/>
        </p:nvSpPr>
        <p:spPr>
          <a:xfrm>
            <a:off x="1162050" y="8164860"/>
            <a:ext cx="16433006" cy="758130"/>
          </a:xfrm>
          <a:prstGeom prst="rect">
            <a:avLst/>
          </a:prstGeom>
          <a:noFill/>
          <a:ln/>
        </p:spPr>
        <p:txBody>
          <a:bodyPr wrap="square" lIns="25400" tIns="25400" rIns="25400" bIns="25400" rtlCol="0" anchor="t">
            <a:normAutofit/>
          </a:bodyPr>
          <a:lstStyle/>
          <a:p>
            <a:pPr marL="0" indent="0" algn="l">
              <a:lnSpc>
                <a:spcPct val="101818"/>
              </a:lnSpc>
              <a:buNone/>
            </a:pPr>
            <a:r>
              <a:rPr lang="en-US" sz="2025" b="1" i="1" dirty="0">
                <a:solidFill>
                  <a:srgbClr val="1B2A47"/>
                </a:solidFill>
                <a:latin typeface="Palatino Linotype" pitchFamily="34" charset="0"/>
                <a:ea typeface="Palatino Linotype" pitchFamily="34" charset="-122"/>
                <a:cs typeface="Palatino Linotype" pitchFamily="34" charset="-120"/>
              </a:rPr>
              <a:t>Next steps: Reference the full Easy to Buy overview document, use the Opening Monologue Generator ahead of your next pitch meeting, and use the Conversation Log Generator right after. Questions on this training? Contact the Business Development team.</a:t>
            </a:r>
            <a:endParaRPr lang="en-US" sz="2025" dirty="0"/>
          </a:p>
        </p:txBody>
      </p:sp>
      <p:sp>
        <p:nvSpPr>
          <p:cNvPr id="15" name="Text 13" descr="" title=""/>
          <p:cNvSpPr/>
          <p:nvPr/>
        </p:nvSpPr>
        <p:spPr>
          <a:xfrm>
            <a:off x="685800" y="9893647"/>
            <a:ext cx="12070080" cy="272355"/>
          </a:xfrm>
          <a:prstGeom prst="rect">
            <a:avLst/>
          </a:prstGeom>
          <a:noFill/>
          <a:ln/>
        </p:spPr>
        <p:txBody>
          <a:bodyPr wrap="square" lIns="25400" tIns="25400" rIns="25400" bIns="25400" rtlCol="0" anchor="t">
            <a:normAutofit/>
          </a:bodyPr>
          <a:lstStyle/>
          <a:p>
            <a:pPr marL="0" indent="0" algn="l">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EASY TO BUY | MCGUIREWOODS INTERNAL TRAINING</a:t>
            </a:r>
            <a:endParaRPr lang="en-US" sz="1350" dirty="0"/>
          </a:p>
        </p:txBody>
      </p:sp>
      <p:sp>
        <p:nvSpPr>
          <p:cNvPr id="16" name="Text 14" descr="" title=""/>
          <p:cNvSpPr/>
          <p:nvPr/>
        </p:nvSpPr>
        <p:spPr>
          <a:xfrm>
            <a:off x="12785693" y="9882188"/>
            <a:ext cx="3816382" cy="295275"/>
          </a:xfrm>
          <a:prstGeom prst="rect">
            <a:avLst/>
          </a:prstGeom>
          <a:noFill/>
          <a:ln/>
        </p:spPr>
        <p:txBody>
          <a:bodyPr wrap="square" lIns="25400" tIns="25400" rIns="25400" bIns="25400" rtlCol="0" anchor="t">
            <a:normAutofit/>
          </a:bodyPr>
          <a:lstStyle/>
          <a:p>
            <a:pPr marL="0" indent="0" algn="r">
              <a:lnSpc>
                <a:spcPct val="98182"/>
              </a:lnSpc>
              <a:buNone/>
            </a:pPr>
            <a:r>
              <a:rPr lang="en-US" sz="1500" b="1" i="1" dirty="0">
                <a:solidFill>
                  <a:srgbClr val="1B2A47"/>
                </a:solidFill>
                <a:latin typeface="Palatino Linotype" pitchFamily="34" charset="0"/>
                <a:ea typeface="Palatino Linotype" pitchFamily="34" charset="-122"/>
                <a:cs typeface="Palatino Linotype" pitchFamily="34" charset="-120"/>
              </a:rPr>
              <a:t>McGuireWoods</a:t>
            </a:r>
            <a:endParaRPr lang="en-US" sz="1500" dirty="0"/>
          </a:p>
        </p:txBody>
      </p:sp>
      <p:sp>
        <p:nvSpPr>
          <p:cNvPr id="17" name="Text 15" descr="" title=""/>
          <p:cNvSpPr/>
          <p:nvPr/>
        </p:nvSpPr>
        <p:spPr>
          <a:xfrm>
            <a:off x="17621250" y="9893647"/>
            <a:ext cx="628650" cy="272355"/>
          </a:xfrm>
          <a:prstGeom prst="rect">
            <a:avLst/>
          </a:prstGeom>
          <a:noFill/>
          <a:ln/>
        </p:spPr>
        <p:txBody>
          <a:bodyPr wrap="square" lIns="25400" tIns="25400" rIns="25400" bIns="25400" rtlCol="0" anchor="t">
            <a:normAutofit/>
          </a:bodyPr>
          <a:lstStyle/>
          <a:p>
            <a:pPr marL="0" indent="0" algn="r">
              <a:lnSpc>
                <a:spcPct val="98182"/>
              </a:lnSpc>
              <a:buNone/>
            </a:pPr>
            <a:r>
              <a:rPr lang="en-US" sz="1350" dirty="0">
                <a:solidFill>
                  <a:srgbClr val="5B6472"/>
                </a:solidFill>
                <a:latin typeface="Palatino Linotype" pitchFamily="34" charset="0"/>
                <a:ea typeface="Palatino Linotype" pitchFamily="34" charset="-122"/>
                <a:cs typeface="Palatino Linotype" pitchFamily="34" charset="-120"/>
              </a:rPr>
              <a:t>55</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2A47"/>
        </a:solidFill>
      </p:bgPr>
    </p:bg>
    <p:spTree>
      <p:nvGrpSpPr>
        <p:cNvPr id="1" name="" descr="" title=""/>
        <p:cNvGrpSpPr/>
        <p:nvPr/>
      </p:nvGrpSpPr>
      <p:grpSpPr>
        <a:xfrm>
          <a:off x="0" y="0"/>
          <a:ext cx="0" cy="0"/>
          <a:chOff x="0" y="0"/>
          <a:chExt cx="0" cy="0"/>
        </a:xfrm>
      </p:grpSpPr>
      <p:sp>
        <p:nvSpPr>
          <p:cNvPr id="2" name="Shape 0" descr="" title=""/>
          <p:cNvSpPr/>
          <p:nvPr/>
        </p:nvSpPr>
        <p:spPr>
          <a:xfrm>
            <a:off x="15906750" y="1066800"/>
            <a:ext cx="333375" cy="333375"/>
          </a:xfrm>
          <a:prstGeom prst="ellipse">
            <a:avLst/>
          </a:prstGeom>
          <a:solidFill>
            <a:srgbClr val="A9814B"/>
          </a:solidFill>
          <a:ln/>
        </p:spPr>
      </p:sp>
      <p:sp>
        <p:nvSpPr>
          <p:cNvPr id="3" name="Text 1" descr="" title=""/>
          <p:cNvSpPr/>
          <p:nvPr/>
        </p:nvSpPr>
        <p:spPr>
          <a:xfrm>
            <a:off x="1238250" y="1073944"/>
            <a:ext cx="3630454" cy="419100"/>
          </a:xfrm>
          <a:prstGeom prst="rect">
            <a:avLst/>
          </a:prstGeom>
          <a:noFill/>
          <a:ln/>
        </p:spPr>
        <p:txBody>
          <a:bodyPr wrap="square" lIns="25400" tIns="25400" rIns="25400" bIns="25400" rtlCol="0" anchor="t">
            <a:normAutofit/>
          </a:bodyPr>
          <a:lstStyle/>
          <a:p>
            <a:pPr marL="0" indent="0" algn="l">
              <a:lnSpc>
                <a:spcPct val="101250"/>
              </a:lnSpc>
              <a:buNone/>
            </a:pPr>
            <a:r>
              <a:rPr lang="en-US" sz="2250" b="1" kern="0" spc="450" dirty="0">
                <a:solidFill>
                  <a:srgbClr val="D9C79E"/>
                </a:solidFill>
                <a:latin typeface="Palatino Linotype" pitchFamily="34" charset="0"/>
                <a:ea typeface="Palatino Linotype" pitchFamily="34" charset="-122"/>
                <a:cs typeface="Palatino Linotype" pitchFamily="34" charset="-120"/>
              </a:rPr>
              <a:t>MCGUIREWOODS</a:t>
            </a:r>
            <a:endParaRPr lang="en-US" sz="2250" dirty="0"/>
          </a:p>
        </p:txBody>
      </p:sp>
      <p:sp>
        <p:nvSpPr>
          <p:cNvPr id="4" name="Text 2" descr="" title=""/>
          <p:cNvSpPr/>
          <p:nvPr/>
        </p:nvSpPr>
        <p:spPr>
          <a:xfrm>
            <a:off x="1238250" y="4048125"/>
            <a:ext cx="16109252" cy="1323975"/>
          </a:xfrm>
          <a:prstGeom prst="rect">
            <a:avLst/>
          </a:prstGeom>
          <a:noFill/>
          <a:ln/>
        </p:spPr>
        <p:txBody>
          <a:bodyPr wrap="square" lIns="25400" tIns="25400" rIns="25400" bIns="25400" rtlCol="0" anchor="t">
            <a:normAutofit/>
          </a:bodyPr>
          <a:lstStyle/>
          <a:p>
            <a:pPr marL="0" indent="0" algn="l">
              <a:lnSpc>
                <a:spcPct val="98182"/>
              </a:lnSpc>
              <a:buNone/>
            </a:pPr>
            <a:r>
              <a:rPr lang="en-US" sz="7500" b="1" dirty="0">
                <a:solidFill>
                  <a:srgbClr val="FFFFFF"/>
                </a:solidFill>
                <a:latin typeface="Palatino Linotype" pitchFamily="34" charset="0"/>
                <a:ea typeface="Palatino Linotype" pitchFamily="34" charset="-122"/>
                <a:cs typeface="Palatino Linotype" pitchFamily="34" charset="-120"/>
              </a:rPr>
              <a:t>Thank You</a:t>
            </a:r>
            <a:endParaRPr lang="en-US" sz="7500" dirty="0"/>
          </a:p>
        </p:txBody>
      </p:sp>
      <p:sp>
        <p:nvSpPr>
          <p:cNvPr id="5" name="Text 3" descr="" title=""/>
          <p:cNvSpPr/>
          <p:nvPr/>
        </p:nvSpPr>
        <p:spPr>
          <a:xfrm>
            <a:off x="1238250" y="6305550"/>
            <a:ext cx="15255716" cy="526703"/>
          </a:xfrm>
          <a:prstGeom prst="rect">
            <a:avLst/>
          </a:prstGeom>
          <a:noFill/>
          <a:ln/>
        </p:spPr>
        <p:txBody>
          <a:bodyPr wrap="square" lIns="25400" tIns="25400" rIns="25400" bIns="25400" rtlCol="0" anchor="t">
            <a:normAutofit/>
          </a:bodyPr>
          <a:lstStyle/>
          <a:p>
            <a:pPr marL="0" indent="0" algn="l">
              <a:lnSpc>
                <a:spcPct val="98182"/>
              </a:lnSpc>
              <a:buNone/>
            </a:pPr>
            <a:r>
              <a:rPr lang="en-US" sz="2850" b="1" dirty="0">
                <a:solidFill>
                  <a:srgbClr val="F5F5F4"/>
                </a:solidFill>
                <a:latin typeface="Palatino Linotype" pitchFamily="34" charset="0"/>
                <a:ea typeface="Palatino Linotype" pitchFamily="34" charset="-122"/>
                <a:cs typeface="Palatino Linotype" pitchFamily="34" charset="-120"/>
              </a:rPr>
              <a:t>Questions on this training? Contact the Business Development team.</a:t>
            </a:r>
            <a:endParaRPr lang="en-US" sz="2850" dirty="0"/>
          </a:p>
        </p:txBody>
      </p:sp>
      <p:sp>
        <p:nvSpPr>
          <p:cNvPr id="6" name="Text 4" descr="" title=""/>
          <p:cNvSpPr/>
          <p:nvPr/>
        </p:nvSpPr>
        <p:spPr>
          <a:xfrm>
            <a:off x="1238250" y="9312176"/>
            <a:ext cx="8008248" cy="323850"/>
          </a:xfrm>
          <a:prstGeom prst="rect">
            <a:avLst/>
          </a:prstGeom>
          <a:noFill/>
          <a:ln/>
        </p:spPr>
        <p:txBody>
          <a:bodyPr wrap="square" lIns="25400" tIns="25400" rIns="25400" bIns="25400" rtlCol="0" anchor="t">
            <a:normAutofit/>
          </a:bodyPr>
          <a:lstStyle/>
          <a:p>
            <a:pPr marL="0" indent="0" algn="l">
              <a:lnSpc>
                <a:spcPct val="99000"/>
              </a:lnSpc>
              <a:buNone/>
            </a:pPr>
            <a:r>
              <a:rPr lang="en-US" sz="1650" b="1" kern="0" spc="150" dirty="0">
                <a:solidFill>
                  <a:srgbClr val="D9C79E"/>
                </a:solidFill>
                <a:latin typeface="Palatino Linotype" pitchFamily="34" charset="0"/>
                <a:ea typeface="Palatino Linotype" pitchFamily="34" charset="-122"/>
                <a:cs typeface="Palatino Linotype" pitchFamily="34" charset="-120"/>
              </a:rPr>
              <a:t>INTERNAL TRAINING · NOT FOR EXTERNAL DISTRIBUTION</a:t>
            </a:r>
            <a:endParaRPr lang="en-US" sz="1650" dirty="0"/>
          </a:p>
        </p:txBody>
      </p:sp>
    </p:spTree>
  </p:cSld>
  <p:clrMapOvr>
    <a:masterClrMapping/>
  </p:clrMapOvr>
</p:sld>
</file>

<file path=ppt/theme/theme1.xml><?xml version="1.0" encoding="utf-8"?>
<a:theme xmlns:thm15="http://schemas.microsoft.com/office/thememl/2012/main"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file>

<file path=docProps/core.xml><?xml version="1.0" encoding="utf-8"?>
<coreProperties xmlns:dc="http://purl.org/dc/elements/1.1/" xmlns:dcterms="http://purl.org/dc/terms/" xmlns:xsi="http://www.w3.org/2001/XMLSchema-instance" xmlns="http://schemas.openxmlformats.org/package/2006/metadata/core-properties">
  <dcterms:created xsi:type="dcterms:W3CDTF">1900-01-01T05:00:00.0000000Z</dcterms:created>
  <dcterms:modified xsi:type="dcterms:W3CDTF">1900-01-01T05:00:00.0000000Z</dcterms:modified>
</coreProperties>
</file>